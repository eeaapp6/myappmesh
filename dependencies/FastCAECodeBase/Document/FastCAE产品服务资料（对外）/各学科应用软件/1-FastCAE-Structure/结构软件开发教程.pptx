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9" r:id="rId4"/>
    <p:sldId id="260" r:id="rId6"/>
    <p:sldId id="261" r:id="rId7"/>
    <p:sldId id="262" r:id="rId8"/>
    <p:sldId id="263" r:id="rId9"/>
    <p:sldId id="265" r:id="rId10"/>
    <p:sldId id="266" r:id="rId11"/>
    <p:sldId id="267" r:id="rId12"/>
    <p:sldId id="268" r:id="rId13"/>
    <p:sldId id="327" r:id="rId14"/>
    <p:sldId id="270" r:id="rId15"/>
    <p:sldId id="271" r:id="rId16"/>
    <p:sldId id="272" r:id="rId17"/>
    <p:sldId id="288" r:id="rId18"/>
    <p:sldId id="289" r:id="rId19"/>
    <p:sldId id="290" r:id="rId20"/>
    <p:sldId id="278" r:id="rId21"/>
    <p:sldId id="279" r:id="rId22"/>
    <p:sldId id="319" r:id="rId23"/>
    <p:sldId id="320" r:id="rId24"/>
    <p:sldId id="317" r:id="rId25"/>
    <p:sldId id="352" r:id="rId26"/>
    <p:sldId id="353" r:id="rId27"/>
    <p:sldId id="351" r:id="rId28"/>
    <p:sldId id="338" r:id="rId29"/>
    <p:sldId id="340" r:id="rId30"/>
    <p:sldId id="341" r:id="rId31"/>
    <p:sldId id="304" r:id="rId32"/>
    <p:sldId id="354" r:id="rId33"/>
    <p:sldId id="305" r:id="rId34"/>
    <p:sldId id="350" r:id="rId35"/>
    <p:sldId id="343" r:id="rId36"/>
    <p:sldId id="309" r:id="rId37"/>
    <p:sldId id="333" r:id="rId38"/>
    <p:sldId id="334" r:id="rId39"/>
    <p:sldId id="335" r:id="rId40"/>
    <p:sldId id="336" r:id="rId41"/>
    <p:sldId id="322" r:id="rId42"/>
    <p:sldId id="323" r:id="rId43"/>
    <p:sldId id="325" r:id="rId44"/>
    <p:sldId id="310" r:id="rId45"/>
    <p:sldId id="313" r:id="rId46"/>
    <p:sldId id="347" r:id="rId47"/>
    <p:sldId id="316" r:id="rId48"/>
    <p:sldId id="315" r:id="rId49"/>
    <p:sldId id="328" r:id="rId50"/>
    <p:sldId id="329" r:id="rId51"/>
    <p:sldId id="330" r:id="rId52"/>
    <p:sldId id="349" r:id="rId53"/>
    <p:sldId id="311" r:id="rId54"/>
    <p:sldId id="360" r:id="rId55"/>
    <p:sldId id="358" r:id="rId56"/>
    <p:sldId id="359" r:id="rId57"/>
    <p:sldId id="362" r:id="rId58"/>
    <p:sldId id="312" r:id="rId59"/>
    <p:sldId id="355" r:id="rId60"/>
    <p:sldId id="356" r:id="rId61"/>
    <p:sldId id="364" r:id="rId62"/>
    <p:sldId id="367" r:id="rId63"/>
    <p:sldId id="368" r:id="rId64"/>
    <p:sldId id="361" r:id="rId65"/>
    <p:sldId id="363"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3"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ojun Li" initials="BL" lastIdx="16" clrIdx="0"/>
  <p:cmAuthor id="2" name="guest01" initials="g" lastIdx="7" clrIdx="1"/>
  <p:cmAuthor id="0" name="Sky123.Org" initials="S" lastIdx="1" clrIdx="0"/>
  <p:cmAuthor id="3" name="tb" initials="t" lastIdx="2" clrIdx="2"/>
  <p:cmAuthor id="4" name="作者" initials="A" lastIdx="0" clrIdx="3"/>
  <p:cmAuthor id="553372247" name="老白" initials="老" lastIdx="1" clrIdx="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083"/>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commentAuthors" Target="commentAuthors.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solidFill>
                  <a:srgbClr val="000000"/>
                </a:solidFill>
                <a:latin typeface="微软雅黑" panose="020B0503020204020204" charset="-122"/>
                <a:ea typeface="微软雅黑" panose="020B0503020204020204" charset="-122"/>
                <a:sym typeface="微软雅黑" panose="020B0503020204020204" charset="-122"/>
              </a:rPr>
              <a:t>FastCAE-开源底座框架平台</a:t>
            </a:r>
            <a:endParaRPr lang="zh-CN" altLang="en-US" b="1">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b="1">
                <a:solidFill>
                  <a:srgbClr val="000000"/>
                </a:solidFill>
                <a:latin typeface="微软雅黑" panose="020B0503020204020204" charset="-122"/>
                <a:ea typeface="微软雅黑" panose="020B0503020204020204" charset="-122"/>
                <a:sym typeface="微软雅黑" panose="020B0503020204020204" charset="-122"/>
              </a:rPr>
              <a:t>开源底座框架平台</a:t>
            </a:r>
            <a:endParaRPr lang="zh-CN" altLang="en-US" b="1">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rgbClr val="002060"/>
              </a:solidFill>
              <a:latin typeface="微软雅黑" panose="020B0503020204020204" charset="-122"/>
              <a:ea typeface="微软雅黑" panose="020B0503020204020204" charset="-122"/>
              <a:sym typeface="Arial" panose="020B0604020202020204" pitchFamily="34" charset="0"/>
            </a:endParaRPr>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rgbClr val="002060"/>
              </a:solidFill>
              <a:latin typeface="微软雅黑" panose="020B0503020204020204" charset="-122"/>
              <a:ea typeface="微软雅黑" panose="020B0503020204020204" charset="-122"/>
              <a:sym typeface="Arial" panose="020B0604020202020204" pitchFamily="34" charset="0"/>
            </a:endParaRPr>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rgbClr val="002060"/>
              </a:solidFill>
              <a:latin typeface="微软雅黑" panose="020B0503020204020204" charset="-122"/>
              <a:ea typeface="微软雅黑" panose="020B0503020204020204" charset="-122"/>
              <a:sym typeface="Arial" panose="020B0604020202020204" pitchFamily="34" charset="0"/>
            </a:endParaRPr>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rgbClr val="002060"/>
              </a:solidFill>
              <a:latin typeface="微软雅黑" panose="020B0503020204020204" charset="-122"/>
              <a:ea typeface="微软雅黑" panose="020B0503020204020204" charset="-122"/>
              <a:sym typeface="Arial" panose="020B0604020202020204" pitchFamily="34" charset="0"/>
            </a:endParaRPr>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A6C3BB2-A0E5-44F6-860C-FA319B0F4322}"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00" y="6356350"/>
            <a:ext cx="2844800" cy="365125"/>
          </a:xfrm>
        </p:spPr>
        <p:txBody>
          <a:bodyPr/>
          <a:lstStyle>
            <a:lvl1pPr>
              <a:defRPr/>
            </a:lvl1pPr>
          </a:lstStyle>
          <a:p>
            <a:fld id="{B5B9D61C-2806-4BAA-9CB5-C3C0C7FF6FD4}" type="datetime1">
              <a:rPr lang="zh-CN" altLang="en-US">
                <a:solidFill>
                  <a:prstClr val="black">
                    <a:tint val="75000"/>
                  </a:prstClr>
                </a:solidFill>
              </a:rPr>
            </a:fld>
            <a:endParaRPr lang="zh-CN" altLang="en-US" sz="1800">
              <a:solidFill>
                <a:prstClr val="black"/>
              </a:solidFill>
            </a:endParaRPr>
          </a:p>
        </p:txBody>
      </p:sp>
      <p:sp>
        <p:nvSpPr>
          <p:cNvPr id="4" name="页脚占位符 3"/>
          <p:cNvSpPr>
            <a:spLocks noGrp="1"/>
          </p:cNvSpPr>
          <p:nvPr>
            <p:ph type="ftr" sz="quarter" idx="11"/>
          </p:nvPr>
        </p:nvSpPr>
        <p:spPr>
          <a:xfrm>
            <a:off x="4165600" y="6356350"/>
            <a:ext cx="3860800" cy="365125"/>
          </a:xfrm>
        </p:spPr>
        <p:txBody>
          <a:bodyPr/>
          <a:lstStyle>
            <a:lvl1pPr>
              <a:defRPr/>
            </a:lvl1pPr>
          </a:lstStyle>
          <a:p>
            <a:endParaRPr lang="zh-CN" altLang="zh-CN">
              <a:solidFill>
                <a:prstClr val="black">
                  <a:tint val="75000"/>
                </a:prstClr>
              </a:solidFill>
            </a:endParaRPr>
          </a:p>
        </p:txBody>
      </p:sp>
      <p:sp>
        <p:nvSpPr>
          <p:cNvPr id="5" name="灯片编号占位符 4"/>
          <p:cNvSpPr>
            <a:spLocks noGrp="1"/>
          </p:cNvSpPr>
          <p:nvPr>
            <p:ph type="sldNum" sz="quarter" idx="12"/>
          </p:nvPr>
        </p:nvSpPr>
        <p:spPr>
          <a:xfrm>
            <a:off x="8737600" y="6356350"/>
            <a:ext cx="2844800" cy="365125"/>
          </a:xfrm>
        </p:spPr>
        <p:txBody>
          <a:bodyPr/>
          <a:lstStyle>
            <a:lvl1pPr>
              <a:defRPr/>
            </a:lvl1pPr>
          </a:lstStyle>
          <a:p>
            <a:fld id="{B4C57401-2C56-46F4-8955-CF832A3CCF13}" type="slidenum">
              <a:rPr lang="zh-CN" altLang="en-US">
                <a:solidFill>
                  <a:prstClr val="black">
                    <a:tint val="75000"/>
                  </a:prstClr>
                </a:solidFill>
              </a:rPr>
            </a:fld>
            <a:endParaRPr lang="zh-CN" altLang="en-US" sz="1800">
              <a:solidFill>
                <a:prstClr val="black"/>
              </a:solidFill>
            </a:endParaRPr>
          </a:p>
        </p:txBody>
      </p:sp>
    </p:spTree>
  </p:cSld>
  <p:clrMapOvr>
    <a:masterClrMapping/>
  </p:clrMapOvr>
  <p:transition spd="slow"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8" Type="http://schemas.openxmlformats.org/officeDocument/2006/relationships/notesSlide" Target="../notesSlides/notesSlide1.xml"/><Relationship Id="rId17" Type="http://schemas.openxmlformats.org/officeDocument/2006/relationships/slideLayout" Target="../slideLayouts/slideLayout12.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 Id="rId3" Type="http://schemas.openxmlformats.org/officeDocument/2006/relationships/image" Target="../media/image10.png"/><Relationship Id="rId2" Type="http://schemas.openxmlformats.org/officeDocument/2006/relationships/image" Target="../media/image9.png"/><Relationship Id="rId12" Type="http://schemas.openxmlformats.org/officeDocument/2006/relationships/notesSlide" Target="../notesSlides/notesSlide6.xml"/><Relationship Id="rId11" Type="http://schemas.openxmlformats.org/officeDocument/2006/relationships/slideLayout" Target="../slideLayouts/slideLayout7.xml"/><Relationship Id="rId10" Type="http://schemas.openxmlformats.org/officeDocument/2006/relationships/image" Target="../media/image16.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5" Type="http://schemas.openxmlformats.org/officeDocument/2006/relationships/notesSlide" Target="../notesSlides/notesSlide7.xml"/><Relationship Id="rId14" Type="http://schemas.openxmlformats.org/officeDocument/2006/relationships/slideLayout" Target="../slideLayouts/slideLayout7.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1" Type="http://schemas.openxmlformats.org/officeDocument/2006/relationships/notesSlide" Target="../notesSlides/notesSlide9.xml"/><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9" Type="http://schemas.openxmlformats.org/officeDocument/2006/relationships/notesSlide" Target="../notesSlides/notesSlide13.xml"/><Relationship Id="rId18" Type="http://schemas.openxmlformats.org/officeDocument/2006/relationships/slideLayout" Target="../slideLayouts/slideLayout7.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7.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0" Type="http://schemas.openxmlformats.org/officeDocument/2006/relationships/notesSlide" Target="../notesSlides/notesSlide15.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2" Type="http://schemas.openxmlformats.org/officeDocument/2006/relationships/notesSlide" Target="../notesSlides/notesSlide17.xml"/><Relationship Id="rId11" Type="http://schemas.openxmlformats.org/officeDocument/2006/relationships/slideLayout" Target="../slideLayouts/slideLayout7.xml"/><Relationship Id="rId10" Type="http://schemas.openxmlformats.org/officeDocument/2006/relationships/image" Target="../media/image3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7.xml"/><Relationship Id="rId5" Type="http://schemas.openxmlformats.org/officeDocument/2006/relationships/tags" Target="../tags/tag135.xml"/><Relationship Id="rId4" Type="http://schemas.openxmlformats.org/officeDocument/2006/relationships/image" Target="../media/image2.png"/><Relationship Id="rId3" Type="http://schemas.openxmlformats.org/officeDocument/2006/relationships/image" Target="../media/image32.png"/><Relationship Id="rId2" Type="http://schemas.openxmlformats.org/officeDocument/2006/relationships/tags" Target="../tags/tag134.xml"/><Relationship Id="rId1" Type="http://schemas.openxmlformats.org/officeDocument/2006/relationships/tags" Target="../tags/tag13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2.png"/><Relationship Id="rId12" Type="http://schemas.openxmlformats.org/officeDocument/2006/relationships/notesSlide" Target="../notesSlides/notesSlide24.xml"/><Relationship Id="rId11" Type="http://schemas.openxmlformats.org/officeDocument/2006/relationships/slideLayout" Target="../slideLayouts/slideLayout12.xml"/><Relationship Id="rId10" Type="http://schemas.openxmlformats.org/officeDocument/2006/relationships/image" Target="../media/image48.pn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7.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0" Type="http://schemas.openxmlformats.org/officeDocument/2006/relationships/notesSlide" Target="../notesSlides/notesSlide26.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7.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image" Target="../media/image58.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image" Target="../media/image60.png"/><Relationship Id="rId2" Type="http://schemas.openxmlformats.org/officeDocument/2006/relationships/image" Target="../media/image2.png"/><Relationship Id="rId14" Type="http://schemas.openxmlformats.org/officeDocument/2006/relationships/notesSlide" Target="../notesSlides/notesSlide28.xml"/><Relationship Id="rId13" Type="http://schemas.openxmlformats.org/officeDocument/2006/relationships/slideLayout" Target="../slideLayouts/slideLayout7.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image" Target="../media/image59.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7.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image" Target="../media/image61.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image" Target="../media/image63.png"/><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1" Type="http://schemas.openxmlformats.org/officeDocument/2006/relationships/notesSlide" Target="../notesSlides/notesSlide31.xml"/><Relationship Id="rId10" Type="http://schemas.openxmlformats.org/officeDocument/2006/relationships/slideLayout" Target="../slideLayouts/slideLayout7.xml"/><Relationship Id="rId1" Type="http://schemas.openxmlformats.org/officeDocument/2006/relationships/tags" Target="../tags/tag150.xml"/></Relationships>
</file>

<file path=ppt/slides/_rels/slide33.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8" Type="http://schemas.openxmlformats.org/officeDocument/2006/relationships/notesSlide" Target="../notesSlides/notesSlide32.xml"/><Relationship Id="rId17" Type="http://schemas.openxmlformats.org/officeDocument/2006/relationships/slideLayout" Target="../slideLayouts/slideLayout7.xml"/><Relationship Id="rId16" Type="http://schemas.openxmlformats.org/officeDocument/2006/relationships/image" Target="../media/image63.png"/><Relationship Id="rId15" Type="http://schemas.openxmlformats.org/officeDocument/2006/relationships/tags" Target="../tags/tag172.xml"/><Relationship Id="rId14" Type="http://schemas.openxmlformats.org/officeDocument/2006/relationships/tags" Target="../tags/tag171.xml"/><Relationship Id="rId13" Type="http://schemas.openxmlformats.org/officeDocument/2006/relationships/tags" Target="../tags/tag170.xml"/><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tags" Target="../tags/tag15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3" Type="http://schemas.openxmlformats.org/officeDocument/2006/relationships/notesSlide" Target="../notesSlides/notesSlide36.xml"/><Relationship Id="rId12" Type="http://schemas.openxmlformats.org/officeDocument/2006/relationships/slideLayout" Target="../slideLayouts/slideLayout7.xml"/><Relationship Id="rId11" Type="http://schemas.openxmlformats.org/officeDocument/2006/relationships/tags" Target="../tags/tag182.xml"/><Relationship Id="rId10" Type="http://schemas.openxmlformats.org/officeDocument/2006/relationships/tags" Target="../tags/tag18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7.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67.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7.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7.xml"/><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7.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45.xml"/><Relationship Id="rId8" Type="http://schemas.openxmlformats.org/officeDocument/2006/relationships/slideLayout" Target="../slideLayouts/slideLayout7.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7.xml"/><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7.xml"/><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7.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7.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7.xml"/><Relationship Id="rId2" Type="http://schemas.openxmlformats.org/officeDocument/2006/relationships/image" Target="../media/image88.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7" Type="http://schemas.openxmlformats.org/officeDocument/2006/relationships/notesSlide" Target="../notesSlides/notesSlide56.xml"/><Relationship Id="rId36" Type="http://schemas.openxmlformats.org/officeDocument/2006/relationships/slideLayout" Target="../slideLayouts/slideLayout7.xml"/><Relationship Id="rId35" Type="http://schemas.openxmlformats.org/officeDocument/2006/relationships/image" Target="../media/image122.png"/><Relationship Id="rId34" Type="http://schemas.openxmlformats.org/officeDocument/2006/relationships/image" Target="../media/image121.png"/><Relationship Id="rId33" Type="http://schemas.openxmlformats.org/officeDocument/2006/relationships/image" Target="../media/image120.png"/><Relationship Id="rId32" Type="http://schemas.openxmlformats.org/officeDocument/2006/relationships/image" Target="../media/image119.png"/><Relationship Id="rId31" Type="http://schemas.openxmlformats.org/officeDocument/2006/relationships/image" Target="../media/image118.png"/><Relationship Id="rId30" Type="http://schemas.openxmlformats.org/officeDocument/2006/relationships/image" Target="../media/image117.png"/><Relationship Id="rId3" Type="http://schemas.openxmlformats.org/officeDocument/2006/relationships/image" Target="../media/image90.png"/><Relationship Id="rId29" Type="http://schemas.openxmlformats.org/officeDocument/2006/relationships/image" Target="../media/image116.png"/><Relationship Id="rId28" Type="http://schemas.openxmlformats.org/officeDocument/2006/relationships/image" Target="../media/image115.png"/><Relationship Id="rId27" Type="http://schemas.openxmlformats.org/officeDocument/2006/relationships/image" Target="../media/image114.png"/><Relationship Id="rId26" Type="http://schemas.openxmlformats.org/officeDocument/2006/relationships/image" Target="../media/image113.png"/><Relationship Id="rId25" Type="http://schemas.openxmlformats.org/officeDocument/2006/relationships/image" Target="../media/image112.png"/><Relationship Id="rId24" Type="http://schemas.openxmlformats.org/officeDocument/2006/relationships/image" Target="../media/image111.png"/><Relationship Id="rId23" Type="http://schemas.openxmlformats.org/officeDocument/2006/relationships/image" Target="../media/image110.png"/><Relationship Id="rId22" Type="http://schemas.openxmlformats.org/officeDocument/2006/relationships/image" Target="../media/image109.png"/><Relationship Id="rId21" Type="http://schemas.openxmlformats.org/officeDocument/2006/relationships/image" Target="../media/image108.png"/><Relationship Id="rId20" Type="http://schemas.openxmlformats.org/officeDocument/2006/relationships/image" Target="../media/image107.png"/><Relationship Id="rId2" Type="http://schemas.openxmlformats.org/officeDocument/2006/relationships/image" Target="../media/image89.png"/><Relationship Id="rId19" Type="http://schemas.openxmlformats.org/officeDocument/2006/relationships/image" Target="../media/image106.png"/><Relationship Id="rId18" Type="http://schemas.openxmlformats.org/officeDocument/2006/relationships/image" Target="../media/image105.png"/><Relationship Id="rId17" Type="http://schemas.openxmlformats.org/officeDocument/2006/relationships/image" Target="../media/image104.png"/><Relationship Id="rId16" Type="http://schemas.openxmlformats.org/officeDocument/2006/relationships/image" Target="../media/image103.png"/><Relationship Id="rId15" Type="http://schemas.openxmlformats.org/officeDocument/2006/relationships/image" Target="../media/image102.png"/><Relationship Id="rId14" Type="http://schemas.openxmlformats.org/officeDocument/2006/relationships/image" Target="../media/image101.png"/><Relationship Id="rId13" Type="http://schemas.openxmlformats.org/officeDocument/2006/relationships/image" Target="../media/image100.png"/><Relationship Id="rId12" Type="http://schemas.openxmlformats.org/officeDocument/2006/relationships/image" Target="../media/image99.png"/><Relationship Id="rId11" Type="http://schemas.openxmlformats.org/officeDocument/2006/relationships/image" Target="../media/image98.png"/><Relationship Id="rId10" Type="http://schemas.openxmlformats.org/officeDocument/2006/relationships/image" Target="../media/image97.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7.xml"/><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7" Type="http://schemas.openxmlformats.org/officeDocument/2006/relationships/notesSlide" Target="../notesSlides/notesSlide61.xml"/><Relationship Id="rId6" Type="http://schemas.openxmlformats.org/officeDocument/2006/relationships/slideLayout" Target="../slideLayouts/slideLayout7.xml"/><Relationship Id="rId5" Type="http://schemas.openxmlformats.org/officeDocument/2006/relationships/image" Target="../media/image127.png"/><Relationship Id="rId4" Type="http://schemas.openxmlformats.org/officeDocument/2006/relationships/tags" Target="../tags/tag190.xml"/><Relationship Id="rId3" Type="http://schemas.openxmlformats.org/officeDocument/2006/relationships/image" Target="../media/image126.png"/><Relationship Id="rId2" Type="http://schemas.openxmlformats.org/officeDocument/2006/relationships/tags" Target="../tags/tag189.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35892" y="2505075"/>
            <a:ext cx="10256109" cy="1457326"/>
          </a:xfrm>
          <a:prstGeom prst="rect">
            <a:avLst/>
          </a:prstGeom>
          <a:solidFill>
            <a:srgbClr val="075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5393" y="6842094"/>
            <a:ext cx="12202786" cy="15906"/>
            <a:chOff x="0" y="6829262"/>
            <a:chExt cx="12202786" cy="15906"/>
          </a:xfrm>
        </p:grpSpPr>
        <p:cxnSp>
          <p:nvCxnSpPr>
            <p:cNvPr id="9"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6" name="矩形 15"/>
          <p:cNvSpPr/>
          <p:nvPr/>
        </p:nvSpPr>
        <p:spPr>
          <a:xfrm>
            <a:off x="0" y="2505075"/>
            <a:ext cx="1861751" cy="14573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2604" y="2712330"/>
            <a:ext cx="4197600" cy="1259280"/>
          </a:xfrm>
          <a:prstGeom prst="rect">
            <a:avLst/>
          </a:prstGeom>
        </p:spPr>
      </p:pic>
      <p:sp>
        <p:nvSpPr>
          <p:cNvPr id="15" name="TextBox 3"/>
          <p:cNvSpPr txBox="1"/>
          <p:nvPr/>
        </p:nvSpPr>
        <p:spPr>
          <a:xfrm>
            <a:off x="4100195" y="2976245"/>
            <a:ext cx="7898765" cy="645160"/>
          </a:xfrm>
          <a:prstGeom prst="rect">
            <a:avLst/>
          </a:prstGeom>
          <a:noFill/>
        </p:spPr>
        <p:txBody>
          <a:bodyPr wrap="square" rtlCol="0">
            <a:spAutoFit/>
          </a:bodyPr>
          <a:lstStyle/>
          <a:p>
            <a:pPr algn="ctr"/>
            <a:r>
              <a:rPr lang="en-US" altLang="zh-CN" sz="3600" b="1" dirty="0" err="1">
                <a:solidFill>
                  <a:schemeClr val="bg1"/>
                </a:solidFill>
                <a:latin typeface="微软雅黑" panose="020B0503020204020204" charset="-122"/>
                <a:ea typeface="微软雅黑" panose="020B0503020204020204" charset="-122"/>
                <a:sym typeface="+mn-ea"/>
              </a:rPr>
              <a:t>FastCAE</a:t>
            </a:r>
            <a:r>
              <a:rPr lang="zh-CN" altLang="en-US" sz="3600" b="1" dirty="0" err="1">
                <a:solidFill>
                  <a:schemeClr val="bg1"/>
                </a:solidFill>
                <a:latin typeface="微软雅黑" panose="020B0503020204020204" charset="-122"/>
                <a:ea typeface="微软雅黑" panose="020B0503020204020204" charset="-122"/>
                <a:sym typeface="+mn-ea"/>
              </a:rPr>
              <a:t>结构软件开发</a:t>
            </a:r>
            <a:r>
              <a:rPr lang="zh-CN" altLang="en-US" sz="3600" b="1" dirty="0" err="1">
                <a:solidFill>
                  <a:schemeClr val="bg1"/>
                </a:solidFill>
                <a:latin typeface="微软雅黑" panose="020B0503020204020204" charset="-122"/>
                <a:ea typeface="微软雅黑" panose="020B0503020204020204" charset="-122"/>
                <a:sym typeface="+mn-ea"/>
              </a:rPr>
              <a:t>教程</a:t>
            </a:r>
            <a:endParaRPr lang="zh-CN" altLang="en-US" sz="3600" b="1" dirty="0" err="1">
              <a:solidFill>
                <a:schemeClr val="bg1"/>
              </a:solidFill>
              <a:latin typeface="微软雅黑" panose="020B0503020204020204" charset="-122"/>
              <a:ea typeface="微软雅黑" panose="020B0503020204020204" charset="-122"/>
              <a:sym typeface="+mn-ea"/>
            </a:endParaRPr>
          </a:p>
        </p:txBody>
      </p:sp>
      <p:sp>
        <p:nvSpPr>
          <p:cNvPr id="2" name="文本框 1"/>
          <p:cNvSpPr txBox="1"/>
          <p:nvPr/>
        </p:nvSpPr>
        <p:spPr>
          <a:xfrm>
            <a:off x="11024870" y="4556125"/>
            <a:ext cx="4064000" cy="368300"/>
          </a:xfrm>
          <a:prstGeom prst="rect">
            <a:avLst/>
          </a:prstGeom>
          <a:noFill/>
        </p:spPr>
        <p:txBody>
          <a:bodyPr wrap="square" rtlCol="0">
            <a:spAutoFit/>
          </a:bodyPr>
          <a:lstStyle/>
          <a:p>
            <a:endParaRPr lang="zh-CN" altLang="en-US"/>
          </a:p>
        </p:txBody>
      </p:sp>
      <p:sp>
        <p:nvSpPr>
          <p:cNvPr id="5" name="文本框 4"/>
          <p:cNvSpPr txBox="1"/>
          <p:nvPr/>
        </p:nvSpPr>
        <p:spPr>
          <a:xfrm>
            <a:off x="3540125" y="4208780"/>
            <a:ext cx="8282305" cy="398780"/>
          </a:xfrm>
          <a:prstGeom prst="rect">
            <a:avLst/>
          </a:prstGeom>
          <a:noFill/>
        </p:spPr>
        <p:txBody>
          <a:bodyPr wrap="square" rtlCol="0" anchor="t">
            <a:spAutoFit/>
          </a:bodyPr>
          <a:lstStyle/>
          <a:p>
            <a:pPr algn="r"/>
            <a:r>
              <a:rPr lang="zh-CN" altLang="en-US" sz="2000" u="sng" dirty="0">
                <a:latin typeface="微软雅黑" panose="020B0503020204020204" charset="-122"/>
                <a:ea typeface="微软雅黑" panose="020B0503020204020204" charset="-122"/>
                <a:sym typeface="+mn-ea"/>
              </a:rPr>
              <a:t>开源聚智  集成赋能  产教融合</a:t>
            </a:r>
            <a:endParaRPr sz="2000" u="sng" dirty="0">
              <a:latin typeface="微软雅黑" panose="020B0503020204020204" charset="-122"/>
              <a:ea typeface="微软雅黑" panose="020B0503020204020204" charset="-122"/>
              <a:sym typeface="+mn-ea"/>
            </a:endParaRPr>
          </a:p>
        </p:txBody>
      </p:sp>
      <p:sp>
        <p:nvSpPr>
          <p:cNvPr id="4" name="TextBox 1"/>
          <p:cNvSpPr txBox="1"/>
          <p:nvPr/>
        </p:nvSpPr>
        <p:spPr>
          <a:xfrm>
            <a:off x="6573201" y="4924425"/>
            <a:ext cx="2216150" cy="101473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altLang="zh-CN" sz="2000" b="1" dirty="0">
                <a:latin typeface="微软雅黑" panose="020B0503020204020204" charset="-122"/>
                <a:ea typeface="微软雅黑" panose="020B0503020204020204" charset="-122"/>
              </a:rPr>
              <a:t>FastCAE</a:t>
            </a:r>
            <a:r>
              <a:rPr lang="zh-CN" altLang="en-US" sz="2000" b="1" dirty="0">
                <a:latin typeface="微软雅黑" panose="020B0503020204020204" charset="-122"/>
                <a:ea typeface="微软雅黑" panose="020B0503020204020204" charset="-122"/>
              </a:rPr>
              <a:t>开发团队</a:t>
            </a:r>
            <a:endParaRPr lang="zh-CN" altLang="en-US" sz="2000" b="1" dirty="0">
              <a:latin typeface="微软雅黑" panose="020B0503020204020204" charset="-122"/>
              <a:ea typeface="微软雅黑" panose="020B0503020204020204" charset="-122"/>
            </a:endParaRPr>
          </a:p>
          <a:p>
            <a:pPr algn="ctr">
              <a:lnSpc>
                <a:spcPct val="150000"/>
              </a:lnSpc>
            </a:pPr>
            <a:r>
              <a:rPr lang="zh-CN" altLang="en-US" sz="2000" b="1" dirty="0">
                <a:latin typeface="微软雅黑" panose="020B0503020204020204" charset="-122"/>
                <a:ea typeface="微软雅黑" panose="020B0503020204020204" charset="-122"/>
              </a:rPr>
              <a:t>李宝君</a:t>
            </a:r>
            <a:endParaRPr lang="zh-CN" altLang="en-US" sz="2000" b="1" dirty="0">
              <a:latin typeface="微软雅黑" panose="020B0503020204020204" charset="-122"/>
              <a:ea typeface="微软雅黑" panose="020B0503020204020204" charset="-122"/>
            </a:endParaRPr>
          </a:p>
        </p:txBody>
      </p:sp>
      <p:sp>
        <p:nvSpPr>
          <p:cNvPr id="8" name="文本框 7"/>
          <p:cNvSpPr txBox="1"/>
          <p:nvPr/>
        </p:nvSpPr>
        <p:spPr>
          <a:xfrm>
            <a:off x="9895840" y="6063564"/>
            <a:ext cx="2103120" cy="461665"/>
          </a:xfrm>
          <a:prstGeom prst="rect">
            <a:avLst/>
          </a:prstGeom>
          <a:noFill/>
        </p:spPr>
        <p:txBody>
          <a:bodyPr wrap="square" rtlCol="0">
            <a:spAutoFit/>
          </a:bodyPr>
          <a:lstStyle/>
          <a:p>
            <a:pPr algn="ctr"/>
            <a:fld id="{CFD350E4-CACC-4FDE-9487-1A7D4EE35B68}" type="datetime5">
              <a:rPr lang="zh-CN" altLang="en-US" sz="2400" b="1" smtClean="0"/>
            </a:fld>
            <a:endParaRPr lang="zh-CN" altLang="en-US" b="1" dirty="0"/>
          </a:p>
        </p:txBody>
      </p:sp>
    </p:spTree>
  </p:cSld>
  <p:clrMapOvr>
    <a:masterClrMapping/>
  </p:clrMapOvr>
  <p:transition spd="slow"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custDataLst>
              <p:tags r:id="rId1"/>
            </p:custDataLst>
          </p:nvPr>
        </p:nvGrpSpPr>
        <p:grpSpPr>
          <a:xfrm>
            <a:off x="5131817" y="2192313"/>
            <a:ext cx="6497023" cy="560965"/>
            <a:chOff x="7119" y="2167"/>
            <a:chExt cx="9833" cy="849"/>
          </a:xfrm>
        </p:grpSpPr>
        <p:sp>
          <p:nvSpPr>
            <p:cNvPr id="36" name="圆角矩形 8"/>
            <p:cNvSpPr>
              <a:spLocks noChangeArrowheads="1"/>
            </p:cNvSpPr>
            <p:nvPr>
              <p:custDataLst>
                <p:tags r:id="rId2"/>
              </p:custDataLst>
            </p:nvPr>
          </p:nvSpPr>
          <p:spPr bwMode="auto">
            <a:xfrm>
              <a:off x="7119" y="2167"/>
              <a:ext cx="3603" cy="849"/>
            </a:xfrm>
            <a:prstGeom prst="roundRect">
              <a:avLst>
                <a:gd name="adj" fmla="val 50000"/>
              </a:avLst>
            </a:prstGeom>
            <a:noFill/>
            <a:ln w="25400" cap="flat" cmpd="sng">
              <a:solidFill>
                <a:srgbClr val="075387"/>
              </a:solidFill>
              <a:bevel/>
            </a:ln>
          </p:spPr>
          <p:txBody>
            <a:bodyPr anchor="ctr"/>
            <a:lstStyle/>
            <a:p>
              <a:endParaRPr lang="zh-CN" altLang="zh-CN" b="1">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37" name="文本框 9"/>
            <p:cNvSpPr>
              <a:spLocks noChangeArrowheads="1"/>
            </p:cNvSpPr>
            <p:nvPr>
              <p:custDataLst>
                <p:tags r:id="rId3"/>
              </p:custDataLst>
            </p:nvPr>
          </p:nvSpPr>
          <p:spPr bwMode="auto">
            <a:xfrm>
              <a:off x="8048" y="2226"/>
              <a:ext cx="1744" cy="69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  1 </a:t>
              </a:r>
              <a:r>
                <a:rPr lang="en-US" sz="15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One</a:t>
              </a:r>
              <a:r>
                <a:rPr 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 </a:t>
              </a:r>
              <a:endParaRPr lang="zh-CN" alt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endParaRPr>
            </a:p>
          </p:txBody>
        </p:sp>
        <p:sp>
          <p:nvSpPr>
            <p:cNvPr id="12" name="文本框 16"/>
            <p:cNvSpPr>
              <a:spLocks noChangeArrowheads="1"/>
            </p:cNvSpPr>
            <p:nvPr>
              <p:custDataLst>
                <p:tags r:id="rId4"/>
              </p:custDataLst>
            </p:nvPr>
          </p:nvSpPr>
          <p:spPr bwMode="auto">
            <a:xfrm>
              <a:off x="11258" y="2241"/>
              <a:ext cx="5694" cy="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Clr>
                  <a:srgbClr val="00517C"/>
                </a:buClr>
                <a:buSzPct val="80000"/>
              </a:pP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技术</a:t>
              </a: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架构</a:t>
              </a:r>
              <a:endParaRPr lang="zh-CN" altLang="en-US" sz="2400" b="1">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1" name="组合 10"/>
          <p:cNvGrpSpPr/>
          <p:nvPr>
            <p:custDataLst>
              <p:tags r:id="rId5"/>
            </p:custDataLst>
          </p:nvPr>
        </p:nvGrpSpPr>
        <p:grpSpPr>
          <a:xfrm>
            <a:off x="5131817" y="3023010"/>
            <a:ext cx="6958877" cy="560603"/>
            <a:chOff x="7119" y="4535"/>
            <a:chExt cx="10532" cy="849"/>
          </a:xfrm>
        </p:grpSpPr>
        <p:sp>
          <p:nvSpPr>
            <p:cNvPr id="3" name="圆角矩形 8"/>
            <p:cNvSpPr>
              <a:spLocks noChangeArrowheads="1"/>
            </p:cNvSpPr>
            <p:nvPr>
              <p:custDataLst>
                <p:tags r:id="rId6"/>
              </p:custDataLst>
            </p:nvPr>
          </p:nvSpPr>
          <p:spPr bwMode="auto">
            <a:xfrm>
              <a:off x="7119" y="4535"/>
              <a:ext cx="3603" cy="849"/>
            </a:xfrm>
            <a:prstGeom prst="roundRect">
              <a:avLst>
                <a:gd name="adj" fmla="val 50000"/>
              </a:avLst>
            </a:prstGeom>
            <a:noFill/>
            <a:ln w="25400" cap="flat" cmpd="sng">
              <a:solidFill>
                <a:srgbClr val="075387"/>
              </a:solidFill>
              <a:bevel/>
            </a:ln>
          </p:spPr>
          <p:txBody>
            <a:bodyPr anchor="ctr"/>
            <a:lstStyle/>
            <a:p>
              <a:endParaRPr lang="zh-CN" altLang="zh-CN" b="1">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5" name="文本框 9"/>
            <p:cNvSpPr>
              <a:spLocks noChangeArrowheads="1"/>
            </p:cNvSpPr>
            <p:nvPr>
              <p:custDataLst>
                <p:tags r:id="rId7"/>
              </p:custDataLst>
            </p:nvPr>
          </p:nvSpPr>
          <p:spPr bwMode="auto">
            <a:xfrm>
              <a:off x="8048" y="4564"/>
              <a:ext cx="1744" cy="69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  2 </a:t>
              </a:r>
              <a:r>
                <a:rPr lang="en-US" sz="15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Two</a:t>
              </a:r>
              <a:endParaRPr lang="zh-CN" alt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endParaRPr>
            </a:p>
          </p:txBody>
        </p:sp>
        <p:sp>
          <p:nvSpPr>
            <p:cNvPr id="50" name="文本框 16"/>
            <p:cNvSpPr>
              <a:spLocks noChangeArrowheads="1"/>
            </p:cNvSpPr>
            <p:nvPr>
              <p:custDataLst>
                <p:tags r:id="rId8"/>
              </p:custDataLst>
            </p:nvPr>
          </p:nvSpPr>
          <p:spPr bwMode="auto">
            <a:xfrm>
              <a:off x="11259" y="4596"/>
              <a:ext cx="6392" cy="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Clr>
                  <a:srgbClr val="00517C"/>
                </a:buClr>
                <a:buSzPct val="80000"/>
              </a:pP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软件</a:t>
              </a: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介绍</a:t>
              </a:r>
              <a:endParaRPr lang="zh-CN" altLang="en-US" sz="2400" b="1">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custDataLst>
              <p:tags r:id="rId9"/>
            </p:custDataLst>
          </p:nvPr>
        </p:nvGrpSpPr>
        <p:grpSpPr>
          <a:xfrm>
            <a:off x="5131817" y="3853345"/>
            <a:ext cx="6497023" cy="560603"/>
            <a:chOff x="7119" y="6979"/>
            <a:chExt cx="9833" cy="849"/>
          </a:xfrm>
        </p:grpSpPr>
        <p:sp>
          <p:nvSpPr>
            <p:cNvPr id="6" name="圆角矩形 8"/>
            <p:cNvSpPr>
              <a:spLocks noChangeArrowheads="1"/>
            </p:cNvSpPr>
            <p:nvPr>
              <p:custDataLst>
                <p:tags r:id="rId10"/>
              </p:custDataLst>
            </p:nvPr>
          </p:nvSpPr>
          <p:spPr bwMode="auto">
            <a:xfrm>
              <a:off x="7119" y="6979"/>
              <a:ext cx="3603" cy="849"/>
            </a:xfrm>
            <a:prstGeom prst="roundRect">
              <a:avLst>
                <a:gd name="adj" fmla="val 50000"/>
              </a:avLst>
            </a:prstGeom>
            <a:noFill/>
            <a:ln w="25400" cap="flat" cmpd="sng">
              <a:solidFill>
                <a:srgbClr val="075387"/>
              </a:solidFill>
              <a:bevel/>
            </a:ln>
          </p:spPr>
          <p:txBody>
            <a:bodyPr anchor="ctr"/>
            <a:lstStyle/>
            <a:p>
              <a:endParaRPr lang="zh-CN" altLang="zh-CN" b="1">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7" name="文本框 9"/>
            <p:cNvSpPr>
              <a:spLocks noChangeArrowheads="1"/>
            </p:cNvSpPr>
            <p:nvPr>
              <p:custDataLst>
                <p:tags r:id="rId11"/>
              </p:custDataLst>
            </p:nvPr>
          </p:nvSpPr>
          <p:spPr bwMode="auto">
            <a:xfrm>
              <a:off x="8048" y="7008"/>
              <a:ext cx="2166" cy="69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r>
                <a:rPr 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  3 </a:t>
              </a:r>
              <a:r>
                <a:rPr lang="en-US" sz="15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Three</a:t>
              </a:r>
              <a:endParaRPr lang="zh-CN" alt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endParaRPr>
            </a:p>
          </p:txBody>
        </p:sp>
        <p:sp>
          <p:nvSpPr>
            <p:cNvPr id="48" name="文本框 16"/>
            <p:cNvSpPr>
              <a:spLocks noChangeArrowheads="1"/>
            </p:cNvSpPr>
            <p:nvPr>
              <p:custDataLst>
                <p:tags r:id="rId12"/>
              </p:custDataLst>
            </p:nvPr>
          </p:nvSpPr>
          <p:spPr bwMode="auto">
            <a:xfrm>
              <a:off x="11258" y="7072"/>
              <a:ext cx="5694" cy="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Clr>
                  <a:srgbClr val="00517C"/>
                </a:buClr>
                <a:buSzPct val="80000"/>
              </a:pP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模块</a:t>
              </a: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设计</a:t>
              </a:r>
              <a:endParaRPr lang="zh-CN" altLang="en-US" sz="2400" b="1">
                <a:solidFill>
                  <a:srgbClr val="000000"/>
                </a:solidFill>
                <a:latin typeface="微软雅黑" panose="020B0503020204020204" charset="-122"/>
                <a:ea typeface="微软雅黑" panose="020B0503020204020204" charset="-122"/>
                <a:sym typeface="微软雅黑" panose="020B0503020204020204" charset="-122"/>
              </a:endParaRPr>
            </a:p>
          </p:txBody>
        </p:sp>
      </p:grpSp>
      <p:sp>
        <p:nvSpPr>
          <p:cNvPr id="4108" name="文本框 7"/>
          <p:cNvSpPr>
            <a:spLocks noChangeArrowheads="1"/>
          </p:cNvSpPr>
          <p:nvPr/>
        </p:nvSpPr>
        <p:spPr bwMode="auto">
          <a:xfrm>
            <a:off x="1820989" y="2959855"/>
            <a:ext cx="219868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zh-CN" altLang="en-US" sz="3200" b="1">
                <a:latin typeface="微软雅黑" panose="020B0503020204020204" charset="-122"/>
                <a:ea typeface="微软雅黑" panose="020B0503020204020204" charset="-122"/>
                <a:cs typeface="微软雅黑" panose="020B0503020204020204" charset="-122"/>
                <a:sym typeface="Segoe UI Light" panose="020B0502040204020203" pitchFamily="34" charset="0"/>
              </a:rPr>
              <a:t>目录 </a:t>
            </a:r>
            <a:endParaRPr lang="en-US" sz="3200" b="1">
              <a:latin typeface="微软雅黑" panose="020B0503020204020204" charset="-122"/>
              <a:ea typeface="微软雅黑" panose="020B0503020204020204" charset="-122"/>
              <a:cs typeface="微软雅黑" panose="020B0503020204020204" charset="-122"/>
              <a:sym typeface="Segoe UI Light" panose="020B0502040204020203" pitchFamily="34" charset="0"/>
            </a:endParaRPr>
          </a:p>
          <a:p>
            <a:pPr algn="ctr">
              <a:lnSpc>
                <a:spcPct val="150000"/>
              </a:lnSpc>
            </a:pPr>
            <a:r>
              <a:rPr lang="en-US" sz="3200" b="1">
                <a:latin typeface="微软雅黑" panose="020B0503020204020204" charset="-122"/>
                <a:ea typeface="微软雅黑" panose="020B0503020204020204" charset="-122"/>
                <a:cs typeface="微软雅黑" panose="020B0503020204020204" charset="-122"/>
                <a:sym typeface="Segoe UI Light" panose="020B0502040204020203" pitchFamily="34" charset="0"/>
              </a:rPr>
              <a:t>Content </a:t>
            </a:r>
            <a:endParaRPr lang="zh-CN" altLang="en-US" sz="3200" b="1">
              <a:latin typeface="微软雅黑" panose="020B0503020204020204" charset="-122"/>
              <a:ea typeface="微软雅黑" panose="020B0503020204020204" charset="-122"/>
              <a:cs typeface="微软雅黑" panose="020B0503020204020204" charset="-122"/>
              <a:sym typeface="Segoe UI Light" panose="020B0502040204020203" pitchFamily="34" charset="0"/>
            </a:endParaRPr>
          </a:p>
        </p:txBody>
      </p:sp>
      <p:grpSp>
        <p:nvGrpSpPr>
          <p:cNvPr id="2" name="组合 1"/>
          <p:cNvGrpSpPr/>
          <p:nvPr>
            <p:custDataLst>
              <p:tags r:id="rId13"/>
            </p:custDataLst>
          </p:nvPr>
        </p:nvGrpSpPr>
        <p:grpSpPr>
          <a:xfrm>
            <a:off x="5131817" y="4683680"/>
            <a:ext cx="6497023" cy="560603"/>
            <a:chOff x="7119" y="6979"/>
            <a:chExt cx="9833" cy="849"/>
          </a:xfrm>
        </p:grpSpPr>
        <p:sp>
          <p:nvSpPr>
            <p:cNvPr id="4" name="圆角矩形 8"/>
            <p:cNvSpPr>
              <a:spLocks noChangeArrowheads="1"/>
            </p:cNvSpPr>
            <p:nvPr>
              <p:custDataLst>
                <p:tags r:id="rId14"/>
              </p:custDataLst>
            </p:nvPr>
          </p:nvSpPr>
          <p:spPr bwMode="auto">
            <a:xfrm>
              <a:off x="7119" y="6979"/>
              <a:ext cx="3603" cy="849"/>
            </a:xfrm>
            <a:prstGeom prst="roundRect">
              <a:avLst>
                <a:gd name="adj" fmla="val 50000"/>
              </a:avLst>
            </a:prstGeom>
            <a:noFill/>
            <a:ln w="25400" cap="flat" cmpd="sng">
              <a:solidFill>
                <a:srgbClr val="075387"/>
              </a:solidFill>
              <a:bevel/>
            </a:ln>
          </p:spPr>
          <p:txBody>
            <a:bodyPr anchor="ctr"/>
            <a:lstStyle/>
            <a:p>
              <a:endParaRPr lang="zh-CN" altLang="zh-CN" b="1">
                <a:latin typeface="Arial Unicode MS" panose="020B0604020202020204" pitchFamily="34" charset="-122"/>
                <a:ea typeface="Arial Unicode MS" panose="020B0604020202020204" pitchFamily="34" charset="-122"/>
                <a:cs typeface="Arial Unicode MS" panose="020B0604020202020204" pitchFamily="34" charset="-122"/>
                <a:sym typeface="宋体" panose="02010600030101010101" pitchFamily="2" charset="-122"/>
              </a:endParaRPr>
            </a:p>
          </p:txBody>
        </p:sp>
        <p:sp>
          <p:nvSpPr>
            <p:cNvPr id="8" name="文本框 9"/>
            <p:cNvSpPr>
              <a:spLocks noChangeArrowheads="1"/>
            </p:cNvSpPr>
            <p:nvPr>
              <p:custDataLst>
                <p:tags r:id="rId15"/>
              </p:custDataLst>
            </p:nvPr>
          </p:nvSpPr>
          <p:spPr bwMode="auto">
            <a:xfrm>
              <a:off x="8048" y="7008"/>
              <a:ext cx="2166" cy="69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r>
                <a:rPr 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  4 </a:t>
              </a:r>
              <a:r>
                <a:rPr lang="en-US" altLang="zh-CN" sz="15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rPr>
                <a:t>Four</a:t>
              </a:r>
              <a:endParaRPr lang="zh-CN" altLang="en-US" sz="2400" b="1">
                <a:latin typeface="Arial Unicode MS" panose="020B0604020202020204" pitchFamily="34" charset="-122"/>
                <a:ea typeface="Arial Unicode MS" panose="020B0604020202020204" pitchFamily="34" charset="-122"/>
                <a:cs typeface="Arial Unicode MS" panose="020B0604020202020204" pitchFamily="34" charset="-122"/>
                <a:sym typeface="Segoe UI Light" panose="020B0502040204020203" pitchFamily="34" charset="0"/>
              </a:endParaRPr>
            </a:p>
          </p:txBody>
        </p:sp>
        <p:sp>
          <p:nvSpPr>
            <p:cNvPr id="9" name="文本框 16"/>
            <p:cNvSpPr>
              <a:spLocks noChangeArrowheads="1"/>
            </p:cNvSpPr>
            <p:nvPr>
              <p:custDataLst>
                <p:tags r:id="rId16"/>
              </p:custDataLst>
            </p:nvPr>
          </p:nvSpPr>
          <p:spPr bwMode="auto">
            <a:xfrm>
              <a:off x="11258" y="7072"/>
              <a:ext cx="5694" cy="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Clr>
                  <a:srgbClr val="00517C"/>
                </a:buClr>
                <a:buSzPct val="80000"/>
              </a:pP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核心数据</a:t>
              </a:r>
              <a:r>
                <a:rPr lang="zh-CN" altLang="en-US" sz="2400" b="1">
                  <a:solidFill>
                    <a:srgbClr val="000000"/>
                  </a:solidFill>
                  <a:latin typeface="微软雅黑" panose="020B0503020204020204" charset="-122"/>
                  <a:ea typeface="微软雅黑" panose="020B0503020204020204" charset="-122"/>
                  <a:sym typeface="微软雅黑" panose="020B0503020204020204" charset="-122"/>
                </a:rPr>
                <a:t>结构</a:t>
              </a:r>
              <a:endParaRPr lang="zh-CN" altLang="en-US" sz="2400" b="1">
                <a:solidFill>
                  <a:srgbClr val="000000"/>
                </a:solidFill>
                <a:latin typeface="微软雅黑" panose="020B0503020204020204" charset="-122"/>
                <a:ea typeface="微软雅黑" panose="020B0503020204020204" charset="-122"/>
                <a:sym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699" advTm="299">
        <p:fade/>
      </p:transition>
    </mc:Choice>
    <mc:Fallback>
      <p:transition spd="med" advTm="299">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299515" y="392057"/>
            <a:ext cx="3142321" cy="4708981"/>
          </a:xfrm>
          <a:prstGeom prst="rect">
            <a:avLst/>
          </a:prstGeom>
          <a:noFill/>
        </p:spPr>
        <p:txBody>
          <a:bodyPr wrap="square" rtlCol="0">
            <a:spAutoFit/>
          </a:bodyPr>
          <a:lstStyle/>
          <a:p>
            <a:r>
              <a:rPr lang="en-US" altLang="zh-CN" sz="30000" dirty="0">
                <a:latin typeface="Segoe UI Light" panose="020B0502040204020203" pitchFamily="34" charset="0"/>
              </a:rPr>
              <a:t>1</a:t>
            </a:r>
            <a:endParaRPr lang="zh-CN" altLang="en-US" sz="30000" dirty="0">
              <a:latin typeface="Segoe UI Light" panose="020B0502040204020203" pitchFamily="34" charset="0"/>
            </a:endParaRPr>
          </a:p>
        </p:txBody>
      </p:sp>
      <p:sp>
        <p:nvSpPr>
          <p:cNvPr id="14" name="文本框 58"/>
          <p:cNvSpPr txBox="1"/>
          <p:nvPr/>
        </p:nvSpPr>
        <p:spPr>
          <a:xfrm>
            <a:off x="2578100" y="1697355"/>
            <a:ext cx="4423410" cy="2306955"/>
          </a:xfrm>
          <a:prstGeom prst="rect">
            <a:avLst/>
          </a:prstGeom>
          <a:noFill/>
        </p:spPr>
        <p:txBody>
          <a:bodyPr wrap="square" rtlCol="0">
            <a:spAutoFit/>
          </a:bodyPr>
          <a:lstStyle/>
          <a:p>
            <a:r>
              <a:rPr lang="en-US" altLang="zh-CN" sz="7200" b="1" dirty="0">
                <a:latin typeface="Segoe UI Light" panose="020B0502040204020203" pitchFamily="34" charset="0"/>
              </a:rPr>
              <a:t>CHAPTER  </a:t>
            </a:r>
            <a:endParaRPr lang="en-US" altLang="zh-CN" sz="7200" b="1" dirty="0">
              <a:latin typeface="Segoe UI Light" panose="020B0502040204020203" pitchFamily="34" charset="0"/>
            </a:endParaRPr>
          </a:p>
          <a:p>
            <a:r>
              <a:rPr lang="en-US" altLang="zh-CN" sz="7200" b="1" dirty="0">
                <a:latin typeface="Segoe UI Light" panose="020B0502040204020203" pitchFamily="34" charset="0"/>
                <a:ea typeface="微软雅黑 Light" panose="020B0502040204020203" pitchFamily="34" charset="-122"/>
                <a:cs typeface="Segoe UI Light" panose="020B0502040204020203" pitchFamily="34" charset="0"/>
              </a:rPr>
              <a:t>ONE</a:t>
            </a:r>
            <a:endParaRPr lang="zh-CN" altLang="en-US" sz="7200" b="1" dirty="0">
              <a:latin typeface="Segoe UI Light" panose="020B0502040204020203" pitchFamily="34" charset="0"/>
              <a:ea typeface="微软雅黑 Light" panose="020B0502040204020203" pitchFamily="34" charset="-122"/>
              <a:cs typeface="Segoe UI Light" panose="020B0502040204020203" pitchFamily="34" charset="0"/>
            </a:endParaRPr>
          </a:p>
        </p:txBody>
      </p:sp>
      <p:grpSp>
        <p:nvGrpSpPr>
          <p:cNvPr id="2" name="Group 12"/>
          <p:cNvGrpSpPr/>
          <p:nvPr/>
        </p:nvGrpSpPr>
        <p:grpSpPr>
          <a:xfrm>
            <a:off x="5997524" y="4581047"/>
            <a:ext cx="216000" cy="2295454"/>
            <a:chOff x="5997524" y="4571522"/>
            <a:chExt cx="216000" cy="2295454"/>
          </a:xfrm>
          <a:solidFill>
            <a:srgbClr val="002060"/>
          </a:solidFill>
        </p:grpSpPr>
        <p:cxnSp>
          <p:nvCxnSpPr>
            <p:cNvPr id="4" name="Straight Connector 7"/>
            <p:cNvCxnSpPr/>
            <p:nvPr/>
          </p:nvCxnSpPr>
          <p:spPr>
            <a:xfrm>
              <a:off x="6097936" y="4706976"/>
              <a:ext cx="0" cy="2160000"/>
            </a:xfrm>
            <a:prstGeom prst="line">
              <a:avLst/>
            </a:prstGeom>
            <a:grpFill/>
            <a:ln w="25400" cmpd="sng">
              <a:solidFill>
                <a:schemeClr val="accent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Group 11"/>
            <p:cNvGrpSpPr/>
            <p:nvPr/>
          </p:nvGrpSpPr>
          <p:grpSpPr>
            <a:xfrm>
              <a:off x="5997524" y="4571522"/>
              <a:ext cx="216000" cy="212400"/>
              <a:chOff x="9702774" y="956603"/>
              <a:chExt cx="216000" cy="212400"/>
            </a:xfrm>
            <a:grpFill/>
          </p:grpSpPr>
          <p:sp>
            <p:nvSpPr>
              <p:cNvPr id="19" name="Oval 9"/>
              <p:cNvSpPr/>
              <p:nvPr/>
            </p:nvSpPr>
            <p:spPr>
              <a:xfrm>
                <a:off x="9702774" y="956603"/>
                <a:ext cx="216000" cy="2124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sp>
            <p:nvSpPr>
              <p:cNvPr id="20" name="Oval 8"/>
              <p:cNvSpPr/>
              <p:nvPr/>
            </p:nvSpPr>
            <p:spPr>
              <a:xfrm>
                <a:off x="9738774" y="1007117"/>
                <a:ext cx="144000" cy="144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grpSp>
      </p:grpSp>
      <p:sp>
        <p:nvSpPr>
          <p:cNvPr id="21" name="文本框 16"/>
          <p:cNvSpPr txBox="1"/>
          <p:nvPr/>
        </p:nvSpPr>
        <p:spPr>
          <a:xfrm>
            <a:off x="2578735" y="3957955"/>
            <a:ext cx="4422775" cy="583565"/>
          </a:xfrm>
          <a:prstGeom prst="rect">
            <a:avLst/>
          </a:prstGeom>
          <a:noFill/>
        </p:spPr>
        <p:txBody>
          <a:bodyPr wrap="square" rtlCol="0">
            <a:spAutoFit/>
          </a:bodyPr>
          <a:lstStyle/>
          <a:p>
            <a:pPr algn="l">
              <a:buClr>
                <a:srgbClr val="00517C"/>
              </a:buClr>
              <a:buSzPct val="80000"/>
            </a:pPr>
            <a:r>
              <a:rPr lang="zh-CN" sz="3200" b="1" dirty="0">
                <a:solidFill>
                  <a:srgbClr val="FF0000"/>
                </a:solidFill>
                <a:latin typeface="微软雅黑" panose="020B0503020204020204" charset="-122"/>
                <a:ea typeface="微软雅黑" panose="020B0503020204020204" charset="-122"/>
                <a:sym typeface="微软雅黑" panose="020B0503020204020204" charset="-122"/>
              </a:rPr>
              <a:t>技术</a:t>
            </a:r>
            <a:r>
              <a:rPr lang="zh-CN" sz="3200" b="1" dirty="0">
                <a:solidFill>
                  <a:srgbClr val="FF0000"/>
                </a:solidFill>
                <a:latin typeface="微软雅黑" panose="020B0503020204020204" charset="-122"/>
                <a:ea typeface="微软雅黑" panose="020B0503020204020204" charset="-122"/>
                <a:sym typeface="微软雅黑" panose="020B0503020204020204" charset="-122"/>
              </a:rPr>
              <a:t>架构</a:t>
            </a:r>
            <a:endParaRPr lang="zh-CN" sz="3200" b="1" dirty="0">
              <a:solidFill>
                <a:srgbClr val="FF0000"/>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99" advTm="0">
        <p:fade/>
      </p:transition>
    </mc:Choice>
    <mc:Fallback>
      <p:transition spd="med"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393" y="6842094"/>
            <a:ext cx="12202786" cy="15906"/>
            <a:chOff x="0" y="6829262"/>
            <a:chExt cx="12202786" cy="15906"/>
          </a:xfrm>
        </p:grpSpPr>
        <p:cxnSp>
          <p:nvCxnSpPr>
            <p:cNvPr id="21"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54"/>
          <p:cNvGrpSpPr/>
          <p:nvPr/>
        </p:nvGrpSpPr>
        <p:grpSpPr>
          <a:xfrm>
            <a:off x="2400580" y="478732"/>
            <a:ext cx="8100000" cy="398780"/>
            <a:chOff x="3329659" y="684634"/>
            <a:chExt cx="6942353" cy="398780"/>
          </a:xfrm>
        </p:grpSpPr>
        <p:cxnSp>
          <p:nvCxnSpPr>
            <p:cNvPr id="16" name="直接连接符 15"/>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生态版平台特点</a:t>
              </a:r>
              <a:endParaRPr lang="en-US" altLang="zh-CN"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20" name="组合 19"/>
          <p:cNvGrpSpPr/>
          <p:nvPr/>
        </p:nvGrpSpPr>
        <p:grpSpPr>
          <a:xfrm>
            <a:off x="531813" y="438512"/>
            <a:ext cx="1990507" cy="460800"/>
            <a:chOff x="531813" y="438512"/>
            <a:chExt cx="1990507" cy="460800"/>
          </a:xfrm>
        </p:grpSpPr>
        <p:grpSp>
          <p:nvGrpSpPr>
            <p:cNvPr id="26" name="组合 69"/>
            <p:cNvGrpSpPr/>
            <p:nvPr/>
          </p:nvGrpSpPr>
          <p:grpSpPr>
            <a:xfrm>
              <a:off x="531813" y="438512"/>
              <a:ext cx="1781401" cy="460800"/>
              <a:chOff x="2305585" y="1928066"/>
              <a:chExt cx="2104868" cy="521276"/>
            </a:xfrm>
          </p:grpSpPr>
          <p:sp>
            <p:nvSpPr>
              <p:cNvPr id="32" name="圆角矩形 31"/>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2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01</a:t>
              </a:r>
              <a:endParaRPr lang="zh-CN" altLang="en-US" sz="1600" dirty="0">
                <a:latin typeface="微软雅黑 Light" panose="020B0502040204020203" pitchFamily="34" charset="-122"/>
                <a:ea typeface="微软雅黑 Light" panose="020B0502040204020203" pitchFamily="34" charset="-122"/>
              </a:endParaRPr>
            </a:p>
          </p:txBody>
        </p:sp>
      </p:grpSp>
      <p:sp>
        <p:nvSpPr>
          <p:cNvPr id="3" name="文本框 2"/>
          <p:cNvSpPr txBox="1"/>
          <p:nvPr/>
        </p:nvSpPr>
        <p:spPr>
          <a:xfrm>
            <a:off x="844852" y="2466770"/>
            <a:ext cx="2955925" cy="460375"/>
          </a:xfrm>
          <a:prstGeom prst="rect">
            <a:avLst/>
          </a:prstGeom>
          <a:noFill/>
        </p:spPr>
        <p:txBody>
          <a:bodyPr wrap="square" rtlCol="0">
            <a:spAutoFit/>
          </a:bodyPr>
          <a:lstStyle/>
          <a:p>
            <a:pPr algn="ctr"/>
            <a:r>
              <a:rPr lang="en-US" altLang="zh-CN" sz="2400" b="1"/>
              <a:t>— </a:t>
            </a:r>
            <a:r>
              <a:rPr lang="zh-CN" altLang="en-US" sz="2400" b="1"/>
              <a:t>技术特点</a:t>
            </a:r>
            <a:r>
              <a:rPr lang="en-US" altLang="zh-CN" sz="2400" b="1"/>
              <a:t> —</a:t>
            </a:r>
            <a:endParaRPr lang="en-US" altLang="zh-CN" sz="2400" b="1"/>
          </a:p>
        </p:txBody>
      </p:sp>
      <p:sp>
        <p:nvSpPr>
          <p:cNvPr id="6" name="文本框 5"/>
          <p:cNvSpPr txBox="1"/>
          <p:nvPr/>
        </p:nvSpPr>
        <p:spPr>
          <a:xfrm>
            <a:off x="531813" y="995360"/>
            <a:ext cx="11059160" cy="1136746"/>
          </a:xfrm>
          <a:prstGeom prst="rect">
            <a:avLst/>
          </a:prstGeom>
          <a:noFill/>
        </p:spPr>
        <p:txBody>
          <a:bodyPr wrap="square" tIns="0" bIns="0" rtlCol="0" anchor="t" anchorCtr="0">
            <a:noAutofit/>
          </a:bodyPr>
          <a:lstStyle/>
          <a:p>
            <a:pPr lvl="0" indent="457200" algn="l">
              <a:lnSpc>
                <a:spcPct val="150000"/>
              </a:lnSpc>
              <a:spcBef>
                <a:spcPts val="0"/>
              </a:spcBef>
              <a:spcAft>
                <a:spcPts val="0"/>
              </a:spcAft>
              <a:buClrTx/>
              <a:buSzTx/>
              <a:buFontTx/>
            </a:pPr>
            <a:r>
              <a:rPr lang="en-US" altLang="zh-CN" dirty="0" err="1">
                <a:latin typeface="微软雅黑" panose="020B0503020204020204" charset="-122"/>
                <a:ea typeface="微软雅黑" panose="020B0503020204020204" charset="-122"/>
                <a:cs typeface="微软雅黑" panose="020B0503020204020204" charset="-122"/>
                <a:sym typeface="+mn-ea"/>
              </a:rPr>
              <a:t>FastCAE</a:t>
            </a:r>
            <a:r>
              <a:rPr lang="zh-CN" altLang="en-US" dirty="0">
                <a:latin typeface="微软雅黑" panose="020B0503020204020204" charset="-122"/>
                <a:ea typeface="微软雅黑" panose="020B0503020204020204" charset="-122"/>
                <a:cs typeface="微软雅黑" panose="020B0503020204020204" charset="-122"/>
                <a:sym typeface="+mn-ea"/>
              </a:rPr>
              <a:t>生态版开源底座框架平台面向</a:t>
            </a:r>
            <a:r>
              <a:rPr lang="zh-CN" altLang="en-US" b="1" dirty="0">
                <a:latin typeface="微软雅黑" panose="020B0503020204020204" charset="-122"/>
                <a:ea typeface="微软雅黑" panose="020B0503020204020204" charset="-122"/>
                <a:cs typeface="微软雅黑" panose="020B0503020204020204" charset="-122"/>
                <a:sym typeface="+mn-ea"/>
              </a:rPr>
              <a:t>自主</a:t>
            </a:r>
            <a:r>
              <a:rPr lang="en-US" altLang="zh-CN" b="1" dirty="0">
                <a:latin typeface="微软雅黑" panose="020B0503020204020204" charset="-122"/>
                <a:ea typeface="微软雅黑" panose="020B0503020204020204" charset="-122"/>
                <a:cs typeface="微软雅黑" panose="020B0503020204020204" charset="-122"/>
                <a:sym typeface="+mn-ea"/>
              </a:rPr>
              <a:t>CAE</a:t>
            </a:r>
            <a:r>
              <a:rPr lang="zh-CN" altLang="en-US" b="1" dirty="0">
                <a:latin typeface="微软雅黑" panose="020B0503020204020204" charset="-122"/>
                <a:ea typeface="微软雅黑" panose="020B0503020204020204" charset="-122"/>
                <a:cs typeface="微软雅黑" panose="020B0503020204020204" charset="-122"/>
                <a:sym typeface="+mn-ea"/>
              </a:rPr>
              <a:t>软件开发者</a:t>
            </a:r>
            <a:r>
              <a:rPr lang="zh-CN" altLang="en-US" dirty="0">
                <a:latin typeface="微软雅黑" panose="020B0503020204020204" charset="-122"/>
                <a:ea typeface="微软雅黑" panose="020B0503020204020204" charset="-122"/>
                <a:cs typeface="微软雅黑" panose="020B0503020204020204" charset="-122"/>
                <a:sym typeface="+mn-ea"/>
              </a:rPr>
              <a:t>，定义了统一的</a:t>
            </a:r>
            <a:r>
              <a:rPr lang="en-US" altLang="zh-CN" dirty="0">
                <a:latin typeface="微软雅黑" panose="020B0503020204020204" charset="-122"/>
                <a:ea typeface="微软雅黑" panose="020B0503020204020204" charset="-122"/>
                <a:cs typeface="微软雅黑" panose="020B0503020204020204" charset="-122"/>
                <a:sym typeface="+mn-ea"/>
              </a:rPr>
              <a:t>CAE</a:t>
            </a:r>
            <a:r>
              <a:rPr lang="zh-CN" altLang="en-US" dirty="0">
                <a:latin typeface="微软雅黑" panose="020B0503020204020204" charset="-122"/>
                <a:ea typeface="微软雅黑" panose="020B0503020204020204" charset="-122"/>
                <a:cs typeface="微软雅黑" panose="020B0503020204020204" charset="-122"/>
                <a:sym typeface="+mn-ea"/>
              </a:rPr>
              <a:t>软件运行框架，提供了可全生命周期的内存管理机制，实现基于</a:t>
            </a:r>
            <a:r>
              <a:rPr lang="zh-CN" altLang="en-US" b="1" dirty="0">
                <a:latin typeface="微软雅黑" panose="020B0503020204020204" charset="-122"/>
                <a:ea typeface="微软雅黑" panose="020B0503020204020204" charset="-122"/>
                <a:cs typeface="微软雅黑" panose="020B0503020204020204" charset="-122"/>
                <a:sym typeface="+mn-ea"/>
              </a:rPr>
              <a:t>功能组件</a:t>
            </a:r>
            <a:r>
              <a:rPr lang="zh-CN" altLang="en-US" dirty="0">
                <a:latin typeface="微软雅黑" panose="020B0503020204020204" charset="-122"/>
                <a:ea typeface="微软雅黑" panose="020B0503020204020204" charset="-122"/>
                <a:cs typeface="微软雅黑" panose="020B0503020204020204" charset="-122"/>
                <a:sym typeface="+mn-ea"/>
              </a:rPr>
              <a:t>的模块化集成，可以实现高效的</a:t>
            </a:r>
            <a:r>
              <a:rPr lang="en-US" altLang="zh-CN" dirty="0">
                <a:latin typeface="微软雅黑" panose="020B0503020204020204" charset="-122"/>
                <a:ea typeface="微软雅黑" panose="020B0503020204020204" charset="-122"/>
                <a:cs typeface="微软雅黑" panose="020B0503020204020204" charset="-122"/>
                <a:sym typeface="+mn-ea"/>
              </a:rPr>
              <a:t>CAE</a:t>
            </a:r>
            <a:r>
              <a:rPr lang="zh-CN" altLang="en-US" dirty="0">
                <a:latin typeface="微软雅黑" panose="020B0503020204020204" charset="-122"/>
                <a:ea typeface="微软雅黑" panose="020B0503020204020204" charset="-122"/>
                <a:cs typeface="微软雅黑" panose="020B0503020204020204" charset="-122"/>
                <a:sym typeface="+mn-ea"/>
              </a:rPr>
              <a:t>子系统集成。此外还提供了丰富的</a:t>
            </a:r>
            <a:r>
              <a:rPr lang="zh-CN" altLang="en-US" b="1" dirty="0">
                <a:latin typeface="微软雅黑" panose="020B0503020204020204" charset="-122"/>
                <a:ea typeface="微软雅黑" panose="020B0503020204020204" charset="-122"/>
                <a:cs typeface="微软雅黑" panose="020B0503020204020204" charset="-122"/>
                <a:sym typeface="+mn-ea"/>
              </a:rPr>
              <a:t>多学科套件</a:t>
            </a:r>
            <a:r>
              <a:rPr lang="zh-CN" altLang="en-US" dirty="0">
                <a:latin typeface="微软雅黑" panose="020B0503020204020204" charset="-122"/>
                <a:ea typeface="微软雅黑" panose="020B0503020204020204" charset="-122"/>
                <a:cs typeface="微软雅黑" panose="020B0503020204020204" charset="-122"/>
                <a:sym typeface="+mn-ea"/>
              </a:rPr>
              <a:t>，可基于</a:t>
            </a:r>
            <a:r>
              <a:rPr lang="en-US" altLang="zh-CN" dirty="0">
                <a:latin typeface="微软雅黑" panose="020B0503020204020204" charset="-122"/>
                <a:ea typeface="微软雅黑" panose="020B0503020204020204" charset="-122"/>
                <a:cs typeface="微软雅黑" panose="020B0503020204020204" charset="-122"/>
                <a:sym typeface="+mn-ea"/>
              </a:rPr>
              <a:t>BS</a:t>
            </a:r>
            <a:r>
              <a:rPr lang="zh-CN" altLang="en-US" dirty="0">
                <a:latin typeface="微软雅黑" panose="020B0503020204020204" charset="-122"/>
                <a:ea typeface="微软雅黑" panose="020B0503020204020204" charset="-122"/>
                <a:cs typeface="微软雅黑" panose="020B0503020204020204" charset="-122"/>
                <a:sym typeface="+mn-ea"/>
              </a:rPr>
              <a:t>架构或</a:t>
            </a:r>
            <a:r>
              <a:rPr lang="en-US" altLang="zh-CN" dirty="0">
                <a:latin typeface="微软雅黑" panose="020B0503020204020204" charset="-122"/>
                <a:ea typeface="微软雅黑" panose="020B0503020204020204" charset="-122"/>
                <a:cs typeface="微软雅黑" panose="020B0503020204020204" charset="-122"/>
                <a:sym typeface="+mn-ea"/>
              </a:rPr>
              <a:t>CS</a:t>
            </a:r>
            <a:r>
              <a:rPr lang="zh-CN" altLang="en-US" dirty="0">
                <a:latin typeface="微软雅黑" panose="020B0503020204020204" charset="-122"/>
                <a:ea typeface="微软雅黑" panose="020B0503020204020204" charset="-122"/>
                <a:cs typeface="微软雅黑" panose="020B0503020204020204" charset="-122"/>
                <a:sym typeface="+mn-ea"/>
              </a:rPr>
              <a:t>架构实现自主</a:t>
            </a:r>
            <a:r>
              <a:rPr lang="en-US" altLang="zh-CN" dirty="0">
                <a:latin typeface="微软雅黑" panose="020B0503020204020204" charset="-122"/>
                <a:ea typeface="微软雅黑" panose="020B0503020204020204" charset="-122"/>
                <a:cs typeface="微软雅黑" panose="020B0503020204020204" charset="-122"/>
                <a:sym typeface="+mn-ea"/>
              </a:rPr>
              <a:t>CAE</a:t>
            </a:r>
            <a:r>
              <a:rPr lang="zh-CN" altLang="en-US" dirty="0">
                <a:latin typeface="微软雅黑" panose="020B0503020204020204" charset="-122"/>
                <a:ea typeface="微软雅黑" panose="020B0503020204020204" charset="-122"/>
                <a:cs typeface="微软雅黑" panose="020B0503020204020204" charset="-122"/>
                <a:sym typeface="+mn-ea"/>
              </a:rPr>
              <a:t>工具的快速封装与产品化集成。</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8" name="矩形 17"/>
          <p:cNvSpPr/>
          <p:nvPr/>
        </p:nvSpPr>
        <p:spPr>
          <a:xfrm>
            <a:off x="6101715" y="5900516"/>
            <a:ext cx="1301115" cy="46482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数据标准</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9" name="矩形 28"/>
          <p:cNvSpPr/>
          <p:nvPr/>
        </p:nvSpPr>
        <p:spPr>
          <a:xfrm>
            <a:off x="7567930" y="5880196"/>
            <a:ext cx="1301115" cy="46482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软件框架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1" name="矩形 30"/>
          <p:cNvSpPr/>
          <p:nvPr/>
        </p:nvSpPr>
        <p:spPr>
          <a:xfrm>
            <a:off x="9034145" y="5880196"/>
            <a:ext cx="1301115" cy="46482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接口规范</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5" name="文本框 34"/>
          <p:cNvSpPr txBox="1"/>
          <p:nvPr/>
        </p:nvSpPr>
        <p:spPr>
          <a:xfrm>
            <a:off x="4502785" y="5920836"/>
            <a:ext cx="1598930" cy="368300"/>
          </a:xfrm>
          <a:prstGeom prst="rect">
            <a:avLst/>
          </a:prstGeom>
          <a:noFill/>
        </p:spPr>
        <p:txBody>
          <a:bodyPr wrap="square" rtlCol="0">
            <a:spAutoFit/>
          </a:bodyPr>
          <a:lstStyle/>
          <a:p>
            <a:pPr algn="ctr"/>
            <a:r>
              <a:rPr lang="zh-CN" altLang="en-US"/>
              <a:t>集成底座</a:t>
            </a:r>
            <a:endParaRPr lang="zh-CN" altLang="en-US"/>
          </a:p>
        </p:txBody>
      </p:sp>
      <p:sp>
        <p:nvSpPr>
          <p:cNvPr id="36" name="矩形 35"/>
          <p:cNvSpPr/>
          <p:nvPr/>
        </p:nvSpPr>
        <p:spPr>
          <a:xfrm>
            <a:off x="10500360" y="5880196"/>
            <a:ext cx="1301115" cy="46482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内存管理</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8" name="矩形 37"/>
          <p:cNvSpPr/>
          <p:nvPr/>
        </p:nvSpPr>
        <p:spPr>
          <a:xfrm>
            <a:off x="6101715" y="4900391"/>
            <a:ext cx="1795145"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可视化组件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9" name="矩形 38"/>
          <p:cNvSpPr/>
          <p:nvPr/>
        </p:nvSpPr>
        <p:spPr>
          <a:xfrm>
            <a:off x="6101715" y="4251421"/>
            <a:ext cx="1795145"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数据管理组件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0" name="矩形 39"/>
          <p:cNvSpPr/>
          <p:nvPr/>
        </p:nvSpPr>
        <p:spPr>
          <a:xfrm>
            <a:off x="9993630" y="4900391"/>
            <a:ext cx="1795145"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网格划分组件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1" name="矩形 40"/>
          <p:cNvSpPr/>
          <p:nvPr/>
        </p:nvSpPr>
        <p:spPr>
          <a:xfrm>
            <a:off x="8023860" y="4251421"/>
            <a:ext cx="1794510"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几何处理组件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2" name="矩形 41"/>
          <p:cNvSpPr/>
          <p:nvPr/>
        </p:nvSpPr>
        <p:spPr>
          <a:xfrm>
            <a:off x="9974580" y="4255866"/>
            <a:ext cx="1794510"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数据处理组件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3" name="矩形 42"/>
          <p:cNvSpPr/>
          <p:nvPr/>
        </p:nvSpPr>
        <p:spPr>
          <a:xfrm>
            <a:off x="8047990" y="4900391"/>
            <a:ext cx="1794510" cy="464820"/>
          </a:xfrm>
          <a:prstGeom prst="rect">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优化组件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4" name="文本框 43"/>
          <p:cNvSpPr txBox="1"/>
          <p:nvPr/>
        </p:nvSpPr>
        <p:spPr>
          <a:xfrm>
            <a:off x="4502785" y="4638771"/>
            <a:ext cx="1598930" cy="368300"/>
          </a:xfrm>
          <a:prstGeom prst="rect">
            <a:avLst/>
          </a:prstGeom>
          <a:noFill/>
        </p:spPr>
        <p:txBody>
          <a:bodyPr wrap="square" rtlCol="0">
            <a:spAutoFit/>
          </a:bodyPr>
          <a:lstStyle/>
          <a:p>
            <a:pPr algn="ctr"/>
            <a:r>
              <a:rPr lang="zh-CN" altLang="en-US"/>
              <a:t>多功能组件</a:t>
            </a:r>
            <a:endParaRPr lang="zh-CN" altLang="en-US"/>
          </a:p>
        </p:txBody>
      </p:sp>
      <p:sp>
        <p:nvSpPr>
          <p:cNvPr id="45" name="矩形 44"/>
          <p:cNvSpPr/>
          <p:nvPr/>
        </p:nvSpPr>
        <p:spPr>
          <a:xfrm>
            <a:off x="6101715" y="3418936"/>
            <a:ext cx="2520950" cy="464820"/>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结构分析套件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6" name="矩形 45"/>
          <p:cNvSpPr/>
          <p:nvPr/>
        </p:nvSpPr>
        <p:spPr>
          <a:xfrm>
            <a:off x="9208770" y="3418936"/>
            <a:ext cx="2530475" cy="464820"/>
          </a:xfrm>
          <a:prstGeom prst="rect">
            <a:avLst/>
          </a:prstGeom>
          <a:solidFill>
            <a:schemeClr val="accent2">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solidFill>
                  <a:schemeClr val="tx1"/>
                </a:solidFill>
                <a:latin typeface="微软雅黑" panose="020B0503020204020204" charset="-122"/>
                <a:ea typeface="微软雅黑" panose="020B0503020204020204" charset="-122"/>
                <a:cs typeface="宋体" panose="02010600030101010101" pitchFamily="2" charset="-122"/>
              </a:rPr>
              <a:t>CFD</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分析套件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7" name="文本框 46"/>
          <p:cNvSpPr txBox="1"/>
          <p:nvPr/>
        </p:nvSpPr>
        <p:spPr>
          <a:xfrm>
            <a:off x="4502785" y="3476086"/>
            <a:ext cx="1598930" cy="368300"/>
          </a:xfrm>
          <a:prstGeom prst="rect">
            <a:avLst/>
          </a:prstGeom>
          <a:noFill/>
        </p:spPr>
        <p:txBody>
          <a:bodyPr wrap="square" rtlCol="0">
            <a:spAutoFit/>
          </a:bodyPr>
          <a:lstStyle/>
          <a:p>
            <a:pPr algn="ctr"/>
            <a:r>
              <a:rPr lang="zh-CN" altLang="en-US"/>
              <a:t>多学科套件</a:t>
            </a:r>
            <a:endParaRPr lang="zh-CN" altLang="en-US"/>
          </a:p>
        </p:txBody>
      </p:sp>
      <p:sp>
        <p:nvSpPr>
          <p:cNvPr id="48" name="矩形 47"/>
          <p:cNvSpPr/>
          <p:nvPr/>
        </p:nvSpPr>
        <p:spPr>
          <a:xfrm>
            <a:off x="6101715" y="2582006"/>
            <a:ext cx="5637530" cy="46482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自主</a:t>
            </a:r>
            <a:r>
              <a:rPr lang="en-US" altLang="zh-CN" dirty="0">
                <a:solidFill>
                  <a:schemeClr val="tx1"/>
                </a:solidFill>
                <a:latin typeface="微软雅黑" panose="020B0503020204020204" charset="-122"/>
                <a:ea typeface="微软雅黑" panose="020B0503020204020204" charset="-122"/>
                <a:cs typeface="宋体" panose="02010600030101010101" pitchFamily="2" charset="-122"/>
              </a:rPr>
              <a:t>CAE</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软件</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9" name="文本框 48"/>
          <p:cNvSpPr txBox="1"/>
          <p:nvPr/>
        </p:nvSpPr>
        <p:spPr>
          <a:xfrm>
            <a:off x="4502785" y="2642966"/>
            <a:ext cx="1598930" cy="368300"/>
          </a:xfrm>
          <a:prstGeom prst="rect">
            <a:avLst/>
          </a:prstGeom>
          <a:noFill/>
        </p:spPr>
        <p:txBody>
          <a:bodyPr wrap="square" rtlCol="0">
            <a:spAutoFit/>
          </a:bodyPr>
          <a:lstStyle/>
          <a:p>
            <a:pPr algn="ctr"/>
            <a:r>
              <a:rPr lang="zh-CN" altLang="en-US"/>
              <a:t>应用软件</a:t>
            </a:r>
            <a:endParaRPr lang="zh-CN" altLang="en-US"/>
          </a:p>
        </p:txBody>
      </p:sp>
      <p:sp>
        <p:nvSpPr>
          <p:cNvPr id="10" name="矩形 9"/>
          <p:cNvSpPr/>
          <p:nvPr>
            <p:custDataLst>
              <p:tags r:id="rId1"/>
            </p:custDataLst>
          </p:nvPr>
        </p:nvSpPr>
        <p:spPr>
          <a:xfrm>
            <a:off x="659765" y="2966499"/>
            <a:ext cx="3376930" cy="57086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sz="1600" b="1">
                <a:latin typeface="微软雅黑" panose="020B0503020204020204" charset="-122"/>
                <a:ea typeface="微软雅黑" panose="020B0503020204020204" charset="-122"/>
              </a:rPr>
              <a:t>去中心化，轻量级工具</a:t>
            </a:r>
            <a:endParaRPr lang="zh-CN" sz="1600" b="1">
              <a:latin typeface="微软雅黑" panose="020B0503020204020204" charset="-122"/>
              <a:ea typeface="微软雅黑" panose="020B0503020204020204" charset="-122"/>
            </a:endParaRPr>
          </a:p>
        </p:txBody>
      </p:sp>
      <p:sp>
        <p:nvSpPr>
          <p:cNvPr id="11" name="矩形 10"/>
          <p:cNvSpPr/>
          <p:nvPr>
            <p:custDataLst>
              <p:tags r:id="rId2"/>
            </p:custDataLst>
          </p:nvPr>
        </p:nvSpPr>
        <p:spPr>
          <a:xfrm>
            <a:off x="660400" y="3722784"/>
            <a:ext cx="3376930" cy="570865"/>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zh-CN" sz="1600" b="1">
                <a:latin typeface="微软雅黑" panose="020B0503020204020204" charset="-122"/>
                <a:ea typeface="微软雅黑" panose="020B0503020204020204" charset="-122"/>
              </a:rPr>
              <a:t>多种组件，降低开发难度</a:t>
            </a:r>
            <a:endParaRPr lang="zh-CN" sz="1600" b="1">
              <a:latin typeface="微软雅黑" panose="020B0503020204020204" charset="-122"/>
              <a:ea typeface="微软雅黑" panose="020B0503020204020204" charset="-122"/>
            </a:endParaRPr>
          </a:p>
        </p:txBody>
      </p:sp>
      <p:sp>
        <p:nvSpPr>
          <p:cNvPr id="28" name="矩形 27"/>
          <p:cNvSpPr/>
          <p:nvPr>
            <p:custDataLst>
              <p:tags r:id="rId3"/>
            </p:custDataLst>
          </p:nvPr>
        </p:nvSpPr>
        <p:spPr>
          <a:xfrm>
            <a:off x="660400" y="5079144"/>
            <a:ext cx="3376930" cy="570865"/>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跨平台运行</a:t>
            </a:r>
            <a:endParaRPr lang="zh-CN" altLang="en-US" sz="1600" b="1">
              <a:latin typeface="微软雅黑" panose="020B0503020204020204" charset="-122"/>
              <a:ea typeface="微软雅黑" panose="020B0503020204020204" charset="-122"/>
            </a:endParaRPr>
          </a:p>
        </p:txBody>
      </p:sp>
      <p:sp>
        <p:nvSpPr>
          <p:cNvPr id="37" name="矩形 36"/>
          <p:cNvSpPr/>
          <p:nvPr>
            <p:custDataLst>
              <p:tags r:id="rId4"/>
            </p:custDataLst>
          </p:nvPr>
        </p:nvSpPr>
        <p:spPr>
          <a:xfrm>
            <a:off x="660400" y="4400964"/>
            <a:ext cx="3376930" cy="570865"/>
          </a:xfrm>
          <a:prstGeom prst="rect">
            <a:avLst/>
          </a:prstGeom>
          <a:solidFill>
            <a:srgbClr val="34A47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zh-CN" sz="1600" b="1">
                <a:latin typeface="微软雅黑" panose="020B0503020204020204" charset="-122"/>
                <a:ea typeface="微软雅黑" panose="020B0503020204020204" charset="-122"/>
                <a:cs typeface="微软雅黑" panose="020B0503020204020204" charset="-122"/>
              </a:rPr>
              <a:t>兼容更多应用场景（</a:t>
            </a:r>
            <a:r>
              <a:rPr lang="en-US" altLang="zh-CN" sz="1600" b="1">
                <a:latin typeface="微软雅黑" panose="020B0503020204020204" charset="-122"/>
                <a:ea typeface="微软雅黑" panose="020B0503020204020204" charset="-122"/>
                <a:cs typeface="微软雅黑" panose="020B0503020204020204" charset="-122"/>
              </a:rPr>
              <a:t>BS/CS</a:t>
            </a:r>
            <a:r>
              <a:rPr lang="zh-CN" sz="1600" b="1">
                <a:latin typeface="微软雅黑" panose="020B0503020204020204" charset="-122"/>
                <a:ea typeface="微软雅黑" panose="020B0503020204020204" charset="-122"/>
                <a:cs typeface="微软雅黑" panose="020B0503020204020204" charset="-122"/>
              </a:rPr>
              <a:t>）</a:t>
            </a:r>
            <a:endParaRPr lang="zh-CN" sz="1600" b="1">
              <a:latin typeface="微软雅黑" panose="020B0503020204020204" charset="-122"/>
              <a:ea typeface="微软雅黑" panose="020B0503020204020204" charset="-122"/>
              <a:cs typeface="微软雅黑" panose="020B0503020204020204" charset="-122"/>
            </a:endParaRPr>
          </a:p>
        </p:txBody>
      </p:sp>
      <p:sp>
        <p:nvSpPr>
          <p:cNvPr id="50" name="矩形 49"/>
          <p:cNvSpPr/>
          <p:nvPr>
            <p:custDataLst>
              <p:tags r:id="rId5"/>
            </p:custDataLst>
          </p:nvPr>
        </p:nvSpPr>
        <p:spPr>
          <a:xfrm>
            <a:off x="661035" y="5777644"/>
            <a:ext cx="3376930" cy="570865"/>
          </a:xfrm>
          <a:prstGeom prst="rect">
            <a:avLst/>
          </a:prstGeom>
          <a:solidFill>
            <a:srgbClr val="0070C0"/>
          </a:solidFill>
        </p:spPr>
        <p:style>
          <a:lnRef idx="3">
            <a:schemeClr val="lt1"/>
          </a:lnRef>
          <a:fillRef idx="1">
            <a:schemeClr val="accent4"/>
          </a:fillRef>
          <a:effectRef idx="1">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坚持开源共享</a:t>
            </a:r>
            <a:endParaRPr lang="zh-CN" altLang="en-US" sz="1600" b="1">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p:transition spd="slow"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393" y="6842094"/>
            <a:ext cx="12202786" cy="15906"/>
            <a:chOff x="0" y="6829262"/>
            <a:chExt cx="12202786" cy="15906"/>
          </a:xfrm>
        </p:grpSpPr>
        <p:cxnSp>
          <p:nvCxnSpPr>
            <p:cNvPr id="21"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6" name="组合 54"/>
          <p:cNvGrpSpPr/>
          <p:nvPr/>
        </p:nvGrpSpPr>
        <p:grpSpPr>
          <a:xfrm>
            <a:off x="2400580" y="478732"/>
            <a:ext cx="8100000" cy="398780"/>
            <a:chOff x="3329659" y="684634"/>
            <a:chExt cx="6942353" cy="398780"/>
          </a:xfrm>
        </p:grpSpPr>
        <p:cxnSp>
          <p:nvCxnSpPr>
            <p:cNvPr id="27" name="直接连接符 26"/>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0"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适用场景</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41" name="组合 40"/>
          <p:cNvGrpSpPr/>
          <p:nvPr/>
        </p:nvGrpSpPr>
        <p:grpSpPr>
          <a:xfrm>
            <a:off x="531813" y="438512"/>
            <a:ext cx="1990507" cy="460800"/>
            <a:chOff x="531813" y="438512"/>
            <a:chExt cx="1990507" cy="460800"/>
          </a:xfrm>
        </p:grpSpPr>
        <p:grpSp>
          <p:nvGrpSpPr>
            <p:cNvPr id="43" name="组合 69"/>
            <p:cNvGrpSpPr/>
            <p:nvPr/>
          </p:nvGrpSpPr>
          <p:grpSpPr>
            <a:xfrm>
              <a:off x="531813" y="438512"/>
              <a:ext cx="1781401" cy="460800"/>
              <a:chOff x="2305585" y="1928066"/>
              <a:chExt cx="2104868" cy="521276"/>
            </a:xfrm>
          </p:grpSpPr>
          <p:sp>
            <p:nvSpPr>
              <p:cNvPr id="45" name="圆角矩形 4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44"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02</a:t>
              </a:r>
              <a:endParaRPr lang="zh-CN" altLang="en-US" sz="1600" dirty="0">
                <a:latin typeface="微软雅黑 Light" panose="020B0502040204020203" pitchFamily="34" charset="-122"/>
                <a:ea typeface="微软雅黑 Light" panose="020B0502040204020203" pitchFamily="34" charset="-122"/>
              </a:endParaRPr>
            </a:p>
          </p:txBody>
        </p:sp>
      </p:grpSp>
      <p:grpSp>
        <p:nvGrpSpPr>
          <p:cNvPr id="17" name="组合 16"/>
          <p:cNvGrpSpPr/>
          <p:nvPr/>
        </p:nvGrpSpPr>
        <p:grpSpPr>
          <a:xfrm>
            <a:off x="-2218" y="6845269"/>
            <a:ext cx="12202786" cy="15906"/>
            <a:chOff x="0" y="6829262"/>
            <a:chExt cx="12202786" cy="15906"/>
          </a:xfrm>
        </p:grpSpPr>
        <p:cxnSp>
          <p:nvCxnSpPr>
            <p:cNvPr id="20"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5" name="文本框 74"/>
          <p:cNvSpPr txBox="1"/>
          <p:nvPr/>
        </p:nvSpPr>
        <p:spPr>
          <a:xfrm>
            <a:off x="532130" y="868680"/>
            <a:ext cx="11209655" cy="768350"/>
          </a:xfrm>
          <a:prstGeom prst="rect">
            <a:avLst/>
          </a:prstGeom>
          <a:noFill/>
        </p:spPr>
        <p:txBody>
          <a:bodyPr wrap="square" tIns="0" bIns="0" rtlCol="0" anchor="t" anchorCtr="0">
            <a:noAutofit/>
          </a:bodyPr>
          <a:lstStyle/>
          <a:p>
            <a:pPr lvl="0" indent="457200" algn="l">
              <a:lnSpc>
                <a:spcPct val="150000"/>
              </a:lnSpc>
              <a:spcBef>
                <a:spcPts val="0"/>
              </a:spcBef>
              <a:spcAft>
                <a:spcPts val="0"/>
              </a:spcAft>
              <a:buClrTx/>
              <a:buSzTx/>
              <a:buFontTx/>
            </a:pPr>
            <a:r>
              <a:rPr lang="en-US" altLang="zh-CN" dirty="0">
                <a:latin typeface="微软雅黑" panose="020B0503020204020204" charset="-122"/>
                <a:ea typeface="微软雅黑" panose="020B0503020204020204" charset="-122"/>
                <a:cs typeface="微软雅黑" panose="020B0503020204020204" charset="-122"/>
                <a:sym typeface="+mn-ea"/>
              </a:rPr>
              <a:t>FastCAE</a:t>
            </a:r>
            <a:r>
              <a:rPr lang="zh-CN" altLang="en-US" dirty="0">
                <a:latin typeface="微软雅黑" panose="020B0503020204020204" charset="-122"/>
                <a:ea typeface="微软雅黑" panose="020B0503020204020204" charset="-122"/>
                <a:cs typeface="微软雅黑" panose="020B0503020204020204" charset="-122"/>
                <a:sym typeface="+mn-ea"/>
              </a:rPr>
              <a:t>生态版面向</a:t>
            </a:r>
            <a:r>
              <a:rPr lang="en-US" altLang="zh-CN" dirty="0">
                <a:latin typeface="微软雅黑" panose="020B0503020204020204" charset="-122"/>
                <a:ea typeface="微软雅黑" panose="020B0503020204020204" charset="-122"/>
                <a:cs typeface="微软雅黑" panose="020B0503020204020204" charset="-122"/>
                <a:sym typeface="+mn-ea"/>
              </a:rPr>
              <a:t>CAE</a:t>
            </a:r>
            <a:r>
              <a:rPr lang="zh-CN" altLang="en-US" dirty="0">
                <a:latin typeface="微软雅黑" panose="020B0503020204020204" charset="-122"/>
                <a:ea typeface="微软雅黑" panose="020B0503020204020204" charset="-122"/>
                <a:cs typeface="微软雅黑" panose="020B0503020204020204" charset="-122"/>
                <a:sym typeface="+mn-ea"/>
              </a:rPr>
              <a:t>软件的研发者，升级了产品架构。框架平台</a:t>
            </a:r>
            <a:r>
              <a:rPr dirty="0" err="1">
                <a:latin typeface="微软雅黑" panose="020B0503020204020204" charset="-122"/>
                <a:ea typeface="微软雅黑" panose="020B0503020204020204" charset="-122"/>
                <a:cs typeface="微软雅黑" panose="020B0503020204020204" charset="-122"/>
                <a:sym typeface="+mn-ea"/>
              </a:rPr>
              <a:t>由基础底座、功能组件、学科套件、应用软件、工作台等部分组成，能够支撑不同粒度的CAE子系统的开发与集成</a:t>
            </a:r>
            <a:r>
              <a:rPr dirty="0">
                <a:latin typeface="微软雅黑" panose="020B0503020204020204" charset="-122"/>
                <a:ea typeface="微软雅黑" panose="020B0503020204020204" charset="-122"/>
                <a:cs typeface="微软雅黑" panose="020B0503020204020204" charset="-122"/>
                <a:sym typeface="+mn-ea"/>
              </a:rPr>
              <a:t>。</a:t>
            </a:r>
            <a:endParaRPr dirty="0">
              <a:latin typeface="微软雅黑" panose="020B0503020204020204" charset="-122"/>
              <a:ea typeface="微软雅黑" panose="020B0503020204020204" charset="-122"/>
              <a:cs typeface="微软雅黑" panose="020B0503020204020204" charset="-122"/>
              <a:sym typeface="+mn-ea"/>
            </a:endParaRPr>
          </a:p>
        </p:txBody>
      </p:sp>
      <p:grpSp>
        <p:nvGrpSpPr>
          <p:cNvPr id="3" name="组合 2"/>
          <p:cNvGrpSpPr/>
          <p:nvPr/>
        </p:nvGrpSpPr>
        <p:grpSpPr>
          <a:xfrm>
            <a:off x="7239635" y="1784985"/>
            <a:ext cx="3909695" cy="2390140"/>
            <a:chOff x="10970" y="2940"/>
            <a:chExt cx="6157" cy="3764"/>
          </a:xfrm>
        </p:grpSpPr>
        <p:pic>
          <p:nvPicPr>
            <p:cNvPr id="59" name="图片 58"/>
            <p:cNvPicPr>
              <a:picLocks noChangeAspect="1"/>
            </p:cNvPicPr>
            <p:nvPr/>
          </p:nvPicPr>
          <p:blipFill>
            <a:blip r:embed="rId1"/>
            <a:stretch>
              <a:fillRect/>
            </a:stretch>
          </p:blipFill>
          <p:spPr>
            <a:xfrm>
              <a:off x="11623" y="2940"/>
              <a:ext cx="5504" cy="3765"/>
            </a:xfrm>
            <a:prstGeom prst="rect">
              <a:avLst/>
            </a:prstGeom>
          </p:spPr>
        </p:pic>
        <p:grpSp>
          <p:nvGrpSpPr>
            <p:cNvPr id="4" name="组合 3"/>
            <p:cNvGrpSpPr/>
            <p:nvPr/>
          </p:nvGrpSpPr>
          <p:grpSpPr>
            <a:xfrm>
              <a:off x="10970" y="2940"/>
              <a:ext cx="653" cy="3764"/>
              <a:chOff x="9297" y="2612"/>
              <a:chExt cx="680" cy="3920"/>
            </a:xfrm>
          </p:grpSpPr>
          <p:sp>
            <p:nvSpPr>
              <p:cNvPr id="6" name="同侧圆角矩形 5"/>
              <p:cNvSpPr/>
              <p:nvPr/>
            </p:nvSpPr>
            <p:spPr>
              <a:xfrm rot="5400000">
                <a:off x="7677" y="4232"/>
                <a:ext cx="3920" cy="680"/>
              </a:xfrm>
              <a:prstGeom prst="round2SameRect">
                <a:avLst>
                  <a:gd name="adj1" fmla="val 0"/>
                  <a:gd name="adj2" fmla="val 21597"/>
                </a:avLst>
              </a:prstGeom>
            </p:spPr>
            <p:style>
              <a:lnRef idx="0">
                <a:srgbClr val="FFFFFF"/>
              </a:lnRef>
              <a:fillRef idx="3">
                <a:schemeClr val="accent2"/>
              </a:fillRef>
              <a:effectRef idx="0">
                <a:srgbClr val="FFFFFF"/>
              </a:effectRef>
              <a:fontRef idx="minor">
                <a:schemeClr val="lt1"/>
              </a:fontRef>
            </p:style>
            <p:txBody>
              <a:bodyPr vert="mongolianVert" rtlCol="0" anchor="t"/>
              <a:lstStyle/>
              <a:p>
                <a:pPr marL="1270" indent="0" algn="just">
                  <a:buClr>
                    <a:schemeClr val="tx1"/>
                  </a:buClr>
                  <a:buSzPct val="80000"/>
                  <a:buFont typeface="Wingdings" panose="05000000000000000000" pitchFamily="2" charset="2"/>
                  <a:buNone/>
                </a:pPr>
                <a:endParaRPr lang="zh-CN" altLang="en-US" sz="1400" b="1"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8" name="文本框 7"/>
              <p:cNvSpPr txBox="1"/>
              <p:nvPr/>
            </p:nvSpPr>
            <p:spPr>
              <a:xfrm>
                <a:off x="9369" y="2886"/>
                <a:ext cx="536" cy="3372"/>
              </a:xfrm>
              <a:prstGeom prst="rect">
                <a:avLst/>
              </a:prstGeom>
              <a:noFill/>
            </p:spPr>
            <p:txBody>
              <a:bodyPr vert="mongolianVert" wrap="square" rtlCol="0" anchor="ctr" anchorCtr="0">
                <a:noAutofit/>
              </a:bodyPr>
              <a:lstStyle/>
              <a:p>
                <a:pPr algn="ctr"/>
                <a:r>
                  <a:rPr lang="zh-CN" altLang="en-US" sz="1400" b="1">
                    <a:solidFill>
                      <a:schemeClr val="bg1"/>
                    </a:solidFill>
                    <a:latin typeface="微软雅黑" panose="020B0503020204020204" charset="-122"/>
                    <a:ea typeface="微软雅黑" panose="020B0503020204020204" charset="-122"/>
                  </a:rPr>
                  <a:t>桌面软件</a:t>
                </a:r>
                <a:endParaRPr lang="zh-CN" altLang="en-US" sz="1400" b="1">
                  <a:solidFill>
                    <a:schemeClr val="bg1"/>
                  </a:solidFill>
                  <a:latin typeface="微软雅黑" panose="020B0503020204020204" charset="-122"/>
                  <a:ea typeface="微软雅黑" panose="020B0503020204020204" charset="-122"/>
                </a:endParaRPr>
              </a:p>
            </p:txBody>
          </p:sp>
        </p:grpSp>
      </p:grpSp>
      <p:grpSp>
        <p:nvGrpSpPr>
          <p:cNvPr id="9" name="组合 8"/>
          <p:cNvGrpSpPr/>
          <p:nvPr/>
        </p:nvGrpSpPr>
        <p:grpSpPr>
          <a:xfrm>
            <a:off x="7239635" y="4271645"/>
            <a:ext cx="3898265" cy="2390140"/>
            <a:chOff x="11039" y="6856"/>
            <a:chExt cx="6139" cy="3764"/>
          </a:xfrm>
        </p:grpSpPr>
        <p:grpSp>
          <p:nvGrpSpPr>
            <p:cNvPr id="10" name="组合 9"/>
            <p:cNvGrpSpPr/>
            <p:nvPr/>
          </p:nvGrpSpPr>
          <p:grpSpPr>
            <a:xfrm>
              <a:off x="11039" y="6856"/>
              <a:ext cx="652" cy="3764"/>
              <a:chOff x="6986" y="5739"/>
              <a:chExt cx="652" cy="3764"/>
            </a:xfrm>
          </p:grpSpPr>
          <p:sp>
            <p:nvSpPr>
              <p:cNvPr id="11" name="同侧圆角矩形 10"/>
              <p:cNvSpPr/>
              <p:nvPr/>
            </p:nvSpPr>
            <p:spPr>
              <a:xfrm rot="5400000">
                <a:off x="5430" y="7295"/>
                <a:ext cx="3764" cy="653"/>
              </a:xfrm>
              <a:prstGeom prst="round2SameRect">
                <a:avLst>
                  <a:gd name="adj1" fmla="val 0"/>
                  <a:gd name="adj2" fmla="val 21597"/>
                </a:avLst>
              </a:prstGeom>
            </p:spPr>
            <p:style>
              <a:lnRef idx="0">
                <a:srgbClr val="FFFFFF"/>
              </a:lnRef>
              <a:fillRef idx="3">
                <a:schemeClr val="accent1"/>
              </a:fillRef>
              <a:effectRef idx="0">
                <a:srgbClr val="FFFFFF"/>
              </a:effectRef>
              <a:fontRef idx="minor">
                <a:schemeClr val="lt1"/>
              </a:fontRef>
            </p:style>
            <p:txBody>
              <a:bodyPr vert="mongolianVert" rtlCol="0" anchor="t"/>
              <a:lstStyle/>
              <a:p>
                <a:pPr marL="1270" indent="0" algn="just">
                  <a:buClr>
                    <a:schemeClr val="tx1"/>
                  </a:buClr>
                  <a:buSzPct val="80000"/>
                  <a:buFont typeface="Wingdings" panose="05000000000000000000" pitchFamily="2" charset="2"/>
                  <a:buNone/>
                </a:pPr>
                <a:endParaRPr lang="zh-CN" altLang="en-US" sz="1400" b="1"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2" name="文本框 11"/>
              <p:cNvSpPr txBox="1"/>
              <p:nvPr/>
            </p:nvSpPr>
            <p:spPr>
              <a:xfrm>
                <a:off x="7055" y="6002"/>
                <a:ext cx="515" cy="3238"/>
              </a:xfrm>
              <a:prstGeom prst="rect">
                <a:avLst/>
              </a:prstGeom>
              <a:noFill/>
            </p:spPr>
            <p:txBody>
              <a:bodyPr vert="mongolianVert" wrap="square" rtlCol="0" anchor="ctr" anchorCtr="0">
                <a:noAutofit/>
              </a:bodyPr>
              <a:lstStyle/>
              <a:p>
                <a:pPr algn="ctr"/>
                <a:r>
                  <a:rPr lang="zh-CN" altLang="en-US" sz="1400" b="1">
                    <a:solidFill>
                      <a:schemeClr val="bg1"/>
                    </a:solidFill>
                    <a:latin typeface="微软雅黑" panose="020B0503020204020204" charset="-122"/>
                    <a:ea typeface="微软雅黑" panose="020B0503020204020204" charset="-122"/>
                  </a:rPr>
                  <a:t>工具集成平台</a:t>
                </a:r>
                <a:endParaRPr lang="zh-CN" altLang="en-US" sz="1400" b="1">
                  <a:solidFill>
                    <a:schemeClr val="bg1"/>
                  </a:solidFill>
                  <a:latin typeface="微软雅黑" panose="020B0503020204020204" charset="-122"/>
                  <a:ea typeface="微软雅黑" panose="020B0503020204020204" charset="-122"/>
                </a:endParaRPr>
              </a:p>
            </p:txBody>
          </p:sp>
        </p:grpSp>
        <p:pic>
          <p:nvPicPr>
            <p:cNvPr id="13" name="图片 12" descr="3-4"/>
            <p:cNvPicPr>
              <a:picLocks noChangeAspect="1"/>
            </p:cNvPicPr>
            <p:nvPr/>
          </p:nvPicPr>
          <p:blipFill>
            <a:blip r:embed="rId2"/>
            <a:srcRect r="17564"/>
            <a:stretch>
              <a:fillRect/>
            </a:stretch>
          </p:blipFill>
          <p:spPr>
            <a:xfrm>
              <a:off x="11692" y="6870"/>
              <a:ext cx="5486" cy="3743"/>
            </a:xfrm>
            <a:prstGeom prst="rect">
              <a:avLst/>
            </a:prstGeom>
          </p:spPr>
        </p:pic>
      </p:grpSp>
      <p:pic>
        <p:nvPicPr>
          <p:cNvPr id="14" name="图片 13" descr="3-1"/>
          <p:cNvPicPr>
            <a:picLocks noChangeAspect="1"/>
          </p:cNvPicPr>
          <p:nvPr/>
        </p:nvPicPr>
        <p:blipFill>
          <a:blip r:embed="rId3"/>
          <a:stretch>
            <a:fillRect/>
          </a:stretch>
        </p:blipFill>
        <p:spPr>
          <a:xfrm>
            <a:off x="1013460" y="1784985"/>
            <a:ext cx="2388870" cy="4878705"/>
          </a:xfrm>
          <a:prstGeom prst="rect">
            <a:avLst/>
          </a:prstGeom>
        </p:spPr>
      </p:pic>
      <p:grpSp>
        <p:nvGrpSpPr>
          <p:cNvPr id="77" name="组合 76"/>
          <p:cNvGrpSpPr/>
          <p:nvPr/>
        </p:nvGrpSpPr>
        <p:grpSpPr>
          <a:xfrm>
            <a:off x="3493770" y="4528185"/>
            <a:ext cx="3625850" cy="1877060"/>
            <a:chOff x="5327" y="7496"/>
            <a:chExt cx="5710" cy="2956"/>
          </a:xfrm>
        </p:grpSpPr>
        <p:sp>
          <p:nvSpPr>
            <p:cNvPr id="56" name="文本框 55"/>
            <p:cNvSpPr txBox="1"/>
            <p:nvPr/>
          </p:nvSpPr>
          <p:spPr>
            <a:xfrm>
              <a:off x="5355" y="7496"/>
              <a:ext cx="5654" cy="560"/>
            </a:xfrm>
            <a:prstGeom prst="rect">
              <a:avLst/>
            </a:prstGeom>
            <a:noFill/>
          </p:spPr>
          <p:txBody>
            <a:bodyPr wrap="square" rtlCol="0">
              <a:noAutofit/>
              <a:scene3d>
                <a:camera prst="orthographicFront"/>
                <a:lightRig rig="threePt" dir="t"/>
              </a:scene3d>
            </a:bodyPr>
            <a:lstStyle/>
            <a:p>
              <a:pPr algn="ctr"/>
              <a:r>
                <a:rPr lang="zh-CN" altLang="en-US" sz="14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统一接口标准</a:t>
              </a:r>
              <a:endParaRPr lang="zh-CN" altLang="en-US" sz="14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15" name="矩形 14"/>
            <p:cNvSpPr/>
            <p:nvPr/>
          </p:nvSpPr>
          <p:spPr>
            <a:xfrm>
              <a:off x="5327" y="9330"/>
              <a:ext cx="5711" cy="1123"/>
            </a:xfrm>
            <a:prstGeom prst="rect">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lIns="0" rIns="0" rtlCol="0" anchor="ctr" anchorCtr="0"/>
            <a:lstStyle/>
            <a:p>
              <a:pPr marL="1270" indent="0" algn="ctr">
                <a:buClr>
                  <a:schemeClr val="tx1"/>
                </a:buClr>
                <a:buSzPct val="80000"/>
                <a:buFont typeface="Wingdings" panose="05000000000000000000" pitchFamily="2" charset="2"/>
                <a:buNone/>
              </a:pPr>
              <a:r>
                <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rPr>
                <a:t>针对具有大量算法、模块，</a:t>
              </a:r>
              <a:endPar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ctr">
                <a:buClr>
                  <a:schemeClr val="tx1"/>
                </a:buClr>
                <a:buSzPct val="80000"/>
                <a:buFont typeface="Wingdings" panose="05000000000000000000" pitchFamily="2" charset="2"/>
                <a:buNone/>
              </a:pPr>
              <a:r>
                <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rPr>
                <a:t>统一持续集成、管理、应用需求</a:t>
              </a:r>
              <a:endPar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endParaRPr>
            </a:p>
          </p:txBody>
        </p:sp>
        <p:pic>
          <p:nvPicPr>
            <p:cNvPr id="16" name="图片 15" descr="3-2"/>
            <p:cNvPicPr>
              <a:picLocks noChangeAspect="1"/>
            </p:cNvPicPr>
            <p:nvPr/>
          </p:nvPicPr>
          <p:blipFill>
            <a:blip r:embed="rId4"/>
            <a:stretch>
              <a:fillRect/>
            </a:stretch>
          </p:blipFill>
          <p:spPr>
            <a:xfrm>
              <a:off x="6622" y="7778"/>
              <a:ext cx="3120" cy="1830"/>
            </a:xfrm>
            <a:prstGeom prst="rect">
              <a:avLst/>
            </a:prstGeom>
          </p:spPr>
        </p:pic>
      </p:grpSp>
      <p:grpSp>
        <p:nvGrpSpPr>
          <p:cNvPr id="76" name="组合 75"/>
          <p:cNvGrpSpPr/>
          <p:nvPr/>
        </p:nvGrpSpPr>
        <p:grpSpPr>
          <a:xfrm>
            <a:off x="3514725" y="2057718"/>
            <a:ext cx="3583940" cy="1844675"/>
            <a:chOff x="5360" y="3345"/>
            <a:chExt cx="5644" cy="2905"/>
          </a:xfrm>
        </p:grpSpPr>
        <p:sp>
          <p:nvSpPr>
            <p:cNvPr id="18" name="文本框 17"/>
            <p:cNvSpPr txBox="1"/>
            <p:nvPr/>
          </p:nvSpPr>
          <p:spPr>
            <a:xfrm>
              <a:off x="5361" y="5666"/>
              <a:ext cx="5642" cy="585"/>
            </a:xfrm>
            <a:prstGeom prst="rect">
              <a:avLst/>
            </a:prstGeom>
            <a:noFill/>
          </p:spPr>
          <p:txBody>
            <a:bodyPr wrap="square" rtlCol="0">
              <a:noAutofit/>
              <a:scene3d>
                <a:camera prst="orthographicFront"/>
                <a:lightRig rig="threePt" dir="t"/>
              </a:scene3d>
            </a:bodyPr>
            <a:lstStyle/>
            <a:p>
              <a:pPr algn="ctr"/>
              <a:r>
                <a:rPr lang="zh-CN" altLang="en-US" sz="14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组件注册</a:t>
              </a:r>
              <a:endParaRPr lang="zh-CN" altLang="en-US" sz="140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sp>
          <p:nvSpPr>
            <p:cNvPr id="36" name="矩形 35"/>
            <p:cNvSpPr/>
            <p:nvPr/>
          </p:nvSpPr>
          <p:spPr>
            <a:xfrm>
              <a:off x="5360" y="3345"/>
              <a:ext cx="5644" cy="1123"/>
            </a:xfrm>
            <a:prstGeom prst="rect">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rtlCol="0" anchor="ctr" anchorCtr="0"/>
            <a:lstStyle/>
            <a:p>
              <a:pPr marL="1270" indent="0" algn="ctr">
                <a:buClr>
                  <a:schemeClr val="tx1"/>
                </a:buClr>
                <a:buSzPct val="80000"/>
                <a:buFont typeface="Wingdings" panose="05000000000000000000" pitchFamily="2" charset="2"/>
                <a:buNone/>
              </a:pPr>
              <a:r>
                <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rPr>
                <a:t>针对具有自主核心算法</a:t>
              </a:r>
              <a:endPar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ctr">
                <a:buClr>
                  <a:schemeClr val="tx1"/>
                </a:buClr>
                <a:buSzPct val="80000"/>
                <a:buFont typeface="Wingdings" panose="05000000000000000000" pitchFamily="2" charset="2"/>
                <a:buNone/>
              </a:pPr>
              <a:r>
                <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rPr>
                <a:t>软件封装需求</a:t>
              </a:r>
              <a:endParaRPr lang="zh-CN" altLang="en-US" sz="1400" dirty="0">
                <a:solidFill>
                  <a:schemeClr val="tx1"/>
                </a:solidFill>
                <a:latin typeface="微软雅黑" panose="020B0503020204020204" charset="-122"/>
                <a:ea typeface="微软雅黑" panose="020B0503020204020204" charset="-122"/>
                <a:cs typeface="宋体" panose="02010600030101010101" pitchFamily="2" charset="-122"/>
              </a:endParaRPr>
            </a:p>
          </p:txBody>
        </p:sp>
        <p:pic>
          <p:nvPicPr>
            <p:cNvPr id="37" name="图片 36" descr="3-3"/>
            <p:cNvPicPr>
              <a:picLocks noChangeAspect="1"/>
            </p:cNvPicPr>
            <p:nvPr/>
          </p:nvPicPr>
          <p:blipFill>
            <a:blip r:embed="rId5"/>
            <a:stretch>
              <a:fillRect/>
            </a:stretch>
          </p:blipFill>
          <p:spPr>
            <a:xfrm>
              <a:off x="6622" y="4152"/>
              <a:ext cx="3120" cy="1830"/>
            </a:xfrm>
            <a:prstGeom prst="rect">
              <a:avLst/>
            </a:prstGeom>
          </p:spPr>
        </p:pic>
      </p:gr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393" y="6842094"/>
            <a:ext cx="12202786" cy="15906"/>
            <a:chOff x="0" y="6829262"/>
            <a:chExt cx="12202786" cy="15906"/>
          </a:xfrm>
        </p:grpSpPr>
        <p:cxnSp>
          <p:nvCxnSpPr>
            <p:cNvPr id="21"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54"/>
          <p:cNvGrpSpPr/>
          <p:nvPr/>
        </p:nvGrpSpPr>
        <p:grpSpPr>
          <a:xfrm>
            <a:off x="2400580" y="478732"/>
            <a:ext cx="8100000" cy="398780"/>
            <a:chOff x="3329659" y="684634"/>
            <a:chExt cx="6942353" cy="398780"/>
          </a:xfrm>
        </p:grpSpPr>
        <p:cxnSp>
          <p:nvCxnSpPr>
            <p:cNvPr id="16" name="直接连接符 15"/>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FastCAE</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生态版架构</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28" name="组合 27"/>
          <p:cNvGrpSpPr/>
          <p:nvPr/>
        </p:nvGrpSpPr>
        <p:grpSpPr>
          <a:xfrm>
            <a:off x="708025" y="1025525"/>
            <a:ext cx="10623550" cy="5502910"/>
            <a:chOff x="1069" y="1865"/>
            <a:chExt cx="16730" cy="8666"/>
          </a:xfrm>
        </p:grpSpPr>
        <p:sp>
          <p:nvSpPr>
            <p:cNvPr id="202" name="长方形"/>
            <p:cNvSpPr/>
            <p:nvPr/>
          </p:nvSpPr>
          <p:spPr>
            <a:xfrm>
              <a:off x="2555" y="3746"/>
              <a:ext cx="11993" cy="2579"/>
            </a:xfrm>
            <a:custGeom>
              <a:avLst/>
              <a:gdLst>
                <a:gd name="connsiteX0" fmla="*/ 0 w 9013600"/>
                <a:gd name="connsiteY0" fmla="*/ 969000 h 1938000"/>
                <a:gd name="connsiteX1" fmla="*/ 4506800 w 9013600"/>
                <a:gd name="connsiteY1" fmla="*/ 0 h 1938000"/>
                <a:gd name="connsiteX2" fmla="*/ 9013600 w 9013600"/>
                <a:gd name="connsiteY2" fmla="*/ 969000 h 1938000"/>
                <a:gd name="connsiteX3" fmla="*/ 4506800 w 9013600"/>
                <a:gd name="connsiteY3" fmla="*/ 1938000 h 1938000"/>
              </a:gdLst>
              <a:ahLst/>
              <a:cxnLst>
                <a:cxn ang="10800000">
                  <a:pos x="connsiteX0" y="connsiteY0"/>
                </a:cxn>
                <a:cxn ang="16200000">
                  <a:pos x="connsiteX1" y="connsiteY1"/>
                </a:cxn>
                <a:cxn ang="0">
                  <a:pos x="connsiteX2" y="connsiteY2"/>
                </a:cxn>
                <a:cxn ang="5400000">
                  <a:pos x="connsiteX3" y="connsiteY3"/>
                </a:cxn>
              </a:cxnLst>
              <a:rect l="l" t="t" r="r" b="b"/>
              <a:pathLst>
                <a:path w="9013600" h="1938000" stroke="0">
                  <a:moveTo>
                    <a:pt x="9013600" y="1938000"/>
                  </a:moveTo>
                  <a:lnTo>
                    <a:pt x="9013600" y="0"/>
                  </a:lnTo>
                  <a:lnTo>
                    <a:pt x="0" y="0"/>
                  </a:lnTo>
                  <a:lnTo>
                    <a:pt x="0" y="1938000"/>
                  </a:lnTo>
                  <a:lnTo>
                    <a:pt x="9013600" y="1938000"/>
                  </a:lnTo>
                  <a:close/>
                </a:path>
                <a:path w="9013600" h="1938000" fill="none">
                  <a:moveTo>
                    <a:pt x="9013600" y="1938000"/>
                  </a:moveTo>
                  <a:lnTo>
                    <a:pt x="9013600" y="0"/>
                  </a:lnTo>
                  <a:lnTo>
                    <a:pt x="0" y="0"/>
                  </a:lnTo>
                  <a:lnTo>
                    <a:pt x="0" y="1938000"/>
                  </a:lnTo>
                  <a:lnTo>
                    <a:pt x="9013600" y="1938000"/>
                  </a:lnTo>
                  <a:close/>
                </a:path>
              </a:pathLst>
            </a:custGeom>
            <a:solidFill>
              <a:srgbClr val="FFFFFF"/>
            </a:solidFill>
            <a:ln w="20267" cap="flat">
              <a:solidFill>
                <a:srgbClr val="315ABB"/>
              </a:solidFill>
              <a:custDash>
                <a:ds d="1100000" sp="500000"/>
              </a:custDash>
              <a:miter/>
            </a:ln>
          </p:spPr>
          <p:txBody>
            <a:bodyPr wrap="square" lIns="38100" tIns="38100" rIns="38100" bIns="38100" rtlCol="0" anchor="t"/>
            <a:p>
              <a:pPr algn="ctr"/>
              <a:r>
                <a:rPr lang="zh-CN" altLang="en-US" sz="910" b="1" dirty="0">
                  <a:solidFill>
                    <a:srgbClr val="303030"/>
                  </a:solidFill>
                  <a:latin typeface="微软雅黑" panose="020B0503020204020204" charset="-122"/>
                  <a:ea typeface="微软雅黑" panose="020B0503020204020204" charset="-122"/>
                  <a:cs typeface="微软雅黑" panose="020B0503020204020204" charset="-122"/>
                </a:rPr>
                <a:t>标准化组件</a:t>
              </a:r>
              <a:endParaRPr lang="zh-CN" altLang="en-US" sz="910" b="1" dirty="0">
                <a:solidFill>
                  <a:srgbClr val="303030"/>
                </a:solidFill>
                <a:latin typeface="微软雅黑" panose="020B0503020204020204" charset="-122"/>
                <a:ea typeface="微软雅黑" panose="020B0503020204020204" charset="-122"/>
                <a:cs typeface="微软雅黑" panose="020B0503020204020204" charset="-122"/>
              </a:endParaRPr>
            </a:p>
          </p:txBody>
        </p:sp>
        <p:sp>
          <p:nvSpPr>
            <p:cNvPr id="101" name="长方形"/>
            <p:cNvSpPr/>
            <p:nvPr/>
          </p:nvSpPr>
          <p:spPr>
            <a:xfrm>
              <a:off x="2555" y="9955"/>
              <a:ext cx="12135" cy="576"/>
            </a:xfrm>
            <a:custGeom>
              <a:avLst/>
              <a:gdLst>
                <a:gd name="connsiteX0" fmla="*/ 0 w 9120000"/>
                <a:gd name="connsiteY0" fmla="*/ 216600 h 433200"/>
                <a:gd name="connsiteX1" fmla="*/ 4560000 w 9120000"/>
                <a:gd name="connsiteY1" fmla="*/ 0 h 433200"/>
                <a:gd name="connsiteX2" fmla="*/ 9120000 w 9120000"/>
                <a:gd name="connsiteY2" fmla="*/ 216600 h 433200"/>
                <a:gd name="connsiteX3" fmla="*/ 4560000 w 9120000"/>
                <a:gd name="connsiteY3" fmla="*/ 433200 h 433200"/>
              </a:gdLst>
              <a:ahLst/>
              <a:cxnLst>
                <a:cxn ang="10800000">
                  <a:pos x="connsiteX0" y="connsiteY0"/>
                </a:cxn>
                <a:cxn ang="16200000">
                  <a:pos x="connsiteX1" y="connsiteY1"/>
                </a:cxn>
                <a:cxn ang="0">
                  <a:pos x="connsiteX2" y="connsiteY2"/>
                </a:cxn>
                <a:cxn ang="5400000">
                  <a:pos x="connsiteX3" y="connsiteY3"/>
                </a:cxn>
              </a:cxnLst>
              <a:rect l="l" t="t" r="r" b="b"/>
              <a:pathLst>
                <a:path w="9120000" h="433200" stroke="0">
                  <a:moveTo>
                    <a:pt x="9120000" y="433200"/>
                  </a:moveTo>
                  <a:lnTo>
                    <a:pt x="9120000" y="0"/>
                  </a:lnTo>
                  <a:lnTo>
                    <a:pt x="0" y="0"/>
                  </a:lnTo>
                  <a:lnTo>
                    <a:pt x="0" y="433200"/>
                  </a:lnTo>
                  <a:lnTo>
                    <a:pt x="9120000" y="433200"/>
                  </a:lnTo>
                  <a:close/>
                </a:path>
                <a:path w="9120000" h="433200" fill="none">
                  <a:moveTo>
                    <a:pt x="9120000" y="433200"/>
                  </a:moveTo>
                  <a:lnTo>
                    <a:pt x="9120000" y="0"/>
                  </a:lnTo>
                  <a:lnTo>
                    <a:pt x="0" y="0"/>
                  </a:lnTo>
                  <a:lnTo>
                    <a:pt x="0" y="433200"/>
                  </a:lnTo>
                  <a:lnTo>
                    <a:pt x="9120000" y="433200"/>
                  </a:lnTo>
                  <a:close/>
                </a:path>
              </a:pathLst>
            </a:custGeom>
          </p:spPr>
          <p:style>
            <a:lnRef idx="0">
              <a:srgbClr val="FFFFFF"/>
            </a:lnRef>
            <a:fillRef idx="1">
              <a:schemeClr val="accent5"/>
            </a:fillRef>
            <a:effectRef idx="1">
              <a:schemeClr val="accent5"/>
            </a:effectRef>
            <a:fontRef idx="minor">
              <a:schemeClr val="lt1"/>
            </a:fontRef>
          </p:style>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数据管理，文件IO，多线程/多进程</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3" name="圆角矩形"/>
            <p:cNvSpPr/>
            <p:nvPr/>
          </p:nvSpPr>
          <p:spPr>
            <a:xfrm>
              <a:off x="2698" y="8541"/>
              <a:ext cx="1618" cy="1262"/>
            </a:xfrm>
            <a:custGeom>
              <a:avLst/>
              <a:gdLst>
                <a:gd name="connsiteX0" fmla="*/ 608000 w 1216000"/>
                <a:gd name="connsiteY0" fmla="*/ 889200 h 889200"/>
                <a:gd name="connsiteX1" fmla="*/ 608000 w 1216000"/>
                <a:gd name="connsiteY1" fmla="*/ 0 h 889200"/>
                <a:gd name="connsiteX2" fmla="*/ 1216000 w 1216000"/>
                <a:gd name="connsiteY2" fmla="*/ 444600 h 889200"/>
                <a:gd name="connsiteX3" fmla="*/ 0 w 1216000"/>
                <a:gd name="connsiteY3" fmla="*/ 444600 h 889200"/>
                <a:gd name="connsiteX4" fmla="*/ 608000 w 12160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216000" h="889200" stroke="0">
                  <a:moveTo>
                    <a:pt x="1124800" y="889200"/>
                  </a:moveTo>
                  <a:cubicBezTo>
                    <a:pt x="1175173" y="889200"/>
                    <a:pt x="1216000" y="848373"/>
                    <a:pt x="1216000" y="798000"/>
                  </a:cubicBezTo>
                  <a:lnTo>
                    <a:pt x="1216000" y="91200"/>
                  </a:lnTo>
                  <a:cubicBezTo>
                    <a:pt x="1216000" y="40830"/>
                    <a:pt x="1175173" y="0"/>
                    <a:pt x="1124800" y="0"/>
                  </a:cubicBezTo>
                  <a:lnTo>
                    <a:pt x="91200" y="0"/>
                  </a:lnTo>
                  <a:cubicBezTo>
                    <a:pt x="40830" y="0"/>
                    <a:pt x="0" y="40830"/>
                    <a:pt x="0" y="91200"/>
                  </a:cubicBezTo>
                  <a:lnTo>
                    <a:pt x="0" y="798000"/>
                  </a:lnTo>
                  <a:cubicBezTo>
                    <a:pt x="0" y="848373"/>
                    <a:pt x="40830" y="889200"/>
                    <a:pt x="91200" y="889200"/>
                  </a:cubicBezTo>
                  <a:lnTo>
                    <a:pt x="1124800" y="889200"/>
                  </a:lnTo>
                  <a:close/>
                </a:path>
                <a:path w="1216000" h="889200" fill="none">
                  <a:moveTo>
                    <a:pt x="1124800" y="889200"/>
                  </a:moveTo>
                  <a:cubicBezTo>
                    <a:pt x="1175173" y="889200"/>
                    <a:pt x="1216000" y="848373"/>
                    <a:pt x="1216000" y="798000"/>
                  </a:cubicBezTo>
                  <a:lnTo>
                    <a:pt x="1216000" y="91200"/>
                  </a:lnTo>
                  <a:cubicBezTo>
                    <a:pt x="1216000" y="40830"/>
                    <a:pt x="1175173" y="0"/>
                    <a:pt x="1124800" y="0"/>
                  </a:cubicBezTo>
                  <a:lnTo>
                    <a:pt x="91200" y="0"/>
                  </a:lnTo>
                  <a:cubicBezTo>
                    <a:pt x="40830" y="0"/>
                    <a:pt x="0" y="40830"/>
                    <a:pt x="0" y="91200"/>
                  </a:cubicBezTo>
                  <a:lnTo>
                    <a:pt x="0" y="798000"/>
                  </a:lnTo>
                  <a:cubicBezTo>
                    <a:pt x="0" y="848373"/>
                    <a:pt x="40830" y="889200"/>
                    <a:pt x="91200" y="889200"/>
                  </a:cubicBezTo>
                  <a:lnTo>
                    <a:pt x="1124800" y="889200"/>
                  </a:lnTo>
                  <a:close/>
                </a:path>
              </a:pathLst>
            </a:custGeom>
            <a:solidFill>
              <a:srgbClr val="88B0F5"/>
            </a:solidFill>
            <a:ln w="7600" cap="flat">
              <a:solidFill>
                <a:srgbClr val="101843"/>
              </a:solidFill>
              <a:miter/>
            </a:ln>
          </p:spPr>
          <p:txBody>
            <a:bodyPr wrap="square" lIns="76200" tIns="38100" rIns="76200" bIns="0" rtlCol="0" anchor="b"/>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几何引擎</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4" name="长方形"/>
            <p:cNvSpPr/>
            <p:nvPr/>
          </p:nvSpPr>
          <p:spPr>
            <a:xfrm>
              <a:off x="2911" y="8678"/>
              <a:ext cx="1213" cy="359"/>
            </a:xfrm>
            <a:custGeom>
              <a:avLst/>
              <a:gdLst>
                <a:gd name="connsiteX0" fmla="*/ 0 w 912000"/>
                <a:gd name="connsiteY0" fmla="*/ 134900 h 269800"/>
                <a:gd name="connsiteX1" fmla="*/ 456000 w 912000"/>
                <a:gd name="connsiteY1" fmla="*/ 0 h 269800"/>
                <a:gd name="connsiteX2" fmla="*/ 912000 w 912000"/>
                <a:gd name="connsiteY2" fmla="*/ 134900 h 269800"/>
                <a:gd name="connsiteX3" fmla="*/ 456000 w 9120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912000" h="269800" stroke="0">
                  <a:moveTo>
                    <a:pt x="912000" y="269800"/>
                  </a:moveTo>
                  <a:lnTo>
                    <a:pt x="912000" y="0"/>
                  </a:lnTo>
                  <a:lnTo>
                    <a:pt x="0" y="0"/>
                  </a:lnTo>
                  <a:lnTo>
                    <a:pt x="0" y="269800"/>
                  </a:lnTo>
                  <a:lnTo>
                    <a:pt x="912000" y="269800"/>
                  </a:lnTo>
                  <a:close/>
                </a:path>
                <a:path w="912000" h="269800" fill="none">
                  <a:moveTo>
                    <a:pt x="912000" y="269800"/>
                  </a:moveTo>
                  <a:lnTo>
                    <a:pt x="912000" y="0"/>
                  </a:lnTo>
                  <a:lnTo>
                    <a:pt x="0" y="0"/>
                  </a:lnTo>
                  <a:lnTo>
                    <a:pt x="0" y="269800"/>
                  </a:lnTo>
                  <a:lnTo>
                    <a:pt x="9120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OpenCASCADE</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5" name="长方形"/>
            <p:cNvSpPr/>
            <p:nvPr/>
          </p:nvSpPr>
          <p:spPr>
            <a:xfrm>
              <a:off x="2911" y="9108"/>
              <a:ext cx="1213" cy="359"/>
            </a:xfrm>
            <a:custGeom>
              <a:avLst/>
              <a:gdLst>
                <a:gd name="connsiteX0" fmla="*/ 0 w 912000"/>
                <a:gd name="connsiteY0" fmla="*/ 134900 h 269800"/>
                <a:gd name="connsiteX1" fmla="*/ 456000 w 912000"/>
                <a:gd name="connsiteY1" fmla="*/ 0 h 269800"/>
                <a:gd name="connsiteX2" fmla="*/ 912000 w 912000"/>
                <a:gd name="connsiteY2" fmla="*/ 134900 h 269800"/>
                <a:gd name="connsiteX3" fmla="*/ 456000 w 9120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912000" h="269800" stroke="0">
                  <a:moveTo>
                    <a:pt x="912000" y="269800"/>
                  </a:moveTo>
                  <a:lnTo>
                    <a:pt x="912000" y="0"/>
                  </a:lnTo>
                  <a:lnTo>
                    <a:pt x="0" y="0"/>
                  </a:lnTo>
                  <a:lnTo>
                    <a:pt x="0" y="269800"/>
                  </a:lnTo>
                  <a:lnTo>
                    <a:pt x="912000" y="269800"/>
                  </a:lnTo>
                  <a:close/>
                </a:path>
                <a:path w="912000" h="269800" fill="none">
                  <a:moveTo>
                    <a:pt x="912000" y="269800"/>
                  </a:moveTo>
                  <a:lnTo>
                    <a:pt x="912000" y="0"/>
                  </a:lnTo>
                  <a:lnTo>
                    <a:pt x="0" y="0"/>
                  </a:lnTo>
                  <a:lnTo>
                    <a:pt x="0" y="269800"/>
                  </a:lnTo>
                  <a:lnTo>
                    <a:pt x="9120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ParaSolid</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6" name="圆角矩形"/>
            <p:cNvSpPr/>
            <p:nvPr/>
          </p:nvSpPr>
          <p:spPr>
            <a:xfrm>
              <a:off x="4448" y="8541"/>
              <a:ext cx="2285" cy="1262"/>
            </a:xfrm>
            <a:custGeom>
              <a:avLst/>
              <a:gdLst>
                <a:gd name="connsiteX0" fmla="*/ 858800 w 1717600"/>
                <a:gd name="connsiteY0" fmla="*/ 889200 h 889200"/>
                <a:gd name="connsiteX1" fmla="*/ 858800 w 1717600"/>
                <a:gd name="connsiteY1" fmla="*/ 0 h 889200"/>
                <a:gd name="connsiteX2" fmla="*/ 1717600 w 1717600"/>
                <a:gd name="connsiteY2" fmla="*/ 444600 h 889200"/>
                <a:gd name="connsiteX3" fmla="*/ 0 w 1717600"/>
                <a:gd name="connsiteY3" fmla="*/ 444600 h 889200"/>
                <a:gd name="connsiteX4" fmla="*/ 858800 w 17176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717600" h="889200" stroke="0">
                  <a:moveTo>
                    <a:pt x="1626400" y="889200"/>
                  </a:moveTo>
                  <a:cubicBezTo>
                    <a:pt x="1676773" y="889200"/>
                    <a:pt x="1717600" y="848373"/>
                    <a:pt x="1717600" y="798000"/>
                  </a:cubicBezTo>
                  <a:lnTo>
                    <a:pt x="1717600" y="91200"/>
                  </a:lnTo>
                  <a:cubicBezTo>
                    <a:pt x="1717600" y="40830"/>
                    <a:pt x="1676773" y="0"/>
                    <a:pt x="1626400" y="0"/>
                  </a:cubicBezTo>
                  <a:lnTo>
                    <a:pt x="91200" y="0"/>
                  </a:lnTo>
                  <a:cubicBezTo>
                    <a:pt x="40830" y="0"/>
                    <a:pt x="0" y="40830"/>
                    <a:pt x="0" y="91200"/>
                  </a:cubicBezTo>
                  <a:lnTo>
                    <a:pt x="0" y="798000"/>
                  </a:lnTo>
                  <a:cubicBezTo>
                    <a:pt x="0" y="848373"/>
                    <a:pt x="40830" y="889200"/>
                    <a:pt x="91200" y="889200"/>
                  </a:cubicBezTo>
                  <a:lnTo>
                    <a:pt x="1626400" y="889200"/>
                  </a:lnTo>
                  <a:close/>
                </a:path>
                <a:path w="1717600" h="889200" fill="none">
                  <a:moveTo>
                    <a:pt x="1626400" y="889200"/>
                  </a:moveTo>
                  <a:cubicBezTo>
                    <a:pt x="1676773" y="889200"/>
                    <a:pt x="1717600" y="848373"/>
                    <a:pt x="1717600" y="798000"/>
                  </a:cubicBezTo>
                  <a:lnTo>
                    <a:pt x="1717600" y="91200"/>
                  </a:lnTo>
                  <a:cubicBezTo>
                    <a:pt x="1717600" y="40830"/>
                    <a:pt x="1676773" y="0"/>
                    <a:pt x="1626400" y="0"/>
                  </a:cubicBezTo>
                  <a:lnTo>
                    <a:pt x="91200" y="0"/>
                  </a:lnTo>
                  <a:cubicBezTo>
                    <a:pt x="40830" y="0"/>
                    <a:pt x="0" y="40830"/>
                    <a:pt x="0" y="91200"/>
                  </a:cubicBezTo>
                  <a:lnTo>
                    <a:pt x="0" y="798000"/>
                  </a:lnTo>
                  <a:cubicBezTo>
                    <a:pt x="0" y="848373"/>
                    <a:pt x="40830" y="889200"/>
                    <a:pt x="91200" y="889200"/>
                  </a:cubicBezTo>
                  <a:lnTo>
                    <a:pt x="1626400" y="889200"/>
                  </a:lnTo>
                  <a:close/>
                </a:path>
              </a:pathLst>
            </a:custGeom>
            <a:solidFill>
              <a:srgbClr val="88B0F5"/>
            </a:solidFill>
            <a:ln w="7600" cap="flat">
              <a:solidFill>
                <a:srgbClr val="101843"/>
              </a:solidFill>
              <a:miter/>
            </a:ln>
          </p:spPr>
          <p:txBody>
            <a:bodyPr wrap="square" lIns="76200" tIns="38100" rIns="76200" bIns="0" rtlCol="0" anchor="b"/>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网格划分算法/引擎</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7" name="长方形"/>
            <p:cNvSpPr/>
            <p:nvPr/>
          </p:nvSpPr>
          <p:spPr>
            <a:xfrm>
              <a:off x="4539" y="8678"/>
              <a:ext cx="1092" cy="359"/>
            </a:xfrm>
            <a:custGeom>
              <a:avLst/>
              <a:gdLst>
                <a:gd name="connsiteX0" fmla="*/ 0 w 820800"/>
                <a:gd name="connsiteY0" fmla="*/ 134900 h 269800"/>
                <a:gd name="connsiteX1" fmla="*/ 410400 w 820800"/>
                <a:gd name="connsiteY1" fmla="*/ 0 h 269800"/>
                <a:gd name="connsiteX2" fmla="*/ 820800 w 820800"/>
                <a:gd name="connsiteY2" fmla="*/ 134900 h 269800"/>
                <a:gd name="connsiteX3" fmla="*/ 410400 w 8208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20800" h="269800" stroke="0">
                  <a:moveTo>
                    <a:pt x="820800" y="269800"/>
                  </a:moveTo>
                  <a:lnTo>
                    <a:pt x="820800" y="0"/>
                  </a:lnTo>
                  <a:lnTo>
                    <a:pt x="0" y="0"/>
                  </a:lnTo>
                  <a:lnTo>
                    <a:pt x="0" y="269800"/>
                  </a:lnTo>
                  <a:lnTo>
                    <a:pt x="820800" y="269800"/>
                  </a:lnTo>
                  <a:close/>
                </a:path>
                <a:path w="820800" h="269800" fill="none">
                  <a:moveTo>
                    <a:pt x="820800" y="269800"/>
                  </a:moveTo>
                  <a:lnTo>
                    <a:pt x="820800" y="0"/>
                  </a:lnTo>
                  <a:lnTo>
                    <a:pt x="0" y="0"/>
                  </a:lnTo>
                  <a:lnTo>
                    <a:pt x="0" y="269800"/>
                  </a:lnTo>
                  <a:lnTo>
                    <a:pt x="8208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Delaunay方法</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8" name="长方形"/>
            <p:cNvSpPr/>
            <p:nvPr/>
          </p:nvSpPr>
          <p:spPr>
            <a:xfrm>
              <a:off x="5773" y="8678"/>
              <a:ext cx="769" cy="359"/>
            </a:xfrm>
            <a:custGeom>
              <a:avLst/>
              <a:gdLst>
                <a:gd name="connsiteX0" fmla="*/ 0 w 577600"/>
                <a:gd name="connsiteY0" fmla="*/ 134900 h 269800"/>
                <a:gd name="connsiteX1" fmla="*/ 288800 w 577600"/>
                <a:gd name="connsiteY1" fmla="*/ 0 h 269800"/>
                <a:gd name="connsiteX2" fmla="*/ 577600 w 577600"/>
                <a:gd name="connsiteY2" fmla="*/ 134900 h 269800"/>
                <a:gd name="connsiteX3" fmla="*/ 288800 w 5776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577600" h="269800" stroke="0">
                  <a:moveTo>
                    <a:pt x="577600" y="269800"/>
                  </a:moveTo>
                  <a:lnTo>
                    <a:pt x="577600" y="0"/>
                  </a:lnTo>
                  <a:lnTo>
                    <a:pt x="0" y="0"/>
                  </a:lnTo>
                  <a:lnTo>
                    <a:pt x="0" y="269800"/>
                  </a:lnTo>
                  <a:lnTo>
                    <a:pt x="577600" y="269800"/>
                  </a:lnTo>
                  <a:close/>
                </a:path>
                <a:path w="577600" h="269800" fill="none">
                  <a:moveTo>
                    <a:pt x="577600" y="269800"/>
                  </a:moveTo>
                  <a:lnTo>
                    <a:pt x="577600" y="0"/>
                  </a:lnTo>
                  <a:lnTo>
                    <a:pt x="0" y="0"/>
                  </a:lnTo>
                  <a:lnTo>
                    <a:pt x="0" y="269800"/>
                  </a:lnTo>
                  <a:lnTo>
                    <a:pt x="5776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AFT方法</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09" name="长方形"/>
            <p:cNvSpPr/>
            <p:nvPr/>
          </p:nvSpPr>
          <p:spPr>
            <a:xfrm>
              <a:off x="4539" y="9108"/>
              <a:ext cx="1092" cy="359"/>
            </a:xfrm>
            <a:custGeom>
              <a:avLst/>
              <a:gdLst>
                <a:gd name="connsiteX0" fmla="*/ 0 w 820800"/>
                <a:gd name="connsiteY0" fmla="*/ 134900 h 269800"/>
                <a:gd name="connsiteX1" fmla="*/ 410400 w 820800"/>
                <a:gd name="connsiteY1" fmla="*/ 0 h 269800"/>
                <a:gd name="connsiteX2" fmla="*/ 820800 w 820800"/>
                <a:gd name="connsiteY2" fmla="*/ 134900 h 269800"/>
                <a:gd name="connsiteX3" fmla="*/ 410400 w 8208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20800" h="269800" stroke="0">
                  <a:moveTo>
                    <a:pt x="820800" y="269800"/>
                  </a:moveTo>
                  <a:lnTo>
                    <a:pt x="820800" y="0"/>
                  </a:lnTo>
                  <a:lnTo>
                    <a:pt x="0" y="0"/>
                  </a:lnTo>
                  <a:lnTo>
                    <a:pt x="0" y="269800"/>
                  </a:lnTo>
                  <a:lnTo>
                    <a:pt x="820800" y="269800"/>
                  </a:lnTo>
                  <a:close/>
                </a:path>
                <a:path w="820800" h="269800" fill="none">
                  <a:moveTo>
                    <a:pt x="820800" y="269800"/>
                  </a:moveTo>
                  <a:lnTo>
                    <a:pt x="820800" y="0"/>
                  </a:lnTo>
                  <a:lnTo>
                    <a:pt x="0" y="0"/>
                  </a:lnTo>
                  <a:lnTo>
                    <a:pt x="0" y="269800"/>
                  </a:lnTo>
                  <a:lnTo>
                    <a:pt x="8208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质量评价算法</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0" name="长方形"/>
            <p:cNvSpPr/>
            <p:nvPr/>
          </p:nvSpPr>
          <p:spPr>
            <a:xfrm>
              <a:off x="5773" y="9108"/>
              <a:ext cx="769" cy="359"/>
            </a:xfrm>
            <a:custGeom>
              <a:avLst/>
              <a:gdLst>
                <a:gd name="connsiteX0" fmla="*/ 0 w 577600"/>
                <a:gd name="connsiteY0" fmla="*/ 134900 h 269800"/>
                <a:gd name="connsiteX1" fmla="*/ 288800 w 577600"/>
                <a:gd name="connsiteY1" fmla="*/ 0 h 269800"/>
                <a:gd name="connsiteX2" fmla="*/ 577600 w 577600"/>
                <a:gd name="connsiteY2" fmla="*/ 134900 h 269800"/>
                <a:gd name="connsiteX3" fmla="*/ 288800 w 5776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577600" h="269800" stroke="0">
                  <a:moveTo>
                    <a:pt x="577600" y="269800"/>
                  </a:moveTo>
                  <a:lnTo>
                    <a:pt x="577600" y="0"/>
                  </a:lnTo>
                  <a:lnTo>
                    <a:pt x="0" y="0"/>
                  </a:lnTo>
                  <a:lnTo>
                    <a:pt x="0" y="269800"/>
                  </a:lnTo>
                  <a:lnTo>
                    <a:pt x="577600" y="269800"/>
                  </a:lnTo>
                  <a:close/>
                </a:path>
                <a:path w="577600" h="269800" fill="none">
                  <a:moveTo>
                    <a:pt x="577600" y="269800"/>
                  </a:moveTo>
                  <a:lnTo>
                    <a:pt x="577600" y="0"/>
                  </a:lnTo>
                  <a:lnTo>
                    <a:pt x="0" y="0"/>
                  </a:lnTo>
                  <a:lnTo>
                    <a:pt x="0" y="269800"/>
                  </a:lnTo>
                  <a:lnTo>
                    <a:pt x="5776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网格优化</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1" name="圆角矩形"/>
            <p:cNvSpPr/>
            <p:nvPr/>
          </p:nvSpPr>
          <p:spPr>
            <a:xfrm>
              <a:off x="6844" y="8541"/>
              <a:ext cx="2285" cy="1262"/>
            </a:xfrm>
            <a:custGeom>
              <a:avLst/>
              <a:gdLst>
                <a:gd name="connsiteX0" fmla="*/ 858800 w 1717600"/>
                <a:gd name="connsiteY0" fmla="*/ 889200 h 889200"/>
                <a:gd name="connsiteX1" fmla="*/ 858800 w 1717600"/>
                <a:gd name="connsiteY1" fmla="*/ 0 h 889200"/>
                <a:gd name="connsiteX2" fmla="*/ 1717600 w 1717600"/>
                <a:gd name="connsiteY2" fmla="*/ 444600 h 889200"/>
                <a:gd name="connsiteX3" fmla="*/ 0 w 1717600"/>
                <a:gd name="connsiteY3" fmla="*/ 444600 h 889200"/>
                <a:gd name="connsiteX4" fmla="*/ 858800 w 17176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717600" h="889200" stroke="0">
                  <a:moveTo>
                    <a:pt x="1626400" y="889200"/>
                  </a:moveTo>
                  <a:cubicBezTo>
                    <a:pt x="1676773" y="889200"/>
                    <a:pt x="1717600" y="848373"/>
                    <a:pt x="1717600" y="798000"/>
                  </a:cubicBezTo>
                  <a:lnTo>
                    <a:pt x="1717600" y="91200"/>
                  </a:lnTo>
                  <a:cubicBezTo>
                    <a:pt x="1717600" y="40830"/>
                    <a:pt x="1676773" y="0"/>
                    <a:pt x="1626400" y="0"/>
                  </a:cubicBezTo>
                  <a:lnTo>
                    <a:pt x="91200" y="0"/>
                  </a:lnTo>
                  <a:cubicBezTo>
                    <a:pt x="40830" y="0"/>
                    <a:pt x="0" y="40830"/>
                    <a:pt x="0" y="91200"/>
                  </a:cubicBezTo>
                  <a:lnTo>
                    <a:pt x="0" y="798000"/>
                  </a:lnTo>
                  <a:cubicBezTo>
                    <a:pt x="0" y="848373"/>
                    <a:pt x="40830" y="889200"/>
                    <a:pt x="91200" y="889200"/>
                  </a:cubicBezTo>
                  <a:lnTo>
                    <a:pt x="1626400" y="889200"/>
                  </a:lnTo>
                  <a:close/>
                </a:path>
                <a:path w="1717600" h="889200" fill="none">
                  <a:moveTo>
                    <a:pt x="1626400" y="889200"/>
                  </a:moveTo>
                  <a:cubicBezTo>
                    <a:pt x="1676773" y="889200"/>
                    <a:pt x="1717600" y="848373"/>
                    <a:pt x="1717600" y="798000"/>
                  </a:cubicBezTo>
                  <a:lnTo>
                    <a:pt x="1717600" y="91200"/>
                  </a:lnTo>
                  <a:cubicBezTo>
                    <a:pt x="1717600" y="40830"/>
                    <a:pt x="1676773" y="0"/>
                    <a:pt x="1626400" y="0"/>
                  </a:cubicBezTo>
                  <a:lnTo>
                    <a:pt x="91200" y="0"/>
                  </a:lnTo>
                  <a:cubicBezTo>
                    <a:pt x="40830" y="0"/>
                    <a:pt x="0" y="40830"/>
                    <a:pt x="0" y="91200"/>
                  </a:cubicBezTo>
                  <a:lnTo>
                    <a:pt x="0" y="798000"/>
                  </a:lnTo>
                  <a:cubicBezTo>
                    <a:pt x="0" y="848373"/>
                    <a:pt x="40830" y="889200"/>
                    <a:pt x="91200" y="889200"/>
                  </a:cubicBezTo>
                  <a:lnTo>
                    <a:pt x="1626400" y="889200"/>
                  </a:lnTo>
                  <a:close/>
                </a:path>
              </a:pathLst>
            </a:custGeom>
            <a:solidFill>
              <a:srgbClr val="88B0F5"/>
            </a:solidFill>
            <a:ln w="7600" cap="flat">
              <a:solidFill>
                <a:srgbClr val="101843"/>
              </a:solidFill>
              <a:miter/>
            </a:ln>
          </p:spPr>
          <p:txBody>
            <a:bodyPr wrap="square" lIns="76200" tIns="38100" rIns="76200" bIns="0" rtlCol="0" anchor="b"/>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可视化工具</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2" name="长方形"/>
            <p:cNvSpPr/>
            <p:nvPr/>
          </p:nvSpPr>
          <p:spPr>
            <a:xfrm>
              <a:off x="6966" y="8678"/>
              <a:ext cx="930" cy="359"/>
            </a:xfrm>
            <a:custGeom>
              <a:avLst/>
              <a:gdLst>
                <a:gd name="connsiteX0" fmla="*/ 0 w 699200"/>
                <a:gd name="connsiteY0" fmla="*/ 134900 h 269800"/>
                <a:gd name="connsiteX1" fmla="*/ 349600 w 699200"/>
                <a:gd name="connsiteY1" fmla="*/ 0 h 269800"/>
                <a:gd name="connsiteX2" fmla="*/ 699200 w 699200"/>
                <a:gd name="connsiteY2" fmla="*/ 134900 h 269800"/>
                <a:gd name="connsiteX3" fmla="*/ 349600 w 699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699200" h="269800" stroke="0">
                  <a:moveTo>
                    <a:pt x="699200" y="269800"/>
                  </a:moveTo>
                  <a:lnTo>
                    <a:pt x="699200" y="0"/>
                  </a:lnTo>
                  <a:lnTo>
                    <a:pt x="0" y="0"/>
                  </a:lnTo>
                  <a:lnTo>
                    <a:pt x="0" y="269800"/>
                  </a:lnTo>
                  <a:lnTo>
                    <a:pt x="699200" y="269800"/>
                  </a:lnTo>
                  <a:close/>
                </a:path>
                <a:path w="699200" h="269800" fill="none">
                  <a:moveTo>
                    <a:pt x="699200" y="269800"/>
                  </a:moveTo>
                  <a:lnTo>
                    <a:pt x="699200" y="0"/>
                  </a:lnTo>
                  <a:lnTo>
                    <a:pt x="0" y="0"/>
                  </a:lnTo>
                  <a:lnTo>
                    <a:pt x="0" y="269800"/>
                  </a:lnTo>
                  <a:lnTo>
                    <a:pt x="6992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OpenGL</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3" name="长方形"/>
            <p:cNvSpPr/>
            <p:nvPr/>
          </p:nvSpPr>
          <p:spPr>
            <a:xfrm>
              <a:off x="8028" y="8678"/>
              <a:ext cx="930" cy="359"/>
            </a:xfrm>
            <a:custGeom>
              <a:avLst/>
              <a:gdLst>
                <a:gd name="connsiteX0" fmla="*/ 0 w 699200"/>
                <a:gd name="connsiteY0" fmla="*/ 134900 h 269800"/>
                <a:gd name="connsiteX1" fmla="*/ 349600 w 699200"/>
                <a:gd name="connsiteY1" fmla="*/ 0 h 269800"/>
                <a:gd name="connsiteX2" fmla="*/ 699200 w 699200"/>
                <a:gd name="connsiteY2" fmla="*/ 134900 h 269800"/>
                <a:gd name="connsiteX3" fmla="*/ 349600 w 699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699200" h="269800" stroke="0">
                  <a:moveTo>
                    <a:pt x="699200" y="269800"/>
                  </a:moveTo>
                  <a:lnTo>
                    <a:pt x="699200" y="0"/>
                  </a:lnTo>
                  <a:lnTo>
                    <a:pt x="0" y="0"/>
                  </a:lnTo>
                  <a:lnTo>
                    <a:pt x="0" y="269800"/>
                  </a:lnTo>
                  <a:lnTo>
                    <a:pt x="699200" y="269800"/>
                  </a:lnTo>
                  <a:close/>
                </a:path>
                <a:path w="699200" h="269800" fill="none">
                  <a:moveTo>
                    <a:pt x="699200" y="269800"/>
                  </a:moveTo>
                  <a:lnTo>
                    <a:pt x="699200" y="0"/>
                  </a:lnTo>
                  <a:lnTo>
                    <a:pt x="0" y="0"/>
                  </a:lnTo>
                  <a:lnTo>
                    <a:pt x="0" y="269800"/>
                  </a:lnTo>
                  <a:lnTo>
                    <a:pt x="6992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VTK</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4" name="长方形"/>
            <p:cNvSpPr/>
            <p:nvPr/>
          </p:nvSpPr>
          <p:spPr>
            <a:xfrm>
              <a:off x="6966" y="9108"/>
              <a:ext cx="930" cy="359"/>
            </a:xfrm>
            <a:custGeom>
              <a:avLst/>
              <a:gdLst>
                <a:gd name="connsiteX0" fmla="*/ 0 w 699200"/>
                <a:gd name="connsiteY0" fmla="*/ 134900 h 269800"/>
                <a:gd name="connsiteX1" fmla="*/ 349600 w 699200"/>
                <a:gd name="connsiteY1" fmla="*/ 0 h 269800"/>
                <a:gd name="connsiteX2" fmla="*/ 699200 w 699200"/>
                <a:gd name="connsiteY2" fmla="*/ 134900 h 269800"/>
                <a:gd name="connsiteX3" fmla="*/ 349600 w 699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699200" h="269800" stroke="0">
                  <a:moveTo>
                    <a:pt x="699200" y="269800"/>
                  </a:moveTo>
                  <a:lnTo>
                    <a:pt x="699200" y="0"/>
                  </a:lnTo>
                  <a:lnTo>
                    <a:pt x="0" y="0"/>
                  </a:lnTo>
                  <a:lnTo>
                    <a:pt x="0" y="269800"/>
                  </a:lnTo>
                  <a:lnTo>
                    <a:pt x="699200" y="269800"/>
                  </a:lnTo>
                  <a:close/>
                </a:path>
                <a:path w="699200" h="269800" fill="none">
                  <a:moveTo>
                    <a:pt x="699200" y="269800"/>
                  </a:moveTo>
                  <a:lnTo>
                    <a:pt x="699200" y="0"/>
                  </a:lnTo>
                  <a:lnTo>
                    <a:pt x="0" y="0"/>
                  </a:lnTo>
                  <a:lnTo>
                    <a:pt x="0" y="269800"/>
                  </a:lnTo>
                  <a:lnTo>
                    <a:pt x="6992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Qt</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5" name="长方形"/>
            <p:cNvSpPr/>
            <p:nvPr/>
          </p:nvSpPr>
          <p:spPr>
            <a:xfrm>
              <a:off x="8028" y="9108"/>
              <a:ext cx="930" cy="359"/>
            </a:xfrm>
            <a:custGeom>
              <a:avLst/>
              <a:gdLst>
                <a:gd name="connsiteX0" fmla="*/ 0 w 699200"/>
                <a:gd name="connsiteY0" fmla="*/ 134900 h 269800"/>
                <a:gd name="connsiteX1" fmla="*/ 349600 w 699200"/>
                <a:gd name="connsiteY1" fmla="*/ 0 h 269800"/>
                <a:gd name="connsiteX2" fmla="*/ 699200 w 699200"/>
                <a:gd name="connsiteY2" fmla="*/ 134900 h 269800"/>
                <a:gd name="connsiteX3" fmla="*/ 349600 w 699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699200" h="269800" stroke="0">
                  <a:moveTo>
                    <a:pt x="699200" y="269800"/>
                  </a:moveTo>
                  <a:lnTo>
                    <a:pt x="699200" y="0"/>
                  </a:lnTo>
                  <a:lnTo>
                    <a:pt x="0" y="0"/>
                  </a:lnTo>
                  <a:lnTo>
                    <a:pt x="0" y="269800"/>
                  </a:lnTo>
                  <a:lnTo>
                    <a:pt x="699200" y="269800"/>
                  </a:lnTo>
                  <a:close/>
                </a:path>
                <a:path w="699200" h="269800" fill="none">
                  <a:moveTo>
                    <a:pt x="699200" y="269800"/>
                  </a:moveTo>
                  <a:lnTo>
                    <a:pt x="699200" y="0"/>
                  </a:lnTo>
                  <a:lnTo>
                    <a:pt x="0" y="0"/>
                  </a:lnTo>
                  <a:lnTo>
                    <a:pt x="0" y="269800"/>
                  </a:lnTo>
                  <a:lnTo>
                    <a:pt x="699200"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QWT</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6" name="圆角矩形"/>
            <p:cNvSpPr/>
            <p:nvPr/>
          </p:nvSpPr>
          <p:spPr>
            <a:xfrm>
              <a:off x="9324" y="8541"/>
              <a:ext cx="2464" cy="1262"/>
            </a:xfrm>
            <a:custGeom>
              <a:avLst/>
              <a:gdLst>
                <a:gd name="connsiteX0" fmla="*/ 925824 w 1851649"/>
                <a:gd name="connsiteY0" fmla="*/ 889200 h 889200"/>
                <a:gd name="connsiteX1" fmla="*/ 925824 w 1851649"/>
                <a:gd name="connsiteY1" fmla="*/ 0 h 889200"/>
                <a:gd name="connsiteX2" fmla="*/ 1851649 w 1851649"/>
                <a:gd name="connsiteY2" fmla="*/ 444600 h 889200"/>
                <a:gd name="connsiteX3" fmla="*/ 0 w 1851649"/>
                <a:gd name="connsiteY3" fmla="*/ 444600 h 889200"/>
                <a:gd name="connsiteX4" fmla="*/ 925824 w 1851649"/>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851649" h="889200" stroke="0">
                  <a:moveTo>
                    <a:pt x="1760449" y="889200"/>
                  </a:moveTo>
                  <a:cubicBezTo>
                    <a:pt x="1810814" y="889200"/>
                    <a:pt x="1851649" y="848373"/>
                    <a:pt x="1851649" y="798000"/>
                  </a:cubicBezTo>
                  <a:lnTo>
                    <a:pt x="1851649" y="91200"/>
                  </a:lnTo>
                  <a:cubicBezTo>
                    <a:pt x="1851649" y="40830"/>
                    <a:pt x="1810814" y="0"/>
                    <a:pt x="1760449" y="0"/>
                  </a:cubicBezTo>
                  <a:lnTo>
                    <a:pt x="91200" y="0"/>
                  </a:lnTo>
                  <a:cubicBezTo>
                    <a:pt x="40830" y="0"/>
                    <a:pt x="0" y="40830"/>
                    <a:pt x="0" y="91200"/>
                  </a:cubicBezTo>
                  <a:lnTo>
                    <a:pt x="0" y="798000"/>
                  </a:lnTo>
                  <a:cubicBezTo>
                    <a:pt x="0" y="848373"/>
                    <a:pt x="40830" y="889200"/>
                    <a:pt x="91200" y="889200"/>
                  </a:cubicBezTo>
                  <a:lnTo>
                    <a:pt x="1760449" y="889200"/>
                  </a:lnTo>
                  <a:close/>
                </a:path>
                <a:path w="1851649" h="889200" fill="none">
                  <a:moveTo>
                    <a:pt x="1760449" y="889200"/>
                  </a:moveTo>
                  <a:cubicBezTo>
                    <a:pt x="1810814" y="889200"/>
                    <a:pt x="1851649" y="848373"/>
                    <a:pt x="1851649" y="798000"/>
                  </a:cubicBezTo>
                  <a:lnTo>
                    <a:pt x="1851649" y="91200"/>
                  </a:lnTo>
                  <a:cubicBezTo>
                    <a:pt x="1851649" y="40830"/>
                    <a:pt x="1810814" y="0"/>
                    <a:pt x="1760449" y="0"/>
                  </a:cubicBezTo>
                  <a:lnTo>
                    <a:pt x="91200" y="0"/>
                  </a:lnTo>
                  <a:cubicBezTo>
                    <a:pt x="40830" y="0"/>
                    <a:pt x="0" y="40830"/>
                    <a:pt x="0" y="91200"/>
                  </a:cubicBezTo>
                  <a:lnTo>
                    <a:pt x="0" y="798000"/>
                  </a:lnTo>
                  <a:cubicBezTo>
                    <a:pt x="0" y="848373"/>
                    <a:pt x="40830" y="889200"/>
                    <a:pt x="91200" y="889200"/>
                  </a:cubicBezTo>
                  <a:lnTo>
                    <a:pt x="1760449" y="889200"/>
                  </a:lnTo>
                  <a:close/>
                </a:path>
              </a:pathLst>
            </a:custGeom>
            <a:solidFill>
              <a:srgbClr val="88B0F5"/>
            </a:solidFill>
            <a:ln w="7600" cap="flat">
              <a:solidFill>
                <a:srgbClr val="101843"/>
              </a:solidFill>
              <a:miter/>
            </a:ln>
          </p:spPr>
          <p:txBody>
            <a:bodyPr wrap="square" lIns="76200" tIns="38100" rIns="76200" bIns="0" rtlCol="0" anchor="b"/>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数值计算</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7" name="长方形"/>
            <p:cNvSpPr/>
            <p:nvPr/>
          </p:nvSpPr>
          <p:spPr>
            <a:xfrm>
              <a:off x="9450" y="867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直接求解</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8" name="长方形"/>
            <p:cNvSpPr/>
            <p:nvPr/>
          </p:nvSpPr>
          <p:spPr>
            <a:xfrm>
              <a:off x="9450" y="910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迭代求解</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19" name="长方形"/>
            <p:cNvSpPr/>
            <p:nvPr/>
          </p:nvSpPr>
          <p:spPr>
            <a:xfrm>
              <a:off x="10653" y="867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非线性</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0" name="长方形"/>
            <p:cNvSpPr/>
            <p:nvPr/>
          </p:nvSpPr>
          <p:spPr>
            <a:xfrm>
              <a:off x="10653" y="910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特征值求解</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3" name="长方形"/>
            <p:cNvSpPr/>
            <p:nvPr/>
          </p:nvSpPr>
          <p:spPr>
            <a:xfrm>
              <a:off x="2555" y="6618"/>
              <a:ext cx="12135" cy="1820"/>
            </a:xfrm>
            <a:custGeom>
              <a:avLst/>
              <a:gdLst>
                <a:gd name="connsiteX0" fmla="*/ 0 w 9120000"/>
                <a:gd name="connsiteY0" fmla="*/ 684000 h 1368000"/>
                <a:gd name="connsiteX1" fmla="*/ 4560000 w 9120000"/>
                <a:gd name="connsiteY1" fmla="*/ 0 h 1368000"/>
                <a:gd name="connsiteX2" fmla="*/ 9120000 w 9120000"/>
                <a:gd name="connsiteY2" fmla="*/ 684000 h 1368000"/>
                <a:gd name="connsiteX3" fmla="*/ 4560000 w 9120000"/>
                <a:gd name="connsiteY3" fmla="*/ 1368000 h 1368000"/>
              </a:gdLst>
              <a:ahLst/>
              <a:cxnLst>
                <a:cxn ang="10800000">
                  <a:pos x="connsiteX0" y="connsiteY0"/>
                </a:cxn>
                <a:cxn ang="16200000">
                  <a:pos x="connsiteX1" y="connsiteY1"/>
                </a:cxn>
                <a:cxn ang="0">
                  <a:pos x="connsiteX2" y="connsiteY2"/>
                </a:cxn>
                <a:cxn ang="5400000">
                  <a:pos x="connsiteX3" y="connsiteY3"/>
                </a:cxn>
              </a:cxnLst>
              <a:rect l="l" t="t" r="r" b="b"/>
              <a:pathLst>
                <a:path w="9120000" h="1368000" stroke="0">
                  <a:moveTo>
                    <a:pt x="9120000" y="1368000"/>
                  </a:moveTo>
                  <a:lnTo>
                    <a:pt x="9120000" y="0"/>
                  </a:lnTo>
                  <a:lnTo>
                    <a:pt x="0" y="0"/>
                  </a:lnTo>
                  <a:lnTo>
                    <a:pt x="0" y="1368000"/>
                  </a:lnTo>
                  <a:lnTo>
                    <a:pt x="9120000" y="1368000"/>
                  </a:lnTo>
                  <a:close/>
                </a:path>
                <a:path w="9120000" h="1368000" fill="none">
                  <a:moveTo>
                    <a:pt x="9120000" y="1368000"/>
                  </a:moveTo>
                  <a:lnTo>
                    <a:pt x="9120000" y="0"/>
                  </a:lnTo>
                  <a:lnTo>
                    <a:pt x="0" y="0"/>
                  </a:lnTo>
                  <a:lnTo>
                    <a:pt x="0" y="1368000"/>
                  </a:lnTo>
                  <a:lnTo>
                    <a:pt x="9120000" y="1368000"/>
                  </a:lnTo>
                  <a:close/>
                </a:path>
              </a:pathLst>
            </a:custGeom>
            <a:solidFill>
              <a:schemeClr val="accent2">
                <a:lumMod val="20000"/>
                <a:lumOff val="80000"/>
              </a:schemeClr>
            </a:solidFill>
            <a:ln w="7600" cap="flat">
              <a:noFill/>
              <a:miter/>
            </a:ln>
          </p:spPr>
          <p:txBody>
            <a:bodyPr wrap="square" lIns="38100" tIns="38100" rIns="38100" bIns="38100" rtlCol="0" anchor="t"/>
            <a:p>
              <a:pPr algn="ctr"/>
              <a:r>
                <a:rPr lang="zh-CN" altLang="en-US" sz="910" b="1" dirty="0">
                  <a:solidFill>
                    <a:schemeClr val="tx1"/>
                  </a:solidFill>
                  <a:latin typeface="微软雅黑" panose="020B0503020204020204" charset="-122"/>
                  <a:ea typeface="微软雅黑" panose="020B0503020204020204" charset="-122"/>
                  <a:cs typeface="微软雅黑" panose="020B0503020204020204" charset="-122"/>
                </a:rPr>
                <a:t>标准化接口</a:t>
              </a:r>
              <a:endParaRPr lang="zh-CN" altLang="en-US" sz="91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5" name="圆角矩形"/>
            <p:cNvSpPr/>
            <p:nvPr/>
          </p:nvSpPr>
          <p:spPr>
            <a:xfrm>
              <a:off x="2910" y="6997"/>
              <a:ext cx="2528" cy="1183"/>
            </a:xfrm>
            <a:custGeom>
              <a:avLst/>
              <a:gdLst>
                <a:gd name="connsiteX0" fmla="*/ 950000 w 1900000"/>
                <a:gd name="connsiteY0" fmla="*/ 889200 h 889200"/>
                <a:gd name="connsiteX1" fmla="*/ 950000 w 1900000"/>
                <a:gd name="connsiteY1" fmla="*/ 0 h 889200"/>
                <a:gd name="connsiteX2" fmla="*/ 1900000 w 1900000"/>
                <a:gd name="connsiteY2" fmla="*/ 444600 h 889200"/>
                <a:gd name="connsiteX3" fmla="*/ 0 w 1900000"/>
                <a:gd name="connsiteY3" fmla="*/ 444600 h 889200"/>
                <a:gd name="connsiteX4" fmla="*/ 950000 w 19000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900000" h="889200" stroke="0">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 w="1900000" h="889200" fill="none">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Lst>
            </a:custGeom>
            <a:solidFill>
              <a:srgbClr val="83EBDC"/>
            </a:solidFill>
            <a:ln w="7600" cap="flat">
              <a:solidFill>
                <a:srgbClr val="101843"/>
              </a:solidFill>
              <a:miter/>
            </a:ln>
          </p:spPr>
          <p:txBody>
            <a:bodyPr wrap="square" lIns="76200" tIns="38100" rIns="76200" bIns="0" rtlCol="0" anchor="b" anchorCtr="0"/>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通用几何功能</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6" name="长方形"/>
            <p:cNvSpPr/>
            <p:nvPr/>
          </p:nvSpPr>
          <p:spPr>
            <a:xfrm>
              <a:off x="3113" y="7108"/>
              <a:ext cx="981" cy="359"/>
            </a:xfrm>
            <a:custGeom>
              <a:avLst/>
              <a:gdLst>
                <a:gd name="connsiteX0" fmla="*/ 0 w 737200"/>
                <a:gd name="connsiteY0" fmla="*/ 134900 h 269800"/>
                <a:gd name="connsiteX1" fmla="*/ 368600 w 737200"/>
                <a:gd name="connsiteY1" fmla="*/ 0 h 269800"/>
                <a:gd name="connsiteX2" fmla="*/ 737200 w 737200"/>
                <a:gd name="connsiteY2" fmla="*/ 134900 h 269800"/>
                <a:gd name="connsiteX3" fmla="*/ 368600 w 737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37200" h="269800" stroke="0">
                  <a:moveTo>
                    <a:pt x="737200" y="269800"/>
                  </a:moveTo>
                  <a:lnTo>
                    <a:pt x="737200" y="0"/>
                  </a:lnTo>
                  <a:lnTo>
                    <a:pt x="0" y="0"/>
                  </a:lnTo>
                  <a:lnTo>
                    <a:pt x="0" y="269800"/>
                  </a:lnTo>
                  <a:lnTo>
                    <a:pt x="737200" y="269800"/>
                  </a:lnTo>
                  <a:close/>
                </a:path>
                <a:path w="737200" h="269800" fill="none">
                  <a:moveTo>
                    <a:pt x="737200" y="269800"/>
                  </a:moveTo>
                  <a:lnTo>
                    <a:pt x="737200" y="0"/>
                  </a:lnTo>
                  <a:lnTo>
                    <a:pt x="0" y="0"/>
                  </a:lnTo>
                  <a:lnTo>
                    <a:pt x="0" y="269800"/>
                  </a:lnTo>
                  <a:lnTo>
                    <a:pt x="737200"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三维几何建模</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7" name="长方形"/>
            <p:cNvSpPr/>
            <p:nvPr/>
          </p:nvSpPr>
          <p:spPr>
            <a:xfrm>
              <a:off x="4271" y="7108"/>
              <a:ext cx="981" cy="359"/>
            </a:xfrm>
            <a:custGeom>
              <a:avLst/>
              <a:gdLst>
                <a:gd name="connsiteX0" fmla="*/ 0 w 737200"/>
                <a:gd name="connsiteY0" fmla="*/ 134900 h 269800"/>
                <a:gd name="connsiteX1" fmla="*/ 368600 w 737200"/>
                <a:gd name="connsiteY1" fmla="*/ 0 h 269800"/>
                <a:gd name="connsiteX2" fmla="*/ 737200 w 737200"/>
                <a:gd name="connsiteY2" fmla="*/ 134900 h 269800"/>
                <a:gd name="connsiteX3" fmla="*/ 368600 w 737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37200" h="269800" stroke="0">
                  <a:moveTo>
                    <a:pt x="737200" y="269800"/>
                  </a:moveTo>
                  <a:lnTo>
                    <a:pt x="737200" y="0"/>
                  </a:lnTo>
                  <a:lnTo>
                    <a:pt x="0" y="0"/>
                  </a:lnTo>
                  <a:lnTo>
                    <a:pt x="0" y="269800"/>
                  </a:lnTo>
                  <a:lnTo>
                    <a:pt x="737200" y="269800"/>
                  </a:lnTo>
                  <a:close/>
                </a:path>
                <a:path w="737200" h="269800" fill="none">
                  <a:moveTo>
                    <a:pt x="737200" y="269800"/>
                  </a:moveTo>
                  <a:lnTo>
                    <a:pt x="737200" y="0"/>
                  </a:lnTo>
                  <a:lnTo>
                    <a:pt x="0" y="0"/>
                  </a:lnTo>
                  <a:lnTo>
                    <a:pt x="0" y="269800"/>
                  </a:lnTo>
                  <a:lnTo>
                    <a:pt x="737200"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几何模型导入</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8" name="长方形"/>
            <p:cNvSpPr/>
            <p:nvPr/>
          </p:nvSpPr>
          <p:spPr>
            <a:xfrm>
              <a:off x="3113" y="7544"/>
              <a:ext cx="981" cy="359"/>
            </a:xfrm>
            <a:custGeom>
              <a:avLst/>
              <a:gdLst>
                <a:gd name="connsiteX0" fmla="*/ 0 w 737200"/>
                <a:gd name="connsiteY0" fmla="*/ 134900 h 269800"/>
                <a:gd name="connsiteX1" fmla="*/ 368600 w 737200"/>
                <a:gd name="connsiteY1" fmla="*/ 0 h 269800"/>
                <a:gd name="connsiteX2" fmla="*/ 737200 w 737200"/>
                <a:gd name="connsiteY2" fmla="*/ 134900 h 269800"/>
                <a:gd name="connsiteX3" fmla="*/ 368600 w 737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37200" h="269800" stroke="0">
                  <a:moveTo>
                    <a:pt x="737200" y="269800"/>
                  </a:moveTo>
                  <a:lnTo>
                    <a:pt x="737200" y="0"/>
                  </a:lnTo>
                  <a:lnTo>
                    <a:pt x="0" y="0"/>
                  </a:lnTo>
                  <a:lnTo>
                    <a:pt x="0" y="269800"/>
                  </a:lnTo>
                  <a:lnTo>
                    <a:pt x="737200" y="269800"/>
                  </a:lnTo>
                  <a:close/>
                </a:path>
                <a:path w="737200" h="269800" fill="none">
                  <a:moveTo>
                    <a:pt x="737200" y="269800"/>
                  </a:moveTo>
                  <a:lnTo>
                    <a:pt x="737200" y="0"/>
                  </a:lnTo>
                  <a:lnTo>
                    <a:pt x="0" y="0"/>
                  </a:lnTo>
                  <a:lnTo>
                    <a:pt x="0" y="269800"/>
                  </a:lnTo>
                  <a:lnTo>
                    <a:pt x="737200"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抽壳/抽中面</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29" name="长方形"/>
            <p:cNvSpPr/>
            <p:nvPr/>
          </p:nvSpPr>
          <p:spPr>
            <a:xfrm>
              <a:off x="4271" y="7544"/>
              <a:ext cx="981" cy="359"/>
            </a:xfrm>
            <a:custGeom>
              <a:avLst/>
              <a:gdLst>
                <a:gd name="connsiteX0" fmla="*/ 0 w 737200"/>
                <a:gd name="connsiteY0" fmla="*/ 134900 h 269800"/>
                <a:gd name="connsiteX1" fmla="*/ 368600 w 737200"/>
                <a:gd name="connsiteY1" fmla="*/ 0 h 269800"/>
                <a:gd name="connsiteX2" fmla="*/ 737200 w 737200"/>
                <a:gd name="connsiteY2" fmla="*/ 134900 h 269800"/>
                <a:gd name="connsiteX3" fmla="*/ 368600 w 737200"/>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37200" h="269800" stroke="0">
                  <a:moveTo>
                    <a:pt x="737200" y="269800"/>
                  </a:moveTo>
                  <a:lnTo>
                    <a:pt x="737200" y="0"/>
                  </a:lnTo>
                  <a:lnTo>
                    <a:pt x="0" y="0"/>
                  </a:lnTo>
                  <a:lnTo>
                    <a:pt x="0" y="269800"/>
                  </a:lnTo>
                  <a:lnTo>
                    <a:pt x="737200" y="269800"/>
                  </a:lnTo>
                  <a:close/>
                </a:path>
                <a:path w="737200" h="269800" fill="none">
                  <a:moveTo>
                    <a:pt x="737200" y="269800"/>
                  </a:moveTo>
                  <a:lnTo>
                    <a:pt x="737200" y="0"/>
                  </a:lnTo>
                  <a:lnTo>
                    <a:pt x="0" y="0"/>
                  </a:lnTo>
                  <a:lnTo>
                    <a:pt x="0" y="269800"/>
                  </a:lnTo>
                  <a:lnTo>
                    <a:pt x="737200"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几何分割</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0" name="圆角矩形"/>
            <p:cNvSpPr/>
            <p:nvPr/>
          </p:nvSpPr>
          <p:spPr>
            <a:xfrm>
              <a:off x="5934" y="6997"/>
              <a:ext cx="2528" cy="1183"/>
            </a:xfrm>
            <a:custGeom>
              <a:avLst/>
              <a:gdLst>
                <a:gd name="connsiteX0" fmla="*/ 950000 w 1900000"/>
                <a:gd name="connsiteY0" fmla="*/ 889200 h 889200"/>
                <a:gd name="connsiteX1" fmla="*/ 950000 w 1900000"/>
                <a:gd name="connsiteY1" fmla="*/ 0 h 889200"/>
                <a:gd name="connsiteX2" fmla="*/ 1900000 w 1900000"/>
                <a:gd name="connsiteY2" fmla="*/ 444600 h 889200"/>
                <a:gd name="connsiteX3" fmla="*/ 0 w 1900000"/>
                <a:gd name="connsiteY3" fmla="*/ 444600 h 889200"/>
                <a:gd name="connsiteX4" fmla="*/ 950000 w 19000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900000" h="889200" stroke="0">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 w="1900000" h="889200" fill="none">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Lst>
            </a:custGeom>
            <a:solidFill>
              <a:srgbClr val="83EBDC"/>
            </a:solidFill>
            <a:ln w="7600" cap="flat">
              <a:solidFill>
                <a:srgbClr val="101843"/>
              </a:solidFill>
              <a:miter/>
            </a:ln>
          </p:spPr>
          <p:txBody>
            <a:bodyPr wrap="square" lIns="76200" tIns="38100" rIns="76200" bIns="0" rtlCol="0" anchor="b" anchorCtr="0"/>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网格划分功能</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1" name="长方形"/>
            <p:cNvSpPr/>
            <p:nvPr/>
          </p:nvSpPr>
          <p:spPr>
            <a:xfrm>
              <a:off x="6043" y="754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四面体网格剖分</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2" name="长方形"/>
            <p:cNvSpPr/>
            <p:nvPr/>
          </p:nvSpPr>
          <p:spPr>
            <a:xfrm>
              <a:off x="6030" y="710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三角形网格剖分</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3" name="长方形"/>
            <p:cNvSpPr/>
            <p:nvPr/>
          </p:nvSpPr>
          <p:spPr>
            <a:xfrm>
              <a:off x="7246" y="754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混合网格剖分</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4" name="长方形"/>
            <p:cNvSpPr/>
            <p:nvPr/>
          </p:nvSpPr>
          <p:spPr>
            <a:xfrm>
              <a:off x="7233" y="710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四边形网格剖分</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5" name="圆角矩形"/>
            <p:cNvSpPr/>
            <p:nvPr/>
          </p:nvSpPr>
          <p:spPr>
            <a:xfrm>
              <a:off x="9079" y="6987"/>
              <a:ext cx="2528" cy="1183"/>
            </a:xfrm>
            <a:custGeom>
              <a:avLst/>
              <a:gdLst>
                <a:gd name="connsiteX0" fmla="*/ 950000 w 1900000"/>
                <a:gd name="connsiteY0" fmla="*/ 889200 h 889200"/>
                <a:gd name="connsiteX1" fmla="*/ 950000 w 1900000"/>
                <a:gd name="connsiteY1" fmla="*/ 0 h 889200"/>
                <a:gd name="connsiteX2" fmla="*/ 1900000 w 1900000"/>
                <a:gd name="connsiteY2" fmla="*/ 444600 h 889200"/>
                <a:gd name="connsiteX3" fmla="*/ 0 w 1900000"/>
                <a:gd name="connsiteY3" fmla="*/ 444600 h 889200"/>
                <a:gd name="connsiteX4" fmla="*/ 950000 w 19000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900000" h="889200" stroke="0">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 w="1900000" h="889200" fill="none">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Lst>
            </a:custGeom>
            <a:solidFill>
              <a:srgbClr val="83EBDC"/>
            </a:solidFill>
            <a:ln w="7600" cap="flat">
              <a:solidFill>
                <a:srgbClr val="101843"/>
              </a:solidFill>
              <a:miter/>
            </a:ln>
          </p:spPr>
          <p:txBody>
            <a:bodyPr wrap="square" lIns="76200" tIns="38100" rIns="76200" bIns="0" rtlCol="0" anchor="b" anchorCtr="0"/>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通用可视化与交互</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6" name="长方形"/>
            <p:cNvSpPr/>
            <p:nvPr/>
          </p:nvSpPr>
          <p:spPr>
            <a:xfrm>
              <a:off x="9186" y="753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数据模型管理</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7" name="长方形"/>
            <p:cNvSpPr/>
            <p:nvPr/>
          </p:nvSpPr>
          <p:spPr>
            <a:xfrm>
              <a:off x="9173" y="709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模型可视化交互</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8" name="长方形"/>
            <p:cNvSpPr/>
            <p:nvPr/>
          </p:nvSpPr>
          <p:spPr>
            <a:xfrm>
              <a:off x="10389" y="753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脚本驱动</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39" name="长方形"/>
            <p:cNvSpPr/>
            <p:nvPr/>
          </p:nvSpPr>
          <p:spPr>
            <a:xfrm>
              <a:off x="10376" y="709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通用参数设定</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2" name="圆角矩形"/>
            <p:cNvSpPr/>
            <p:nvPr/>
          </p:nvSpPr>
          <p:spPr>
            <a:xfrm>
              <a:off x="11818" y="6997"/>
              <a:ext cx="2528" cy="1183"/>
            </a:xfrm>
            <a:custGeom>
              <a:avLst/>
              <a:gdLst>
                <a:gd name="connsiteX0" fmla="*/ 950000 w 1900000"/>
                <a:gd name="connsiteY0" fmla="*/ 889200 h 889200"/>
                <a:gd name="connsiteX1" fmla="*/ 950000 w 1900000"/>
                <a:gd name="connsiteY1" fmla="*/ 0 h 889200"/>
                <a:gd name="connsiteX2" fmla="*/ 1900000 w 1900000"/>
                <a:gd name="connsiteY2" fmla="*/ 444600 h 889200"/>
                <a:gd name="connsiteX3" fmla="*/ 0 w 1900000"/>
                <a:gd name="connsiteY3" fmla="*/ 444600 h 889200"/>
                <a:gd name="connsiteX4" fmla="*/ 950000 w 1900000"/>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900000" h="889200" stroke="0">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 w="1900000" h="889200" fill="none">
                  <a:moveTo>
                    <a:pt x="1808800" y="889200"/>
                  </a:moveTo>
                  <a:cubicBezTo>
                    <a:pt x="1859173" y="889200"/>
                    <a:pt x="1900000" y="848373"/>
                    <a:pt x="1900000" y="798000"/>
                  </a:cubicBezTo>
                  <a:lnTo>
                    <a:pt x="1900000" y="91200"/>
                  </a:lnTo>
                  <a:cubicBezTo>
                    <a:pt x="1900000" y="40830"/>
                    <a:pt x="1859173" y="0"/>
                    <a:pt x="1808800" y="0"/>
                  </a:cubicBezTo>
                  <a:lnTo>
                    <a:pt x="91200" y="0"/>
                  </a:lnTo>
                  <a:cubicBezTo>
                    <a:pt x="40830" y="0"/>
                    <a:pt x="0" y="40830"/>
                    <a:pt x="0" y="91200"/>
                  </a:cubicBezTo>
                  <a:lnTo>
                    <a:pt x="0" y="798000"/>
                  </a:lnTo>
                  <a:cubicBezTo>
                    <a:pt x="0" y="848373"/>
                    <a:pt x="40830" y="889200"/>
                    <a:pt x="91200" y="889200"/>
                  </a:cubicBezTo>
                  <a:lnTo>
                    <a:pt x="1808800" y="889200"/>
                  </a:lnTo>
                  <a:close/>
                </a:path>
              </a:pathLst>
            </a:custGeom>
            <a:solidFill>
              <a:srgbClr val="83EBDC"/>
            </a:solidFill>
            <a:ln w="7600" cap="flat">
              <a:solidFill>
                <a:srgbClr val="101843"/>
              </a:solidFill>
              <a:miter/>
            </a:ln>
          </p:spPr>
          <p:txBody>
            <a:bodyPr wrap="square" lIns="76200" tIns="38100" rIns="76200" bIns="0" rtlCol="0" anchor="b" anchorCtr="0"/>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结构力学分析</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3" name="长方形"/>
            <p:cNvSpPr/>
            <p:nvPr/>
          </p:nvSpPr>
          <p:spPr>
            <a:xfrm>
              <a:off x="11925" y="754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刚度阵</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4" name="长方形"/>
            <p:cNvSpPr/>
            <p:nvPr/>
          </p:nvSpPr>
          <p:spPr>
            <a:xfrm>
              <a:off x="11912" y="710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载荷</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5" name="长方形"/>
            <p:cNvSpPr/>
            <p:nvPr/>
          </p:nvSpPr>
          <p:spPr>
            <a:xfrm>
              <a:off x="13128" y="7544"/>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材料本构</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6" name="长方形"/>
            <p:cNvSpPr/>
            <p:nvPr/>
          </p:nvSpPr>
          <p:spPr>
            <a:xfrm>
              <a:off x="13115" y="7108"/>
              <a:ext cx="1124" cy="359"/>
            </a:xfrm>
            <a:custGeom>
              <a:avLst/>
              <a:gdLst>
                <a:gd name="connsiteX0" fmla="*/ 0 w 845036"/>
                <a:gd name="connsiteY0" fmla="*/ 134900 h 269800"/>
                <a:gd name="connsiteX1" fmla="*/ 422518 w 845036"/>
                <a:gd name="connsiteY1" fmla="*/ 0 h 269800"/>
                <a:gd name="connsiteX2" fmla="*/ 845036 w 845036"/>
                <a:gd name="connsiteY2" fmla="*/ 134900 h 269800"/>
                <a:gd name="connsiteX3" fmla="*/ 422518 w 845036"/>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845036" h="269800" stroke="0">
                  <a:moveTo>
                    <a:pt x="845036" y="269800"/>
                  </a:moveTo>
                  <a:lnTo>
                    <a:pt x="845036" y="0"/>
                  </a:lnTo>
                  <a:lnTo>
                    <a:pt x="0" y="0"/>
                  </a:lnTo>
                  <a:lnTo>
                    <a:pt x="0" y="269800"/>
                  </a:lnTo>
                  <a:lnTo>
                    <a:pt x="845036" y="269800"/>
                  </a:lnTo>
                  <a:close/>
                </a:path>
                <a:path w="845036" h="269800" fill="none">
                  <a:moveTo>
                    <a:pt x="845036" y="269800"/>
                  </a:moveTo>
                  <a:lnTo>
                    <a:pt x="845036" y="0"/>
                  </a:lnTo>
                  <a:lnTo>
                    <a:pt x="0" y="0"/>
                  </a:lnTo>
                  <a:lnTo>
                    <a:pt x="0" y="269800"/>
                  </a:lnTo>
                  <a:lnTo>
                    <a:pt x="845036" y="269800"/>
                  </a:lnTo>
                  <a:close/>
                </a:path>
              </a:pathLst>
            </a:custGeom>
            <a:solidFill>
              <a:srgbClr val="F4996B"/>
            </a:solidFill>
            <a:ln w="7600" cap="flat">
              <a:solidFill>
                <a:srgbClr val="101843"/>
              </a:solidFill>
              <a:miter/>
            </a:ln>
          </p:spPr>
          <p:txBody>
            <a:bodyPr wrap="square" lIns="38100" tIns="38100" rIns="3810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接触</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7" name="圆角矩形"/>
            <p:cNvSpPr/>
            <p:nvPr/>
          </p:nvSpPr>
          <p:spPr>
            <a:xfrm>
              <a:off x="11933" y="8531"/>
              <a:ext cx="2464" cy="1262"/>
            </a:xfrm>
            <a:custGeom>
              <a:avLst/>
              <a:gdLst>
                <a:gd name="connsiteX0" fmla="*/ 925824 w 1851649"/>
                <a:gd name="connsiteY0" fmla="*/ 889200 h 889200"/>
                <a:gd name="connsiteX1" fmla="*/ 925824 w 1851649"/>
                <a:gd name="connsiteY1" fmla="*/ 0 h 889200"/>
                <a:gd name="connsiteX2" fmla="*/ 1851649 w 1851649"/>
                <a:gd name="connsiteY2" fmla="*/ 444600 h 889200"/>
                <a:gd name="connsiteX3" fmla="*/ 0 w 1851649"/>
                <a:gd name="connsiteY3" fmla="*/ 444600 h 889200"/>
                <a:gd name="connsiteX4" fmla="*/ 925824 w 1851649"/>
                <a:gd name="connsiteY4" fmla="*/ 444600 h 889200"/>
              </a:gdLst>
              <a:ahLst/>
              <a:cxnLst>
                <a:cxn ang="5400000">
                  <a:pos x="connsiteX0" y="connsiteY0"/>
                </a:cxn>
                <a:cxn ang="16200000">
                  <a:pos x="connsiteX1" y="connsiteY1"/>
                </a:cxn>
                <a:cxn ang="0">
                  <a:pos x="connsiteX2" y="connsiteY2"/>
                </a:cxn>
                <a:cxn ang="10800000">
                  <a:pos x="connsiteX3" y="connsiteY3"/>
                </a:cxn>
                <a:cxn ang="0">
                  <a:pos x="connsiteX4" y="connsiteY4"/>
                </a:cxn>
              </a:cxnLst>
              <a:rect l="l" t="t" r="r" b="b"/>
              <a:pathLst>
                <a:path w="1851649" h="889200" stroke="0">
                  <a:moveTo>
                    <a:pt x="1760449" y="889200"/>
                  </a:moveTo>
                  <a:cubicBezTo>
                    <a:pt x="1810814" y="889200"/>
                    <a:pt x="1851649" y="848373"/>
                    <a:pt x="1851649" y="798000"/>
                  </a:cubicBezTo>
                  <a:lnTo>
                    <a:pt x="1851649" y="91200"/>
                  </a:lnTo>
                  <a:cubicBezTo>
                    <a:pt x="1851649" y="40830"/>
                    <a:pt x="1810814" y="0"/>
                    <a:pt x="1760449" y="0"/>
                  </a:cubicBezTo>
                  <a:lnTo>
                    <a:pt x="91200" y="0"/>
                  </a:lnTo>
                  <a:cubicBezTo>
                    <a:pt x="40830" y="0"/>
                    <a:pt x="0" y="40830"/>
                    <a:pt x="0" y="91200"/>
                  </a:cubicBezTo>
                  <a:lnTo>
                    <a:pt x="0" y="798000"/>
                  </a:lnTo>
                  <a:cubicBezTo>
                    <a:pt x="0" y="848373"/>
                    <a:pt x="40830" y="889200"/>
                    <a:pt x="91200" y="889200"/>
                  </a:cubicBezTo>
                  <a:lnTo>
                    <a:pt x="1760449" y="889200"/>
                  </a:lnTo>
                  <a:close/>
                </a:path>
                <a:path w="1851649" h="889200" fill="none">
                  <a:moveTo>
                    <a:pt x="1760449" y="889200"/>
                  </a:moveTo>
                  <a:cubicBezTo>
                    <a:pt x="1810814" y="889200"/>
                    <a:pt x="1851649" y="848373"/>
                    <a:pt x="1851649" y="798000"/>
                  </a:cubicBezTo>
                  <a:lnTo>
                    <a:pt x="1851649" y="91200"/>
                  </a:lnTo>
                  <a:cubicBezTo>
                    <a:pt x="1851649" y="40830"/>
                    <a:pt x="1810814" y="0"/>
                    <a:pt x="1760449" y="0"/>
                  </a:cubicBezTo>
                  <a:lnTo>
                    <a:pt x="91200" y="0"/>
                  </a:lnTo>
                  <a:cubicBezTo>
                    <a:pt x="40830" y="0"/>
                    <a:pt x="0" y="40830"/>
                    <a:pt x="0" y="91200"/>
                  </a:cubicBezTo>
                  <a:lnTo>
                    <a:pt x="0" y="798000"/>
                  </a:lnTo>
                  <a:cubicBezTo>
                    <a:pt x="0" y="848373"/>
                    <a:pt x="40830" y="889200"/>
                    <a:pt x="91200" y="889200"/>
                  </a:cubicBezTo>
                  <a:lnTo>
                    <a:pt x="1760449" y="889200"/>
                  </a:lnTo>
                  <a:close/>
                </a:path>
              </a:pathLst>
            </a:custGeom>
            <a:solidFill>
              <a:srgbClr val="88B0F5"/>
            </a:solidFill>
            <a:ln w="7600" cap="flat">
              <a:solidFill>
                <a:srgbClr val="101843"/>
              </a:solidFill>
              <a:miter/>
            </a:ln>
          </p:spPr>
          <p:txBody>
            <a:bodyPr wrap="square" lIns="76200" tIns="38100" rIns="76200" bIns="0" rtlCol="0" anchor="b"/>
            <a:p>
              <a:pPr algn="ctr"/>
              <a:r>
                <a:rPr lang="zh-CN" altLang="en-US" sz="1000" b="1" dirty="0">
                  <a:solidFill>
                    <a:srgbClr val="191919"/>
                  </a:solidFill>
                  <a:latin typeface="微软雅黑" panose="020B0503020204020204" charset="-122"/>
                  <a:ea typeface="微软雅黑" panose="020B0503020204020204" charset="-122"/>
                  <a:cs typeface="微软雅黑" panose="020B0503020204020204" charset="-122"/>
                </a:rPr>
                <a:t>优化设计</a:t>
              </a:r>
              <a:endParaRPr lang="zh-CN" altLang="en-US" sz="1000" b="1"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8" name="长方形"/>
            <p:cNvSpPr/>
            <p:nvPr/>
          </p:nvSpPr>
          <p:spPr>
            <a:xfrm>
              <a:off x="12059" y="866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敏感度分析</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49" name="长方形"/>
            <p:cNvSpPr/>
            <p:nvPr/>
          </p:nvSpPr>
          <p:spPr>
            <a:xfrm>
              <a:off x="12059" y="909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形状优化</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50" name="长方形"/>
            <p:cNvSpPr/>
            <p:nvPr/>
          </p:nvSpPr>
          <p:spPr>
            <a:xfrm>
              <a:off x="13262" y="866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DOE</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51" name="长方形"/>
            <p:cNvSpPr/>
            <p:nvPr/>
          </p:nvSpPr>
          <p:spPr>
            <a:xfrm>
              <a:off x="13262" y="9098"/>
              <a:ext cx="965" cy="359"/>
            </a:xfrm>
            <a:custGeom>
              <a:avLst/>
              <a:gdLst>
                <a:gd name="connsiteX0" fmla="*/ 0 w 725349"/>
                <a:gd name="connsiteY0" fmla="*/ 134900 h 269800"/>
                <a:gd name="connsiteX1" fmla="*/ 362674 w 725349"/>
                <a:gd name="connsiteY1" fmla="*/ 0 h 269800"/>
                <a:gd name="connsiteX2" fmla="*/ 725349 w 725349"/>
                <a:gd name="connsiteY2" fmla="*/ 134900 h 269800"/>
                <a:gd name="connsiteX3" fmla="*/ 362674 w 725349"/>
                <a:gd name="connsiteY3" fmla="*/ 269800 h 269800"/>
              </a:gdLst>
              <a:ahLst/>
              <a:cxnLst>
                <a:cxn ang="10800000">
                  <a:pos x="connsiteX0" y="connsiteY0"/>
                </a:cxn>
                <a:cxn ang="16200000">
                  <a:pos x="connsiteX1" y="connsiteY1"/>
                </a:cxn>
                <a:cxn ang="0">
                  <a:pos x="connsiteX2" y="connsiteY2"/>
                </a:cxn>
                <a:cxn ang="5400000">
                  <a:pos x="connsiteX3" y="connsiteY3"/>
                </a:cxn>
              </a:cxnLst>
              <a:rect l="l" t="t" r="r" b="b"/>
              <a:pathLst>
                <a:path w="725349" h="269800" stroke="0">
                  <a:moveTo>
                    <a:pt x="725349" y="269800"/>
                  </a:moveTo>
                  <a:lnTo>
                    <a:pt x="725349" y="0"/>
                  </a:lnTo>
                  <a:lnTo>
                    <a:pt x="0" y="0"/>
                  </a:lnTo>
                  <a:lnTo>
                    <a:pt x="0" y="269800"/>
                  </a:lnTo>
                  <a:lnTo>
                    <a:pt x="725349" y="269800"/>
                  </a:lnTo>
                  <a:close/>
                </a:path>
                <a:path w="725349" h="269800" fill="none">
                  <a:moveTo>
                    <a:pt x="725349" y="269800"/>
                  </a:moveTo>
                  <a:lnTo>
                    <a:pt x="725349" y="0"/>
                  </a:lnTo>
                  <a:lnTo>
                    <a:pt x="0" y="0"/>
                  </a:lnTo>
                  <a:lnTo>
                    <a:pt x="0" y="269800"/>
                  </a:lnTo>
                  <a:lnTo>
                    <a:pt x="725349" y="269800"/>
                  </a:lnTo>
                  <a:close/>
                </a:path>
              </a:pathLst>
            </a:custGeom>
            <a:solidFill>
              <a:srgbClr val="90D6AB"/>
            </a:solidFill>
            <a:ln w="7600" cap="flat">
              <a:solidFill>
                <a:srgbClr val="101843"/>
              </a:solidFill>
              <a:miter/>
            </a:ln>
          </p:spPr>
          <p:txBody>
            <a:bodyPr wrap="square" lIns="0" tIns="38100" rIns="0" bIns="38100" rtlCol="0" anchor="ctr"/>
            <a:p>
              <a:pPr algn="ctr"/>
              <a:r>
                <a:rPr lang="zh-CN" altLang="en-US" sz="760" dirty="0">
                  <a:solidFill>
                    <a:srgbClr val="191919"/>
                  </a:solidFill>
                  <a:latin typeface="微软雅黑" panose="020B0503020204020204" charset="-122"/>
                  <a:ea typeface="微软雅黑" panose="020B0503020204020204" charset="-122"/>
                  <a:cs typeface="微软雅黑" panose="020B0503020204020204" charset="-122"/>
                </a:rPr>
                <a:t>拓扑优化</a:t>
              </a:r>
              <a:endParaRPr lang="zh-CN" altLang="en-US" sz="760" dirty="0">
                <a:solidFill>
                  <a:srgbClr val="191919"/>
                </a:solidFill>
                <a:latin typeface="微软雅黑" panose="020B0503020204020204" charset="-122"/>
                <a:ea typeface="微软雅黑" panose="020B0503020204020204" charset="-122"/>
                <a:cs typeface="微软雅黑" panose="020B0503020204020204" charset="-122"/>
              </a:endParaRPr>
            </a:p>
          </p:txBody>
        </p:sp>
        <p:sp>
          <p:nvSpPr>
            <p:cNvPr id="153" name="长方形"/>
            <p:cNvSpPr/>
            <p:nvPr/>
          </p:nvSpPr>
          <p:spPr>
            <a:xfrm>
              <a:off x="4539" y="5659"/>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几何组件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4" name="长方形"/>
            <p:cNvSpPr/>
            <p:nvPr/>
          </p:nvSpPr>
          <p:spPr>
            <a:xfrm>
              <a:off x="4539"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OCC</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5" name="长方形"/>
            <p:cNvSpPr/>
            <p:nvPr/>
          </p:nvSpPr>
          <p:spPr>
            <a:xfrm>
              <a:off x="5079"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ACIS</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6" name="长方形"/>
            <p:cNvSpPr/>
            <p:nvPr/>
          </p:nvSpPr>
          <p:spPr>
            <a:xfrm>
              <a:off x="5618"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PS</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7" name="长方形"/>
            <p:cNvSpPr/>
            <p:nvPr/>
          </p:nvSpPr>
          <p:spPr>
            <a:xfrm>
              <a:off x="8412" y="5659"/>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数据交互组件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8" name="长方形"/>
            <p:cNvSpPr/>
            <p:nvPr/>
          </p:nvSpPr>
          <p:spPr>
            <a:xfrm>
              <a:off x="8412"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对话框</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9" name="长方形"/>
            <p:cNvSpPr/>
            <p:nvPr/>
          </p:nvSpPr>
          <p:spPr>
            <a:xfrm>
              <a:off x="8951"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对象树</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0" name="长方形"/>
            <p:cNvSpPr/>
            <p:nvPr/>
          </p:nvSpPr>
          <p:spPr>
            <a:xfrm>
              <a:off x="9491"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输出窗</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1" name="长方形"/>
            <p:cNvSpPr/>
            <p:nvPr/>
          </p:nvSpPr>
          <p:spPr>
            <a:xfrm>
              <a:off x="6554" y="5659"/>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网格组件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2" name="长方形"/>
            <p:cNvSpPr/>
            <p:nvPr/>
          </p:nvSpPr>
          <p:spPr>
            <a:xfrm>
              <a:off x="6554"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Gmsh</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3" name="长方形"/>
            <p:cNvSpPr/>
            <p:nvPr/>
          </p:nvSpPr>
          <p:spPr>
            <a:xfrm>
              <a:off x="7093"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OF</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4" name="长方形"/>
            <p:cNvSpPr/>
            <p:nvPr/>
          </p:nvSpPr>
          <p:spPr>
            <a:xfrm>
              <a:off x="7633"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商用</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5" name="长方形"/>
            <p:cNvSpPr/>
            <p:nvPr/>
          </p:nvSpPr>
          <p:spPr>
            <a:xfrm>
              <a:off x="4543" y="4633"/>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数据存储</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6" name="长方形"/>
            <p:cNvSpPr/>
            <p:nvPr/>
          </p:nvSpPr>
          <p:spPr>
            <a:xfrm>
              <a:off x="4543"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结构</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7" name="长方形"/>
            <p:cNvSpPr/>
            <p:nvPr/>
          </p:nvSpPr>
          <p:spPr>
            <a:xfrm>
              <a:off x="5083"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流体</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8" name="长方形"/>
            <p:cNvSpPr/>
            <p:nvPr/>
          </p:nvSpPr>
          <p:spPr>
            <a:xfrm>
              <a:off x="5623"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电磁</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9" name="长方形"/>
            <p:cNvSpPr/>
            <p:nvPr/>
          </p:nvSpPr>
          <p:spPr>
            <a:xfrm>
              <a:off x="8416" y="4633"/>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可视化组件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0" name="长方形"/>
            <p:cNvSpPr/>
            <p:nvPr/>
          </p:nvSpPr>
          <p:spPr>
            <a:xfrm>
              <a:off x="8416" y="4117"/>
              <a:ext cx="495"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VTK</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1" name="长方形"/>
            <p:cNvSpPr/>
            <p:nvPr/>
          </p:nvSpPr>
          <p:spPr>
            <a:xfrm>
              <a:off x="8914" y="4117"/>
              <a:ext cx="594"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Hoops</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2" name="长方形"/>
            <p:cNvSpPr/>
            <p:nvPr/>
          </p:nvSpPr>
          <p:spPr>
            <a:xfrm>
              <a:off x="9511" y="4117"/>
              <a:ext cx="525"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曲线</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3" name="长方形"/>
            <p:cNvSpPr/>
            <p:nvPr/>
          </p:nvSpPr>
          <p:spPr>
            <a:xfrm>
              <a:off x="6558" y="4633"/>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IO组件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4" name="长方形"/>
            <p:cNvSpPr/>
            <p:nvPr/>
          </p:nvSpPr>
          <p:spPr>
            <a:xfrm>
              <a:off x="6558"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inp</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5" name="长方形"/>
            <p:cNvSpPr/>
            <p:nvPr/>
          </p:nvSpPr>
          <p:spPr>
            <a:xfrm>
              <a:off x="7099"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cgns</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6" name="长方形"/>
            <p:cNvSpPr/>
            <p:nvPr/>
          </p:nvSpPr>
          <p:spPr>
            <a:xfrm>
              <a:off x="7637"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9" name="长方形"/>
            <p:cNvSpPr/>
            <p:nvPr/>
          </p:nvSpPr>
          <p:spPr>
            <a:xfrm>
              <a:off x="10397" y="5659"/>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0" tIns="38100" rIns="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第三方程序驱动</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0" name="长方形"/>
            <p:cNvSpPr/>
            <p:nvPr/>
          </p:nvSpPr>
          <p:spPr>
            <a:xfrm>
              <a:off x="10397" y="5144"/>
              <a:ext cx="466"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exe</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1" name="长方形"/>
            <p:cNvSpPr/>
            <p:nvPr/>
          </p:nvSpPr>
          <p:spPr>
            <a:xfrm>
              <a:off x="10868" y="5144"/>
              <a:ext cx="63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python</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2" name="长方形"/>
            <p:cNvSpPr/>
            <p:nvPr/>
          </p:nvSpPr>
          <p:spPr>
            <a:xfrm>
              <a:off x="11503" y="5144"/>
              <a:ext cx="516"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动态库</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3" name="长方形"/>
            <p:cNvSpPr/>
            <p:nvPr/>
          </p:nvSpPr>
          <p:spPr>
            <a:xfrm>
              <a:off x="10397" y="4633"/>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数据处理与验证</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4" name="长方形"/>
            <p:cNvSpPr/>
            <p:nvPr/>
          </p:nvSpPr>
          <p:spPr>
            <a:xfrm>
              <a:off x="10397"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傅里叶</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5" name="长方形"/>
            <p:cNvSpPr/>
            <p:nvPr/>
          </p:nvSpPr>
          <p:spPr>
            <a:xfrm>
              <a:off x="10936"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坐标变换</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6" name="长方形"/>
            <p:cNvSpPr/>
            <p:nvPr/>
          </p:nvSpPr>
          <p:spPr>
            <a:xfrm>
              <a:off x="11476" y="4117"/>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数据映射</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1" name="长方形"/>
            <p:cNvSpPr/>
            <p:nvPr/>
          </p:nvSpPr>
          <p:spPr>
            <a:xfrm>
              <a:off x="12487" y="5659"/>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求解算法</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2" name="长方形"/>
            <p:cNvSpPr/>
            <p:nvPr/>
          </p:nvSpPr>
          <p:spPr>
            <a:xfrm>
              <a:off x="12487"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有限元</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3" name="长方形"/>
            <p:cNvSpPr/>
            <p:nvPr/>
          </p:nvSpPr>
          <p:spPr>
            <a:xfrm>
              <a:off x="13027"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有限体积</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4" name="长方形"/>
            <p:cNvSpPr/>
            <p:nvPr/>
          </p:nvSpPr>
          <p:spPr>
            <a:xfrm>
              <a:off x="13566" y="5144"/>
              <a:ext cx="540"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无网格法</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5" name="长方形"/>
            <p:cNvSpPr/>
            <p:nvPr/>
          </p:nvSpPr>
          <p:spPr>
            <a:xfrm>
              <a:off x="12487" y="4633"/>
              <a:ext cx="1619" cy="384"/>
            </a:xfrm>
            <a:custGeom>
              <a:avLst/>
              <a:gdLst>
                <a:gd name="connsiteX0" fmla="*/ 0 w 1413600"/>
                <a:gd name="connsiteY0" fmla="*/ 144400 h 288800"/>
                <a:gd name="connsiteX1" fmla="*/ 706800 w 1413600"/>
                <a:gd name="connsiteY1" fmla="*/ 0 h 288800"/>
                <a:gd name="connsiteX2" fmla="*/ 1413600 w 1413600"/>
                <a:gd name="connsiteY2" fmla="*/ 144400 h 288800"/>
                <a:gd name="connsiteX3" fmla="*/ 706800 w 1413600"/>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413600" h="288800" stroke="0">
                  <a:moveTo>
                    <a:pt x="1413600" y="288800"/>
                  </a:moveTo>
                  <a:lnTo>
                    <a:pt x="1413600" y="0"/>
                  </a:lnTo>
                  <a:lnTo>
                    <a:pt x="0" y="0"/>
                  </a:lnTo>
                  <a:lnTo>
                    <a:pt x="0" y="288800"/>
                  </a:lnTo>
                  <a:lnTo>
                    <a:pt x="1413600" y="288800"/>
                  </a:lnTo>
                  <a:close/>
                </a:path>
                <a:path w="1413600" h="288800" fill="none">
                  <a:moveTo>
                    <a:pt x="1413600" y="288800"/>
                  </a:moveTo>
                  <a:lnTo>
                    <a:pt x="1413600" y="0"/>
                  </a:lnTo>
                  <a:lnTo>
                    <a:pt x="0" y="0"/>
                  </a:lnTo>
                  <a:lnTo>
                    <a:pt x="0" y="288800"/>
                  </a:lnTo>
                  <a:lnTo>
                    <a:pt x="1413600" y="288800"/>
                  </a:lnTo>
                  <a:close/>
                </a:path>
              </a:pathLst>
            </a:custGeom>
            <a:solidFill>
              <a:srgbClr val="50AD76"/>
            </a:solidFill>
            <a:ln w="7600" cap="flat">
              <a:noFill/>
              <a:miter/>
            </a:ln>
          </p:spPr>
          <p:txBody>
            <a:bodyPr wrap="square" lIns="38100" tIns="38100" rIns="38100" bIns="38100" rtlCol="0" anchor="ctr"/>
            <a:p>
              <a:pPr algn="ctr"/>
              <a:r>
                <a:rPr lang="zh-CN" altLang="en-US" sz="1010" b="1" dirty="0">
                  <a:solidFill>
                    <a:srgbClr val="FFFFFF"/>
                  </a:solidFill>
                  <a:latin typeface="微软雅黑" panose="020B0503020204020204" charset="-122"/>
                  <a:ea typeface="微软雅黑" panose="020B0503020204020204" charset="-122"/>
                  <a:cs typeface="微软雅黑" panose="020B0503020204020204" charset="-122"/>
                </a:rPr>
                <a:t>优化组件</a:t>
              </a:r>
              <a:endParaRPr lang="zh-CN" altLang="en-US" sz="101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6" name="长方形"/>
            <p:cNvSpPr/>
            <p:nvPr/>
          </p:nvSpPr>
          <p:spPr>
            <a:xfrm>
              <a:off x="12487" y="4117"/>
              <a:ext cx="493"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形状优化</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7" name="长方形"/>
            <p:cNvSpPr/>
            <p:nvPr/>
          </p:nvSpPr>
          <p:spPr>
            <a:xfrm>
              <a:off x="12979" y="4117"/>
              <a:ext cx="495"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拓扑优化</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8" name="长方形"/>
            <p:cNvSpPr/>
            <p:nvPr/>
          </p:nvSpPr>
          <p:spPr>
            <a:xfrm>
              <a:off x="13475" y="4117"/>
              <a:ext cx="631" cy="516"/>
            </a:xfrm>
            <a:custGeom>
              <a:avLst/>
              <a:gdLst>
                <a:gd name="connsiteX0" fmla="*/ 0 w 471081"/>
                <a:gd name="connsiteY0" fmla="*/ 193800 h 387600"/>
                <a:gd name="connsiteX1" fmla="*/ 235540 w 471081"/>
                <a:gd name="connsiteY1" fmla="*/ 0 h 387600"/>
                <a:gd name="connsiteX2" fmla="*/ 471081 w 471081"/>
                <a:gd name="connsiteY2" fmla="*/ 193800 h 387600"/>
                <a:gd name="connsiteX3" fmla="*/ 235540 w 471081"/>
                <a:gd name="connsiteY3" fmla="*/ 387600 h 387600"/>
              </a:gdLst>
              <a:ahLst/>
              <a:cxnLst>
                <a:cxn ang="10800000">
                  <a:pos x="connsiteX0" y="connsiteY0"/>
                </a:cxn>
                <a:cxn ang="16200000">
                  <a:pos x="connsiteX1" y="connsiteY1"/>
                </a:cxn>
                <a:cxn ang="0">
                  <a:pos x="connsiteX2" y="connsiteY2"/>
                </a:cxn>
                <a:cxn ang="5400000">
                  <a:pos x="connsiteX3" y="connsiteY3"/>
                </a:cxn>
              </a:cxnLst>
              <a:rect l="l" t="t" r="r" b="b"/>
              <a:pathLst>
                <a:path w="471081" h="387600" stroke="0">
                  <a:moveTo>
                    <a:pt x="471081" y="387600"/>
                  </a:moveTo>
                  <a:lnTo>
                    <a:pt x="471081" y="0"/>
                  </a:lnTo>
                  <a:lnTo>
                    <a:pt x="0" y="0"/>
                  </a:lnTo>
                  <a:lnTo>
                    <a:pt x="0" y="387600"/>
                  </a:lnTo>
                  <a:lnTo>
                    <a:pt x="471081" y="387600"/>
                  </a:lnTo>
                  <a:close/>
                </a:path>
                <a:path w="471081" h="387600" fill="none">
                  <a:moveTo>
                    <a:pt x="471081" y="387600"/>
                  </a:moveTo>
                  <a:lnTo>
                    <a:pt x="471081" y="0"/>
                  </a:lnTo>
                  <a:lnTo>
                    <a:pt x="0" y="0"/>
                  </a:lnTo>
                  <a:lnTo>
                    <a:pt x="0" y="387600"/>
                  </a:lnTo>
                  <a:lnTo>
                    <a:pt x="471081" y="387600"/>
                  </a:lnTo>
                  <a:close/>
                </a:path>
              </a:pathLst>
            </a:custGeom>
            <a:solidFill>
              <a:srgbClr val="50AD76"/>
            </a:solidFill>
            <a:ln w="7600" cap="flat">
              <a:noFill/>
              <a:miter/>
            </a:ln>
          </p:spPr>
          <p:txBody>
            <a:bodyPr wrap="square" lIns="0" tIns="38100" rIns="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多目标优化</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4" name="组合 3"/>
            <p:cNvGrpSpPr/>
            <p:nvPr/>
          </p:nvGrpSpPr>
          <p:grpSpPr>
            <a:xfrm rot="0">
              <a:off x="2952" y="1865"/>
              <a:ext cx="5171" cy="384"/>
              <a:chOff x="1817" y="274"/>
              <a:chExt cx="13199" cy="454"/>
            </a:xfrm>
          </p:grpSpPr>
          <p:sp>
            <p:nvSpPr>
              <p:cNvPr id="177" name="长方形"/>
              <p:cNvSpPr/>
              <p:nvPr/>
            </p:nvSpPr>
            <p:spPr>
              <a:xfrm>
                <a:off x="1817" y="274"/>
                <a:ext cx="2943" cy="45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结构学科套件</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9" name="长方形"/>
              <p:cNvSpPr/>
              <p:nvPr/>
            </p:nvSpPr>
            <p:spPr>
              <a:xfrm>
                <a:off x="5271" y="274"/>
                <a:ext cx="2943" cy="45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en-US" altLang="zh-CN" sz="810" dirty="0">
                    <a:solidFill>
                      <a:srgbClr val="FFFFFF"/>
                    </a:solidFill>
                    <a:latin typeface="微软雅黑" panose="020B0503020204020204" charset="-122"/>
                    <a:ea typeface="微软雅黑" panose="020B0503020204020204" charset="-122"/>
                    <a:cs typeface="微软雅黑" panose="020B0503020204020204" charset="-122"/>
                  </a:rPr>
                  <a:t>CFD</a:t>
                </a: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学科套件</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0" name="长方形"/>
              <p:cNvSpPr/>
              <p:nvPr/>
            </p:nvSpPr>
            <p:spPr>
              <a:xfrm>
                <a:off x="8607" y="274"/>
                <a:ext cx="2943" cy="45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电磁学科套件</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1" name="长方形"/>
              <p:cNvSpPr/>
              <p:nvPr/>
            </p:nvSpPr>
            <p:spPr>
              <a:xfrm>
                <a:off x="12074" y="274"/>
                <a:ext cx="2943" cy="45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优化学科套件</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204" name="长方形"/>
            <p:cNvSpPr/>
            <p:nvPr/>
          </p:nvSpPr>
          <p:spPr>
            <a:xfrm>
              <a:off x="2555" y="2603"/>
              <a:ext cx="12135" cy="951"/>
            </a:xfrm>
            <a:custGeom>
              <a:avLst/>
              <a:gdLst>
                <a:gd name="connsiteX0" fmla="*/ 0 w 9120000"/>
                <a:gd name="connsiteY0" fmla="*/ 357200 h 714400"/>
                <a:gd name="connsiteX1" fmla="*/ 4560000 w 9120000"/>
                <a:gd name="connsiteY1" fmla="*/ 0 h 714400"/>
                <a:gd name="connsiteX2" fmla="*/ 9120000 w 9120000"/>
                <a:gd name="connsiteY2" fmla="*/ 357200 h 714400"/>
                <a:gd name="connsiteX3" fmla="*/ 4560000 w 9120000"/>
                <a:gd name="connsiteY3" fmla="*/ 714400 h 714400"/>
              </a:gdLst>
              <a:ahLst/>
              <a:cxnLst>
                <a:cxn ang="10800000">
                  <a:pos x="connsiteX0" y="connsiteY0"/>
                </a:cxn>
                <a:cxn ang="16200000">
                  <a:pos x="connsiteX1" y="connsiteY1"/>
                </a:cxn>
                <a:cxn ang="0">
                  <a:pos x="connsiteX2" y="connsiteY2"/>
                </a:cxn>
                <a:cxn ang="5400000">
                  <a:pos x="connsiteX3" y="connsiteY3"/>
                </a:cxn>
              </a:cxnLst>
              <a:rect l="l" t="t" r="r" b="b"/>
              <a:pathLst>
                <a:path w="9120000" h="714400" stroke="0">
                  <a:moveTo>
                    <a:pt x="9120000" y="714400"/>
                  </a:moveTo>
                  <a:lnTo>
                    <a:pt x="9120000" y="0"/>
                  </a:lnTo>
                  <a:lnTo>
                    <a:pt x="0" y="0"/>
                  </a:lnTo>
                  <a:lnTo>
                    <a:pt x="0" y="714400"/>
                  </a:lnTo>
                  <a:lnTo>
                    <a:pt x="9120000" y="714400"/>
                  </a:lnTo>
                  <a:close/>
                </a:path>
                <a:path w="9120000" h="714400" fill="none">
                  <a:moveTo>
                    <a:pt x="9120000" y="714400"/>
                  </a:moveTo>
                  <a:lnTo>
                    <a:pt x="9120000" y="0"/>
                  </a:lnTo>
                  <a:lnTo>
                    <a:pt x="0" y="0"/>
                  </a:lnTo>
                  <a:lnTo>
                    <a:pt x="0" y="714400"/>
                  </a:lnTo>
                  <a:lnTo>
                    <a:pt x="9120000" y="714400"/>
                  </a:lnTo>
                  <a:close/>
                </a:path>
              </a:pathLst>
            </a:custGeom>
            <a:solidFill>
              <a:schemeClr val="accent5">
                <a:lumMod val="20000"/>
                <a:lumOff val="80000"/>
              </a:schemeClr>
            </a:solidFill>
            <a:ln w="7600" cap="flat">
              <a:noFill/>
              <a:miter/>
            </a:ln>
          </p:spPr>
          <p:txBody>
            <a:bodyPr wrap="square" lIns="38100" tIns="38100" rIns="38100" bIns="38100" rtlCol="0" anchor="t"/>
            <a:p>
              <a:pPr algn="ctr"/>
              <a:r>
                <a:rPr lang="zh-CN" altLang="en-US" sz="910" b="1" dirty="0">
                  <a:solidFill>
                    <a:schemeClr val="tx1"/>
                  </a:solidFill>
                  <a:latin typeface="微软雅黑" panose="020B0503020204020204" charset="-122"/>
                  <a:ea typeface="微软雅黑" panose="020B0503020204020204" charset="-122"/>
                  <a:cs typeface="微软雅黑" panose="020B0503020204020204" charset="-122"/>
                </a:rPr>
                <a:t>应用程序框架</a:t>
              </a:r>
              <a:endParaRPr lang="zh-CN" altLang="en-US" sz="91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5" name="长方形"/>
            <p:cNvSpPr/>
            <p:nvPr/>
          </p:nvSpPr>
          <p:spPr>
            <a:xfrm>
              <a:off x="2911" y="2991"/>
              <a:ext cx="2082" cy="384"/>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组件注册</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6" name="长方形"/>
            <p:cNvSpPr/>
            <p:nvPr/>
          </p:nvSpPr>
          <p:spPr>
            <a:xfrm>
              <a:off x="5135" y="2991"/>
              <a:ext cx="2082" cy="384"/>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个性化UI</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7" name="长方形"/>
            <p:cNvSpPr/>
            <p:nvPr/>
          </p:nvSpPr>
          <p:spPr>
            <a:xfrm>
              <a:off x="7390" y="2991"/>
              <a:ext cx="2082" cy="384"/>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配置文件</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8" name="长方形"/>
            <p:cNvSpPr/>
            <p:nvPr/>
          </p:nvSpPr>
          <p:spPr>
            <a:xfrm>
              <a:off x="9695" y="2991"/>
              <a:ext cx="2082" cy="384"/>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事件队列</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9" name="长方形"/>
            <p:cNvSpPr/>
            <p:nvPr/>
          </p:nvSpPr>
          <p:spPr>
            <a:xfrm>
              <a:off x="12059" y="2991"/>
              <a:ext cx="2082" cy="384"/>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910" dirty="0">
                  <a:solidFill>
                    <a:srgbClr val="FFFFFF"/>
                  </a:solidFill>
                  <a:latin typeface="微软雅黑" panose="020B0503020204020204" charset="-122"/>
                  <a:ea typeface="微软雅黑" panose="020B0503020204020204" charset="-122"/>
                  <a:cs typeface="微软雅黑" panose="020B0503020204020204" charset="-122"/>
                </a:rPr>
                <a:t>个性化接口</a:t>
              </a:r>
              <a:endParaRPr lang="zh-CN" altLang="en-US" sz="9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2" name="长方形"/>
            <p:cNvSpPr/>
            <p:nvPr/>
          </p:nvSpPr>
          <p:spPr>
            <a:xfrm>
              <a:off x="1069" y="2603"/>
              <a:ext cx="657" cy="7928"/>
            </a:xfrm>
            <a:custGeom>
              <a:avLst/>
              <a:gdLst>
                <a:gd name="connsiteX0" fmla="*/ 0 w 357200"/>
                <a:gd name="connsiteY0" fmla="*/ 2979200 h 5958400"/>
                <a:gd name="connsiteX1" fmla="*/ 178600 w 357200"/>
                <a:gd name="connsiteY1" fmla="*/ 0 h 5958400"/>
                <a:gd name="connsiteX2" fmla="*/ 357200 w 357200"/>
                <a:gd name="connsiteY2" fmla="*/ 2979200 h 5958400"/>
                <a:gd name="connsiteX3" fmla="*/ 178600 w 357200"/>
                <a:gd name="connsiteY3" fmla="*/ 5958400 h 5958400"/>
              </a:gdLst>
              <a:ahLst/>
              <a:cxnLst>
                <a:cxn ang="10800000">
                  <a:pos x="connsiteX0" y="connsiteY0"/>
                </a:cxn>
                <a:cxn ang="16200000">
                  <a:pos x="connsiteX1" y="connsiteY1"/>
                </a:cxn>
                <a:cxn ang="0">
                  <a:pos x="connsiteX2" y="connsiteY2"/>
                </a:cxn>
                <a:cxn ang="5400000">
                  <a:pos x="connsiteX3" y="connsiteY3"/>
                </a:cxn>
              </a:cxnLst>
              <a:rect l="l" t="t" r="r" b="b"/>
              <a:pathLst>
                <a:path w="357200" h="5958400" stroke="0">
                  <a:moveTo>
                    <a:pt x="357200" y="5958400"/>
                  </a:moveTo>
                  <a:lnTo>
                    <a:pt x="357200" y="0"/>
                  </a:lnTo>
                  <a:lnTo>
                    <a:pt x="0" y="0"/>
                  </a:lnTo>
                  <a:lnTo>
                    <a:pt x="0" y="5958400"/>
                  </a:lnTo>
                  <a:lnTo>
                    <a:pt x="357200" y="5958400"/>
                  </a:lnTo>
                  <a:close/>
                </a:path>
                <a:path w="357200" h="5958400" fill="none">
                  <a:moveTo>
                    <a:pt x="357200" y="5958400"/>
                  </a:moveTo>
                  <a:lnTo>
                    <a:pt x="357200" y="0"/>
                  </a:lnTo>
                  <a:lnTo>
                    <a:pt x="0" y="0"/>
                  </a:lnTo>
                  <a:lnTo>
                    <a:pt x="0" y="5958400"/>
                  </a:lnTo>
                  <a:lnTo>
                    <a:pt x="357200" y="5958400"/>
                  </a:lnTo>
                  <a:close/>
                </a:path>
              </a:pathLst>
            </a:custGeom>
            <a:solidFill>
              <a:srgbClr val="E08A13"/>
            </a:solidFill>
            <a:ln w="7600" cap="flat">
              <a:noFill/>
              <a:miter/>
            </a:ln>
          </p:spPr>
          <p:txBody>
            <a:bodyPr wrap="square" lIns="38100" tIns="38100" rIns="38100" bIns="38100" rtlCol="0" anchor="ctr"/>
            <a:p>
              <a:pPr algn="ctr"/>
              <a:r>
                <a:rPr lang="zh-CN" altLang="en-US" sz="1520" dirty="0">
                  <a:solidFill>
                    <a:srgbClr val="FFFFFF"/>
                  </a:solidFill>
                  <a:latin typeface="微软雅黑" panose="020B0503020204020204" charset="-122"/>
                  <a:ea typeface="微软雅黑" panose="020B0503020204020204" charset="-122"/>
                  <a:cs typeface="微软雅黑" panose="020B0503020204020204" charset="-122"/>
                </a:rPr>
                <a:t>开源</a:t>
              </a:r>
              <a:endParaRPr lang="zh-CN" altLang="en-US" sz="152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520" dirty="0">
                  <a:solidFill>
                    <a:srgbClr val="FFFFFF"/>
                  </a:solidFill>
                  <a:latin typeface="微软雅黑" panose="020B0503020204020204" charset="-122"/>
                  <a:ea typeface="微软雅黑" panose="020B0503020204020204" charset="-122"/>
                  <a:cs typeface="微软雅黑" panose="020B0503020204020204" charset="-122"/>
                </a:rPr>
                <a:t>底座平台</a:t>
              </a:r>
              <a:endParaRPr lang="zh-CN" altLang="en-US" sz="152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6" name="长方形"/>
            <p:cNvSpPr/>
            <p:nvPr/>
          </p:nvSpPr>
          <p:spPr>
            <a:xfrm>
              <a:off x="15713" y="9388"/>
              <a:ext cx="2086" cy="708"/>
            </a:xfrm>
            <a:custGeom>
              <a:avLst/>
              <a:gdLst>
                <a:gd name="connsiteX0" fmla="*/ 0 w 1567796"/>
                <a:gd name="connsiteY0" fmla="*/ 266000 h 532000"/>
                <a:gd name="connsiteX1" fmla="*/ 783898 w 1567796"/>
                <a:gd name="connsiteY1" fmla="*/ 0 h 532000"/>
                <a:gd name="connsiteX2" fmla="*/ 1567796 w 1567796"/>
                <a:gd name="connsiteY2" fmla="*/ 266000 h 532000"/>
                <a:gd name="connsiteX3" fmla="*/ 783898 w 1567796"/>
                <a:gd name="connsiteY3" fmla="*/ 532000 h 532000"/>
              </a:gdLst>
              <a:ahLst/>
              <a:cxnLst>
                <a:cxn ang="10800000">
                  <a:pos x="connsiteX0" y="connsiteY0"/>
                </a:cxn>
                <a:cxn ang="16200000">
                  <a:pos x="connsiteX1" y="connsiteY1"/>
                </a:cxn>
                <a:cxn ang="0">
                  <a:pos x="connsiteX2" y="connsiteY2"/>
                </a:cxn>
                <a:cxn ang="5400000">
                  <a:pos x="connsiteX3" y="connsiteY3"/>
                </a:cxn>
              </a:cxnLst>
              <a:rect l="l" t="t" r="r" b="b"/>
              <a:pathLst>
                <a:path w="1567796" h="532000" stroke="0">
                  <a:moveTo>
                    <a:pt x="1567796" y="532000"/>
                  </a:moveTo>
                  <a:lnTo>
                    <a:pt x="1567796" y="0"/>
                  </a:lnTo>
                  <a:lnTo>
                    <a:pt x="0" y="0"/>
                  </a:lnTo>
                  <a:lnTo>
                    <a:pt x="0" y="532000"/>
                  </a:lnTo>
                  <a:lnTo>
                    <a:pt x="1567796" y="532000"/>
                  </a:lnTo>
                  <a:close/>
                </a:path>
                <a:path w="1567796" h="532000" fill="none">
                  <a:moveTo>
                    <a:pt x="1567796" y="532000"/>
                  </a:moveTo>
                  <a:lnTo>
                    <a:pt x="1567796" y="0"/>
                  </a:lnTo>
                  <a:lnTo>
                    <a:pt x="0" y="0"/>
                  </a:lnTo>
                  <a:lnTo>
                    <a:pt x="0" y="532000"/>
                  </a:lnTo>
                  <a:lnTo>
                    <a:pt x="1567796" y="532000"/>
                  </a:lnTo>
                  <a:close/>
                </a:path>
              </a:pathLst>
            </a:custGeom>
          </p:spPr>
          <p:style>
            <a:lnRef idx="2">
              <a:schemeClr val="accent2"/>
            </a:lnRef>
            <a:fillRef idx="0">
              <a:srgbClr val="FFFFFF"/>
            </a:fillRef>
            <a:effectRef idx="0">
              <a:srgbClr val="FFFFFF"/>
            </a:effectRef>
            <a:fontRef idx="minor">
              <a:schemeClr val="tx1"/>
            </a:fontRef>
          </p:style>
          <p:txBody>
            <a:bodyPr wrap="square" lIns="38100" tIns="38100" rIns="38100" bIns="38100" rtlCol="0" anchor="ctr"/>
            <a:p>
              <a:pPr algn="ctr"/>
              <a:r>
                <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共性技术/理论积累与总结</a:t>
              </a:r>
              <a:endPar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217" name="长方形"/>
            <p:cNvSpPr/>
            <p:nvPr/>
          </p:nvSpPr>
          <p:spPr>
            <a:xfrm>
              <a:off x="15713" y="7370"/>
              <a:ext cx="2086" cy="708"/>
            </a:xfrm>
            <a:custGeom>
              <a:avLst/>
              <a:gdLst>
                <a:gd name="connsiteX0" fmla="*/ 0 w 1567796"/>
                <a:gd name="connsiteY0" fmla="*/ 266000 h 532000"/>
                <a:gd name="connsiteX1" fmla="*/ 783898 w 1567796"/>
                <a:gd name="connsiteY1" fmla="*/ 0 h 532000"/>
                <a:gd name="connsiteX2" fmla="*/ 1567796 w 1567796"/>
                <a:gd name="connsiteY2" fmla="*/ 266000 h 532000"/>
                <a:gd name="connsiteX3" fmla="*/ 783898 w 1567796"/>
                <a:gd name="connsiteY3" fmla="*/ 532000 h 532000"/>
              </a:gdLst>
              <a:ahLst/>
              <a:cxnLst>
                <a:cxn ang="10800000">
                  <a:pos x="connsiteX0" y="connsiteY0"/>
                </a:cxn>
                <a:cxn ang="16200000">
                  <a:pos x="connsiteX1" y="connsiteY1"/>
                </a:cxn>
                <a:cxn ang="0">
                  <a:pos x="connsiteX2" y="connsiteY2"/>
                </a:cxn>
                <a:cxn ang="5400000">
                  <a:pos x="connsiteX3" y="connsiteY3"/>
                </a:cxn>
              </a:cxnLst>
              <a:rect l="l" t="t" r="r" b="b"/>
              <a:pathLst>
                <a:path w="1567796" h="532000" stroke="0">
                  <a:moveTo>
                    <a:pt x="1567796" y="532000"/>
                  </a:moveTo>
                  <a:lnTo>
                    <a:pt x="1567796" y="0"/>
                  </a:lnTo>
                  <a:lnTo>
                    <a:pt x="0" y="0"/>
                  </a:lnTo>
                  <a:lnTo>
                    <a:pt x="0" y="532000"/>
                  </a:lnTo>
                  <a:lnTo>
                    <a:pt x="1567796" y="532000"/>
                  </a:lnTo>
                  <a:close/>
                </a:path>
                <a:path w="1567796" h="532000" fill="none">
                  <a:moveTo>
                    <a:pt x="1567796" y="532000"/>
                  </a:moveTo>
                  <a:lnTo>
                    <a:pt x="1567796" y="0"/>
                  </a:lnTo>
                  <a:lnTo>
                    <a:pt x="0" y="0"/>
                  </a:lnTo>
                  <a:lnTo>
                    <a:pt x="0" y="532000"/>
                  </a:lnTo>
                  <a:lnTo>
                    <a:pt x="1567796" y="532000"/>
                  </a:lnTo>
                  <a:close/>
                </a:path>
              </a:pathLst>
            </a:custGeom>
          </p:spPr>
          <p:style>
            <a:lnRef idx="2">
              <a:schemeClr val="accent2"/>
            </a:lnRef>
            <a:fillRef idx="0">
              <a:srgbClr val="FFFFFF"/>
            </a:fillRef>
            <a:effectRef idx="0">
              <a:srgbClr val="FFFFFF"/>
            </a:effectRef>
            <a:fontRef idx="minor">
              <a:schemeClr val="tx1"/>
            </a:fontRef>
          </p:style>
          <p:txBody>
            <a:bodyPr wrap="square" lIns="38100" tIns="38100" rIns="38100" bIns="38100" rtlCol="0" anchor="ctr"/>
            <a:p>
              <a:pPr algn="ctr"/>
              <a:r>
                <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抽象接口提取</a:t>
              </a:r>
              <a:endPar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218" name="长方形"/>
            <p:cNvSpPr/>
            <p:nvPr/>
          </p:nvSpPr>
          <p:spPr>
            <a:xfrm>
              <a:off x="15713" y="5048"/>
              <a:ext cx="2086" cy="708"/>
            </a:xfrm>
            <a:custGeom>
              <a:avLst/>
              <a:gdLst>
                <a:gd name="connsiteX0" fmla="*/ 0 w 1567796"/>
                <a:gd name="connsiteY0" fmla="*/ 266000 h 532000"/>
                <a:gd name="connsiteX1" fmla="*/ 783898 w 1567796"/>
                <a:gd name="connsiteY1" fmla="*/ 0 h 532000"/>
                <a:gd name="connsiteX2" fmla="*/ 1567796 w 1567796"/>
                <a:gd name="connsiteY2" fmla="*/ 266000 h 532000"/>
                <a:gd name="connsiteX3" fmla="*/ 783898 w 1567796"/>
                <a:gd name="connsiteY3" fmla="*/ 532000 h 532000"/>
              </a:gdLst>
              <a:ahLst/>
              <a:cxnLst>
                <a:cxn ang="10800000">
                  <a:pos x="connsiteX0" y="connsiteY0"/>
                </a:cxn>
                <a:cxn ang="16200000">
                  <a:pos x="connsiteX1" y="connsiteY1"/>
                </a:cxn>
                <a:cxn ang="0">
                  <a:pos x="connsiteX2" y="connsiteY2"/>
                </a:cxn>
                <a:cxn ang="5400000">
                  <a:pos x="connsiteX3" y="connsiteY3"/>
                </a:cxn>
              </a:cxnLst>
              <a:rect l="l" t="t" r="r" b="b"/>
              <a:pathLst>
                <a:path w="1567796" h="532000" stroke="0">
                  <a:moveTo>
                    <a:pt x="1567796" y="532000"/>
                  </a:moveTo>
                  <a:lnTo>
                    <a:pt x="1567796" y="0"/>
                  </a:lnTo>
                  <a:lnTo>
                    <a:pt x="0" y="0"/>
                  </a:lnTo>
                  <a:lnTo>
                    <a:pt x="0" y="532000"/>
                  </a:lnTo>
                  <a:lnTo>
                    <a:pt x="1567796" y="532000"/>
                  </a:lnTo>
                  <a:close/>
                </a:path>
                <a:path w="1567796" h="532000" fill="none">
                  <a:moveTo>
                    <a:pt x="1567796" y="532000"/>
                  </a:moveTo>
                  <a:lnTo>
                    <a:pt x="1567796" y="0"/>
                  </a:lnTo>
                  <a:lnTo>
                    <a:pt x="0" y="0"/>
                  </a:lnTo>
                  <a:lnTo>
                    <a:pt x="0" y="532000"/>
                  </a:lnTo>
                  <a:lnTo>
                    <a:pt x="1567796" y="532000"/>
                  </a:lnTo>
                  <a:close/>
                </a:path>
              </a:pathLst>
            </a:custGeom>
          </p:spPr>
          <p:style>
            <a:lnRef idx="2">
              <a:schemeClr val="accent2"/>
            </a:lnRef>
            <a:fillRef idx="0">
              <a:srgbClr val="FFFFFF"/>
            </a:fillRef>
            <a:effectRef idx="0">
              <a:srgbClr val="FFFFFF"/>
            </a:effectRef>
            <a:fontRef idx="minor">
              <a:schemeClr val="tx1"/>
            </a:fontRef>
          </p:style>
          <p:txBody>
            <a:bodyPr wrap="square" lIns="38100" tIns="38100" rIns="38100" bIns="38100" rtlCol="0" anchor="ctr"/>
            <a:p>
              <a:pPr algn="ctr"/>
              <a:r>
                <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标准化功能实现</a:t>
              </a:r>
              <a:endPar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219" name="长方形"/>
            <p:cNvSpPr/>
            <p:nvPr/>
          </p:nvSpPr>
          <p:spPr>
            <a:xfrm>
              <a:off x="15713" y="2991"/>
              <a:ext cx="2086" cy="708"/>
            </a:xfrm>
            <a:custGeom>
              <a:avLst/>
              <a:gdLst>
                <a:gd name="connsiteX0" fmla="*/ 0 w 1567796"/>
                <a:gd name="connsiteY0" fmla="*/ 266000 h 532000"/>
                <a:gd name="connsiteX1" fmla="*/ 783898 w 1567796"/>
                <a:gd name="connsiteY1" fmla="*/ 0 h 532000"/>
                <a:gd name="connsiteX2" fmla="*/ 1567796 w 1567796"/>
                <a:gd name="connsiteY2" fmla="*/ 266000 h 532000"/>
                <a:gd name="connsiteX3" fmla="*/ 783898 w 1567796"/>
                <a:gd name="connsiteY3" fmla="*/ 532000 h 532000"/>
              </a:gdLst>
              <a:ahLst/>
              <a:cxnLst>
                <a:cxn ang="10800000">
                  <a:pos x="connsiteX0" y="connsiteY0"/>
                </a:cxn>
                <a:cxn ang="16200000">
                  <a:pos x="connsiteX1" y="connsiteY1"/>
                </a:cxn>
                <a:cxn ang="0">
                  <a:pos x="connsiteX2" y="connsiteY2"/>
                </a:cxn>
                <a:cxn ang="5400000">
                  <a:pos x="connsiteX3" y="connsiteY3"/>
                </a:cxn>
              </a:cxnLst>
              <a:rect l="l" t="t" r="r" b="b"/>
              <a:pathLst>
                <a:path w="1567796" h="532000" stroke="0">
                  <a:moveTo>
                    <a:pt x="1567796" y="532000"/>
                  </a:moveTo>
                  <a:lnTo>
                    <a:pt x="1567796" y="0"/>
                  </a:lnTo>
                  <a:lnTo>
                    <a:pt x="0" y="0"/>
                  </a:lnTo>
                  <a:lnTo>
                    <a:pt x="0" y="532000"/>
                  </a:lnTo>
                  <a:lnTo>
                    <a:pt x="1567796" y="532000"/>
                  </a:lnTo>
                  <a:close/>
                </a:path>
                <a:path w="1567796" h="532000" fill="none">
                  <a:moveTo>
                    <a:pt x="1567796" y="532000"/>
                  </a:moveTo>
                  <a:lnTo>
                    <a:pt x="1567796" y="0"/>
                  </a:lnTo>
                  <a:lnTo>
                    <a:pt x="0" y="0"/>
                  </a:lnTo>
                  <a:lnTo>
                    <a:pt x="0" y="532000"/>
                  </a:lnTo>
                  <a:lnTo>
                    <a:pt x="1567796" y="532000"/>
                  </a:lnTo>
                  <a:close/>
                </a:path>
              </a:pathLst>
            </a:custGeom>
          </p:spPr>
          <p:style>
            <a:lnRef idx="2">
              <a:schemeClr val="accent2"/>
            </a:lnRef>
            <a:fillRef idx="0">
              <a:srgbClr val="FFFFFF"/>
            </a:fillRef>
            <a:effectRef idx="0">
              <a:srgbClr val="FFFFFF"/>
            </a:effectRef>
            <a:fontRef idx="minor">
              <a:schemeClr val="tx1"/>
            </a:fontRef>
          </p:style>
          <p:txBody>
            <a:bodyPr wrap="square" lIns="38100" tIns="38100" rIns="38100" bIns="38100" rtlCol="0" anchor="ctr"/>
            <a:p>
              <a:pPr algn="ctr"/>
              <a:r>
                <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个性化业务适配</a:t>
              </a:r>
              <a:endPar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220" name="长方形"/>
            <p:cNvSpPr/>
            <p:nvPr/>
          </p:nvSpPr>
          <p:spPr>
            <a:xfrm>
              <a:off x="15713" y="1865"/>
              <a:ext cx="2086" cy="708"/>
            </a:xfrm>
            <a:custGeom>
              <a:avLst/>
              <a:gdLst>
                <a:gd name="connsiteX0" fmla="*/ 0 w 1567796"/>
                <a:gd name="connsiteY0" fmla="*/ 266000 h 532000"/>
                <a:gd name="connsiteX1" fmla="*/ 783898 w 1567796"/>
                <a:gd name="connsiteY1" fmla="*/ 0 h 532000"/>
                <a:gd name="connsiteX2" fmla="*/ 1567796 w 1567796"/>
                <a:gd name="connsiteY2" fmla="*/ 266000 h 532000"/>
                <a:gd name="connsiteX3" fmla="*/ 783898 w 1567796"/>
                <a:gd name="connsiteY3" fmla="*/ 532000 h 532000"/>
              </a:gdLst>
              <a:ahLst/>
              <a:cxnLst>
                <a:cxn ang="10800000">
                  <a:pos x="connsiteX0" y="connsiteY0"/>
                </a:cxn>
                <a:cxn ang="16200000">
                  <a:pos x="connsiteX1" y="connsiteY1"/>
                </a:cxn>
                <a:cxn ang="0">
                  <a:pos x="connsiteX2" y="connsiteY2"/>
                </a:cxn>
                <a:cxn ang="5400000">
                  <a:pos x="connsiteX3" y="connsiteY3"/>
                </a:cxn>
              </a:cxnLst>
              <a:rect l="l" t="t" r="r" b="b"/>
              <a:pathLst>
                <a:path w="1567796" h="532000" stroke="0">
                  <a:moveTo>
                    <a:pt x="1567796" y="532000"/>
                  </a:moveTo>
                  <a:lnTo>
                    <a:pt x="1567796" y="0"/>
                  </a:lnTo>
                  <a:lnTo>
                    <a:pt x="0" y="0"/>
                  </a:lnTo>
                  <a:lnTo>
                    <a:pt x="0" y="532000"/>
                  </a:lnTo>
                  <a:lnTo>
                    <a:pt x="1567796" y="532000"/>
                  </a:lnTo>
                  <a:close/>
                </a:path>
                <a:path w="1567796" h="532000" fill="none">
                  <a:moveTo>
                    <a:pt x="1567796" y="532000"/>
                  </a:moveTo>
                  <a:lnTo>
                    <a:pt x="1567796" y="0"/>
                  </a:lnTo>
                  <a:lnTo>
                    <a:pt x="0" y="0"/>
                  </a:lnTo>
                  <a:lnTo>
                    <a:pt x="0" y="532000"/>
                  </a:lnTo>
                  <a:lnTo>
                    <a:pt x="1567796" y="532000"/>
                  </a:lnTo>
                  <a:close/>
                </a:path>
              </a:pathLst>
            </a:custGeom>
          </p:spPr>
          <p:style>
            <a:lnRef idx="2">
              <a:schemeClr val="accent2"/>
            </a:lnRef>
            <a:fillRef idx="0">
              <a:srgbClr val="FFFFFF"/>
            </a:fillRef>
            <a:effectRef idx="0">
              <a:srgbClr val="FFFFFF"/>
            </a:effectRef>
            <a:fontRef idx="minor">
              <a:schemeClr val="tx1"/>
            </a:fontRef>
          </p:style>
          <p:txBody>
            <a:bodyPr wrap="square" lIns="38100" tIns="38100" rIns="38100" bIns="38100" rtlCol="0" anchor="ctr"/>
            <a:p>
              <a:pPr algn="ctr"/>
              <a:r>
                <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专用软件</a:t>
              </a:r>
              <a:endParaRPr lang="zh-CN" altLang="en-US" sz="1200" b="1" dirty="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a:off x="8462" y="1866"/>
              <a:ext cx="5936" cy="384"/>
              <a:chOff x="8462" y="1866"/>
              <a:chExt cx="6523" cy="384"/>
            </a:xfrm>
          </p:grpSpPr>
          <p:sp>
            <p:nvSpPr>
              <p:cNvPr id="7" name="长方形"/>
              <p:cNvSpPr/>
              <p:nvPr/>
            </p:nvSpPr>
            <p:spPr>
              <a:xfrm>
                <a:off x="8462" y="1866"/>
                <a:ext cx="1153" cy="38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汽车</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长方形"/>
              <p:cNvSpPr/>
              <p:nvPr/>
            </p:nvSpPr>
            <p:spPr>
              <a:xfrm>
                <a:off x="9815" y="1866"/>
                <a:ext cx="1153" cy="38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船舶</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长方形"/>
              <p:cNvSpPr/>
              <p:nvPr/>
            </p:nvSpPr>
            <p:spPr>
              <a:xfrm>
                <a:off x="11122" y="1866"/>
                <a:ext cx="1153" cy="38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航空</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长方形"/>
              <p:cNvSpPr/>
              <p:nvPr/>
            </p:nvSpPr>
            <p:spPr>
              <a:xfrm>
                <a:off x="12480" y="1866"/>
                <a:ext cx="1153" cy="38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航发</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长方形"/>
              <p:cNvSpPr/>
              <p:nvPr/>
            </p:nvSpPr>
            <p:spPr>
              <a:xfrm>
                <a:off x="13833" y="1866"/>
                <a:ext cx="1153" cy="385"/>
              </a:xfrm>
              <a:custGeom>
                <a:avLst/>
                <a:gdLst>
                  <a:gd name="connsiteX0" fmla="*/ 0 w 1869076"/>
                  <a:gd name="connsiteY0" fmla="*/ 144400 h 288800"/>
                  <a:gd name="connsiteX1" fmla="*/ 934538 w 1869076"/>
                  <a:gd name="connsiteY1" fmla="*/ 0 h 288800"/>
                  <a:gd name="connsiteX2" fmla="*/ 1869076 w 1869076"/>
                  <a:gd name="connsiteY2" fmla="*/ 144400 h 288800"/>
                  <a:gd name="connsiteX3" fmla="*/ 934538 w 1869076"/>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869076" h="288800" stroke="0">
                    <a:moveTo>
                      <a:pt x="1869076" y="288800"/>
                    </a:moveTo>
                    <a:lnTo>
                      <a:pt x="1869076" y="0"/>
                    </a:lnTo>
                    <a:lnTo>
                      <a:pt x="0" y="0"/>
                    </a:lnTo>
                    <a:lnTo>
                      <a:pt x="0" y="288800"/>
                    </a:lnTo>
                    <a:lnTo>
                      <a:pt x="1869076" y="288800"/>
                    </a:lnTo>
                    <a:close/>
                  </a:path>
                  <a:path w="1869076" h="288800" fill="none">
                    <a:moveTo>
                      <a:pt x="1869076" y="288800"/>
                    </a:moveTo>
                    <a:lnTo>
                      <a:pt x="1869076" y="0"/>
                    </a:lnTo>
                    <a:lnTo>
                      <a:pt x="0" y="0"/>
                    </a:lnTo>
                    <a:lnTo>
                      <a:pt x="0" y="288800"/>
                    </a:lnTo>
                    <a:lnTo>
                      <a:pt x="1869076" y="288800"/>
                    </a:lnTo>
                    <a:close/>
                  </a:path>
                </a:pathLst>
              </a:custGeom>
              <a:solidFill>
                <a:srgbClr val="E08A13"/>
              </a:solidFill>
              <a:ln w="7600" cap="flat">
                <a:noFill/>
                <a:miter/>
              </a:ln>
            </p:spPr>
            <p:txBody>
              <a:bodyPr wrap="square" lIns="38100" tIns="38100" rIns="38100" bIns="38100" rtlCol="0" anchor="ctr"/>
              <a:p>
                <a:pPr algn="ctr"/>
                <a:r>
                  <a:rPr lang="zh-CN" altLang="en-US" sz="810" dirty="0">
                    <a:solidFill>
                      <a:srgbClr val="FFFFFF"/>
                    </a:solidFill>
                    <a:latin typeface="微软雅黑" panose="020B0503020204020204" charset="-122"/>
                    <a:ea typeface="微软雅黑" panose="020B0503020204020204" charset="-122"/>
                    <a:cs typeface="微软雅黑" panose="020B0503020204020204" charset="-122"/>
                  </a:rPr>
                  <a:t>其他</a:t>
                </a:r>
                <a:endParaRPr lang="zh-CN" altLang="en-US" sz="810"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3" name="长方形"/>
            <p:cNvSpPr/>
            <p:nvPr/>
          </p:nvSpPr>
          <p:spPr>
            <a:xfrm>
              <a:off x="2911" y="4249"/>
              <a:ext cx="1404" cy="1151"/>
            </a:xfrm>
            <a:custGeom>
              <a:avLst/>
              <a:gdLst>
                <a:gd name="connsiteX0" fmla="*/ 0 w 1564528"/>
                <a:gd name="connsiteY0" fmla="*/ 144400 h 288800"/>
                <a:gd name="connsiteX1" fmla="*/ 782264 w 1564528"/>
                <a:gd name="connsiteY1" fmla="*/ 0 h 288800"/>
                <a:gd name="connsiteX2" fmla="*/ 1564528 w 1564528"/>
                <a:gd name="connsiteY2" fmla="*/ 144400 h 288800"/>
                <a:gd name="connsiteX3" fmla="*/ 782264 w 1564528"/>
                <a:gd name="connsiteY3" fmla="*/ 288800 h 288800"/>
              </a:gdLst>
              <a:ahLst/>
              <a:cxnLst>
                <a:cxn ang="10800000">
                  <a:pos x="connsiteX0" y="connsiteY0"/>
                </a:cxn>
                <a:cxn ang="16200000">
                  <a:pos x="connsiteX1" y="connsiteY1"/>
                </a:cxn>
                <a:cxn ang="0">
                  <a:pos x="connsiteX2" y="connsiteY2"/>
                </a:cxn>
                <a:cxn ang="5400000">
                  <a:pos x="connsiteX3" y="connsiteY3"/>
                </a:cxn>
              </a:cxnLst>
              <a:rect l="l" t="t" r="r" b="b"/>
              <a:pathLst>
                <a:path w="1564528" h="288800" stroke="0">
                  <a:moveTo>
                    <a:pt x="1564528" y="288800"/>
                  </a:moveTo>
                  <a:lnTo>
                    <a:pt x="1564528" y="0"/>
                  </a:lnTo>
                  <a:lnTo>
                    <a:pt x="0" y="0"/>
                  </a:lnTo>
                  <a:lnTo>
                    <a:pt x="0" y="288800"/>
                  </a:lnTo>
                  <a:lnTo>
                    <a:pt x="1564528" y="288800"/>
                  </a:lnTo>
                  <a:close/>
                </a:path>
                <a:path w="1564528" h="288800" fill="none">
                  <a:moveTo>
                    <a:pt x="1564528" y="288800"/>
                  </a:moveTo>
                  <a:lnTo>
                    <a:pt x="1564528" y="0"/>
                  </a:lnTo>
                  <a:lnTo>
                    <a:pt x="0" y="0"/>
                  </a:lnTo>
                  <a:lnTo>
                    <a:pt x="0" y="288800"/>
                  </a:lnTo>
                  <a:lnTo>
                    <a:pt x="1564528" y="288800"/>
                  </a:lnTo>
                  <a:close/>
                </a:path>
              </a:pathLst>
            </a:custGeom>
            <a:solidFill>
              <a:srgbClr val="0070C0"/>
            </a:solidFill>
            <a:ln w="7600" cap="flat">
              <a:noFill/>
              <a:miter/>
            </a:ln>
          </p:spPr>
          <p:txBody>
            <a:bodyPr wrap="square" lIns="38100" tIns="38100" rIns="38100" bIns="38100" rtlCol="0" anchor="ctr"/>
            <a:p>
              <a:pPr algn="ctr"/>
              <a:r>
                <a:rPr lang="zh-CN" altLang="en-US" sz="1010" dirty="0">
                  <a:solidFill>
                    <a:srgbClr val="FFFFFF"/>
                  </a:solidFill>
                  <a:latin typeface="微软雅黑" panose="020B0503020204020204" charset="-122"/>
                  <a:ea typeface="微软雅黑" panose="020B0503020204020204" charset="-122"/>
                  <a:cs typeface="微软雅黑" panose="020B0503020204020204" charset="-122"/>
                </a:rPr>
                <a:t>商业成熟</a:t>
              </a:r>
              <a:endParaRPr lang="zh-CN" altLang="en-US" sz="1010" dirty="0">
                <a:solidFill>
                  <a:srgbClr val="FFFFFF"/>
                </a:solidFill>
                <a:latin typeface="微软雅黑" panose="020B0503020204020204" charset="-122"/>
                <a:ea typeface="微软雅黑" panose="020B0503020204020204" charset="-122"/>
                <a:cs typeface="微软雅黑" panose="020B0503020204020204" charset="-122"/>
              </a:endParaRPr>
            </a:p>
            <a:p>
              <a:pPr algn="ctr"/>
              <a:r>
                <a:rPr lang="zh-CN" altLang="en-US" sz="1010" dirty="0">
                  <a:solidFill>
                    <a:srgbClr val="FFFFFF"/>
                  </a:solidFill>
                  <a:latin typeface="微软雅黑" panose="020B0503020204020204" charset="-122"/>
                  <a:ea typeface="微软雅黑" panose="020B0503020204020204" charset="-122"/>
                  <a:cs typeface="微软雅黑" panose="020B0503020204020204" charset="-122"/>
                </a:rPr>
                <a:t>组件</a:t>
              </a:r>
              <a:endParaRPr lang="zh-CN" altLang="en-US" sz="101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910" y="5454"/>
              <a:ext cx="831" cy="871"/>
            </a:xfrm>
            <a:prstGeom prst="rect">
              <a:avLst/>
            </a:prstGeom>
            <a:noFill/>
          </p:spPr>
          <p:txBody>
            <a:bodyPr wrap="square" rtlCol="0">
              <a:spAutoFit/>
            </a:bodyPr>
            <a:p>
              <a:r>
                <a:rPr lang="zh-CN" altLang="en-US" sz="1000">
                  <a:latin typeface="微软雅黑" panose="020B0503020204020204" charset="-122"/>
                  <a:ea typeface="微软雅黑" panose="020B0503020204020204" charset="-122"/>
                </a:rPr>
                <a:t>指导</a:t>
              </a:r>
              <a:endParaRPr lang="zh-CN" altLang="en-US" sz="1000">
                <a:latin typeface="微软雅黑" panose="020B0503020204020204" charset="-122"/>
                <a:ea typeface="微软雅黑" panose="020B0503020204020204" charset="-122"/>
              </a:endParaRPr>
            </a:p>
            <a:p>
              <a:r>
                <a:rPr lang="zh-CN" altLang="en-US" sz="1000">
                  <a:latin typeface="微软雅黑" panose="020B0503020204020204" charset="-122"/>
                  <a:ea typeface="微软雅黑" panose="020B0503020204020204" charset="-122"/>
                </a:rPr>
                <a:t>修正</a:t>
              </a:r>
              <a:endParaRPr lang="zh-CN" altLang="en-US" sz="1000">
                <a:latin typeface="微软雅黑" panose="020B0503020204020204" charset="-122"/>
                <a:ea typeface="微软雅黑" panose="020B0503020204020204" charset="-122"/>
              </a:endParaRPr>
            </a:p>
            <a:p>
              <a:r>
                <a:rPr lang="zh-CN" altLang="en-US" sz="1000">
                  <a:latin typeface="微软雅黑" panose="020B0503020204020204" charset="-122"/>
                  <a:ea typeface="微软雅黑" panose="020B0503020204020204" charset="-122"/>
                </a:rPr>
                <a:t>接口</a:t>
              </a:r>
              <a:endParaRPr lang="zh-CN" altLang="en-US" sz="1000">
                <a:latin typeface="微软雅黑" panose="020B0503020204020204" charset="-122"/>
                <a:ea typeface="微软雅黑" panose="020B0503020204020204" charset="-122"/>
              </a:endParaRPr>
            </a:p>
          </p:txBody>
        </p:sp>
        <p:sp>
          <p:nvSpPr>
            <p:cNvPr id="6" name="燕尾形箭头 5"/>
            <p:cNvSpPr/>
            <p:nvPr/>
          </p:nvSpPr>
          <p:spPr>
            <a:xfrm rot="5400000">
              <a:off x="3238" y="5721"/>
              <a:ext cx="1212" cy="680"/>
            </a:xfrm>
            <a:prstGeom prst="notchedRightArrow">
              <a:avLst/>
            </a:prstGeom>
            <a:solidFill>
              <a:schemeClr val="bg1"/>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燕尾形箭头 7"/>
            <p:cNvSpPr/>
            <p:nvPr/>
          </p:nvSpPr>
          <p:spPr>
            <a:xfrm rot="16200000">
              <a:off x="16236" y="8381"/>
              <a:ext cx="1039" cy="637"/>
            </a:xfrm>
            <a:prstGeom prst="notchedRightArrow">
              <a:avLst/>
            </a:prstGeom>
            <a:solidFill>
              <a:schemeClr val="bg1"/>
            </a:solidFill>
          </p:spPr>
          <p:style>
            <a:lnRef idx="2">
              <a:schemeClr val="accent5"/>
            </a:lnRef>
            <a:fillRef idx="0">
              <a:srgbClr val="FFFFFF"/>
            </a:fillRef>
            <a:effectRef idx="0">
              <a:srgbClr val="FFFFFF"/>
            </a:effectRef>
            <a:fontRef idx="minor">
              <a:schemeClr val="tx1"/>
            </a:fontRef>
          </p:style>
          <p:txBody>
            <a:bodyPr rtlCol="0" anchor="ctr"/>
            <a:p>
              <a:pPr algn="ctr"/>
              <a:endParaRPr lang="zh-CN" altLang="en-US"/>
            </a:p>
          </p:txBody>
        </p:sp>
        <p:sp>
          <p:nvSpPr>
            <p:cNvPr id="14" name="燕尾形箭头 13"/>
            <p:cNvSpPr/>
            <p:nvPr/>
          </p:nvSpPr>
          <p:spPr>
            <a:xfrm rot="16200000">
              <a:off x="16064" y="6285"/>
              <a:ext cx="1383" cy="637"/>
            </a:xfrm>
            <a:prstGeom prst="notchedRightArrow">
              <a:avLst/>
            </a:prstGeom>
            <a:solidFill>
              <a:schemeClr val="bg1"/>
            </a:solidFill>
          </p:spPr>
          <p:style>
            <a:lnRef idx="2">
              <a:schemeClr val="accent5"/>
            </a:lnRef>
            <a:fillRef idx="0">
              <a:srgbClr val="FFFFFF"/>
            </a:fillRef>
            <a:effectRef idx="0">
              <a:srgbClr val="FFFFFF"/>
            </a:effectRef>
            <a:fontRef idx="minor">
              <a:schemeClr val="tx1"/>
            </a:fontRef>
          </p:style>
          <p:txBody>
            <a:bodyPr rtlCol="0" anchor="ctr"/>
            <a:p>
              <a:pPr algn="ctr"/>
              <a:endParaRPr lang="zh-CN" altLang="en-US"/>
            </a:p>
          </p:txBody>
        </p:sp>
        <p:sp>
          <p:nvSpPr>
            <p:cNvPr id="18" name="燕尾形箭头 17"/>
            <p:cNvSpPr/>
            <p:nvPr/>
          </p:nvSpPr>
          <p:spPr>
            <a:xfrm rot="16200000">
              <a:off x="16184" y="4055"/>
              <a:ext cx="1143" cy="637"/>
            </a:xfrm>
            <a:prstGeom prst="notchedRightArrow">
              <a:avLst/>
            </a:prstGeom>
            <a:solidFill>
              <a:schemeClr val="bg1"/>
            </a:solidFill>
          </p:spPr>
          <p:style>
            <a:lnRef idx="2">
              <a:schemeClr val="accent5"/>
            </a:lnRef>
            <a:fillRef idx="0">
              <a:srgbClr val="FFFFFF"/>
            </a:fillRef>
            <a:effectRef idx="0">
              <a:srgbClr val="FFFFFF"/>
            </a:effectRef>
            <a:fontRef idx="minor">
              <a:schemeClr val="tx1"/>
            </a:fontRef>
          </p:style>
          <p:txBody>
            <a:bodyPr rtlCol="0" anchor="ctr"/>
            <a:p>
              <a:pPr algn="ctr"/>
              <a:endParaRPr lang="zh-CN" altLang="en-US"/>
            </a:p>
          </p:txBody>
        </p:sp>
        <p:sp>
          <p:nvSpPr>
            <p:cNvPr id="29" name="燕尾形箭头 28"/>
            <p:cNvSpPr/>
            <p:nvPr/>
          </p:nvSpPr>
          <p:spPr>
            <a:xfrm rot="16200000">
              <a:off x="16611" y="2455"/>
              <a:ext cx="291" cy="637"/>
            </a:xfrm>
            <a:prstGeom prst="notchedRightArrow">
              <a:avLst/>
            </a:prstGeom>
            <a:solidFill>
              <a:schemeClr val="bg1"/>
            </a:solidFill>
          </p:spPr>
          <p:style>
            <a:lnRef idx="2">
              <a:schemeClr val="accent5"/>
            </a:lnRef>
            <a:fillRef idx="0">
              <a:srgbClr val="FFFFFF"/>
            </a:fillRef>
            <a:effectRef idx="0">
              <a:srgbClr val="FFFFFF"/>
            </a:effectRef>
            <a:fontRef idx="minor">
              <a:schemeClr val="tx1"/>
            </a:fontRef>
          </p:style>
          <p:txBody>
            <a:bodyPr rtlCol="0" anchor="ctr"/>
            <a:p>
              <a:pPr algn="ctr"/>
              <a:endParaRPr lang="zh-CN" altLang="en-US"/>
            </a:p>
          </p:txBody>
        </p:sp>
        <p:sp>
          <p:nvSpPr>
            <p:cNvPr id="30" name="左右箭头 29"/>
            <p:cNvSpPr/>
            <p:nvPr/>
          </p:nvSpPr>
          <p:spPr>
            <a:xfrm>
              <a:off x="1855" y="2888"/>
              <a:ext cx="606" cy="379"/>
            </a:xfrm>
            <a:prstGeom prst="leftRightArrow">
              <a:avLst/>
            </a:prstGeom>
            <a:ln w="3175">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左右箭头 30"/>
            <p:cNvSpPr/>
            <p:nvPr/>
          </p:nvSpPr>
          <p:spPr>
            <a:xfrm>
              <a:off x="1855" y="9955"/>
              <a:ext cx="606" cy="379"/>
            </a:xfrm>
            <a:prstGeom prst="leftRightArrow">
              <a:avLst/>
            </a:prstGeom>
            <a:ln w="3175">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左右箭头 34"/>
            <p:cNvSpPr/>
            <p:nvPr/>
          </p:nvSpPr>
          <p:spPr>
            <a:xfrm>
              <a:off x="1855" y="7495"/>
              <a:ext cx="606" cy="379"/>
            </a:xfrm>
            <a:prstGeom prst="leftRightArrow">
              <a:avLst/>
            </a:prstGeom>
            <a:ln w="3175">
              <a:solidFill>
                <a:srgbClr val="0070C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nvGrpSpPr>
          <p:cNvPr id="41" name="组合 40"/>
          <p:cNvGrpSpPr/>
          <p:nvPr/>
        </p:nvGrpSpPr>
        <p:grpSpPr>
          <a:xfrm>
            <a:off x="571183" y="448672"/>
            <a:ext cx="1990507" cy="460800"/>
            <a:chOff x="531813" y="438512"/>
            <a:chExt cx="1990507" cy="460800"/>
          </a:xfrm>
        </p:grpSpPr>
        <p:grpSp>
          <p:nvGrpSpPr>
            <p:cNvPr id="43" name="组合 69"/>
            <p:cNvGrpSpPr/>
            <p:nvPr/>
          </p:nvGrpSpPr>
          <p:grpSpPr>
            <a:xfrm>
              <a:off x="531813" y="438512"/>
              <a:ext cx="1781401" cy="460800"/>
              <a:chOff x="2305585" y="1928066"/>
              <a:chExt cx="2104868" cy="521276"/>
            </a:xfrm>
          </p:grpSpPr>
          <p:sp>
            <p:nvSpPr>
              <p:cNvPr id="45" name="圆角矩形 4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44"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03</a:t>
              </a:r>
              <a:endParaRPr lang="zh-CN" altLang="en-US" sz="1600" dirty="0">
                <a:latin typeface="微软雅黑 Light" panose="020B0502040204020203" pitchFamily="34" charset="-122"/>
                <a:ea typeface="微软雅黑 Light" panose="020B0502040204020203" pitchFamily="34" charset="-122"/>
              </a:endParaRPr>
            </a:p>
          </p:txBody>
        </p:sp>
      </p:grpSp>
    </p:spTree>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1"/>
          <a:stretch>
            <a:fillRect/>
          </a:stretch>
        </p:blipFill>
        <p:spPr>
          <a:xfrm>
            <a:off x="570230" y="2199005"/>
            <a:ext cx="1400810" cy="1144270"/>
          </a:xfrm>
          <a:prstGeom prst="rect">
            <a:avLst/>
          </a:prstGeom>
          <a:ln>
            <a:solidFill>
              <a:schemeClr val="tx2">
                <a:lumMod val="75000"/>
              </a:schemeClr>
            </a:solidFill>
          </a:ln>
        </p:spPr>
      </p:pic>
      <p:pic>
        <p:nvPicPr>
          <p:cNvPr id="21" name="图片 20"/>
          <p:cNvPicPr>
            <a:picLocks noChangeAspect="1"/>
          </p:cNvPicPr>
          <p:nvPr/>
        </p:nvPicPr>
        <p:blipFill>
          <a:blip r:embed="rId2"/>
          <a:stretch>
            <a:fillRect/>
          </a:stretch>
        </p:blipFill>
        <p:spPr>
          <a:xfrm>
            <a:off x="1996440" y="2237105"/>
            <a:ext cx="1400810" cy="1144270"/>
          </a:xfrm>
          <a:prstGeom prst="rect">
            <a:avLst/>
          </a:prstGeom>
          <a:ln>
            <a:solidFill>
              <a:schemeClr val="bg2">
                <a:lumMod val="50000"/>
              </a:schemeClr>
            </a:solidFill>
          </a:ln>
        </p:spPr>
      </p:pic>
      <p:pic>
        <p:nvPicPr>
          <p:cNvPr id="22" name="图片 21"/>
          <p:cNvPicPr>
            <a:picLocks noChangeAspect="1"/>
          </p:cNvPicPr>
          <p:nvPr/>
        </p:nvPicPr>
        <p:blipFill>
          <a:blip r:embed="rId3"/>
          <a:srcRect l="856" t="1384" r="981"/>
          <a:stretch>
            <a:fillRect/>
          </a:stretch>
        </p:blipFill>
        <p:spPr>
          <a:xfrm>
            <a:off x="1996440" y="3343275"/>
            <a:ext cx="1400810" cy="1144270"/>
          </a:xfrm>
          <a:prstGeom prst="rect">
            <a:avLst/>
          </a:prstGeom>
          <a:ln>
            <a:solidFill>
              <a:schemeClr val="bg2">
                <a:lumMod val="50000"/>
              </a:schemeClr>
            </a:solidFill>
          </a:ln>
        </p:spPr>
      </p:pic>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产品组成</a:t>
              </a:r>
              <a:endParaRPr lang="zh-CN" altLang="en-US" sz="14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46418" y="438512"/>
            <a:ext cx="1975902" cy="460800"/>
            <a:chOff x="546418" y="438512"/>
            <a:chExt cx="1975902" cy="460800"/>
          </a:xfrm>
        </p:grpSpPr>
        <p:grpSp>
          <p:nvGrpSpPr>
            <p:cNvPr id="56" name="组合 69"/>
            <p:cNvGrpSpPr/>
            <p:nvPr/>
          </p:nvGrpSpPr>
          <p:grpSpPr>
            <a:xfrm>
              <a:off x="546418" y="438512"/>
              <a:ext cx="1766796" cy="460800"/>
              <a:chOff x="2322842" y="1928066"/>
              <a:chExt cx="2087611"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22842"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4" name="矩形 3"/>
          <p:cNvSpPr/>
          <p:nvPr/>
        </p:nvSpPr>
        <p:spPr>
          <a:xfrm>
            <a:off x="1166495" y="5885815"/>
            <a:ext cx="10020300" cy="502285"/>
          </a:xfrm>
          <a:prstGeom prst="rect">
            <a:avLst/>
          </a:prstGeom>
          <a:solidFill>
            <a:srgbClr val="8E6BF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solidFill>
                  <a:schemeClr val="bg1"/>
                </a:solidFill>
                <a:latin typeface="微软雅黑" panose="020B0503020204020204" charset="-122"/>
                <a:ea typeface="微软雅黑" panose="020B0503020204020204" charset="-122"/>
                <a:cs typeface="宋体" panose="02010600030101010101" pitchFamily="2" charset="-122"/>
              </a:rPr>
              <a:t>基础底座</a:t>
            </a:r>
            <a:endParaRPr lang="zh-CN" altLang="en-US" dirty="0" smtClean="0">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9" name="上箭头 8"/>
          <p:cNvSpPr/>
          <p:nvPr/>
        </p:nvSpPr>
        <p:spPr>
          <a:xfrm>
            <a:off x="2127885" y="5333365"/>
            <a:ext cx="581025" cy="333375"/>
          </a:xfrm>
          <a:prstGeom prs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0" name="上箭头 9"/>
          <p:cNvSpPr/>
          <p:nvPr/>
        </p:nvSpPr>
        <p:spPr>
          <a:xfrm>
            <a:off x="9943465" y="5333365"/>
            <a:ext cx="581025" cy="333375"/>
          </a:xfrm>
          <a:prstGeom prs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1" name="上箭头 10"/>
          <p:cNvSpPr/>
          <p:nvPr/>
        </p:nvSpPr>
        <p:spPr>
          <a:xfrm>
            <a:off x="6012815" y="5333365"/>
            <a:ext cx="581025" cy="333375"/>
          </a:xfrm>
          <a:prstGeom prs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pic>
        <p:nvPicPr>
          <p:cNvPr id="17" name="图片 16"/>
          <p:cNvPicPr>
            <a:picLocks noChangeAspect="1"/>
          </p:cNvPicPr>
          <p:nvPr/>
        </p:nvPicPr>
        <p:blipFill>
          <a:blip r:embed="rId5"/>
          <a:stretch>
            <a:fillRect/>
          </a:stretch>
        </p:blipFill>
        <p:spPr>
          <a:xfrm>
            <a:off x="547370" y="1056640"/>
            <a:ext cx="1400810" cy="1144270"/>
          </a:xfrm>
          <a:prstGeom prst="rect">
            <a:avLst/>
          </a:prstGeom>
        </p:spPr>
      </p:pic>
      <p:pic>
        <p:nvPicPr>
          <p:cNvPr id="18" name="图片 17"/>
          <p:cNvPicPr>
            <a:picLocks noChangeAspect="1"/>
          </p:cNvPicPr>
          <p:nvPr/>
        </p:nvPicPr>
        <p:blipFill>
          <a:blip r:embed="rId6"/>
          <a:stretch>
            <a:fillRect/>
          </a:stretch>
        </p:blipFill>
        <p:spPr>
          <a:xfrm>
            <a:off x="575945" y="3362325"/>
            <a:ext cx="1400810" cy="1144270"/>
          </a:xfrm>
          <a:prstGeom prst="rect">
            <a:avLst/>
          </a:prstGeom>
          <a:ln w="12700" cmpd="sng">
            <a:solidFill>
              <a:schemeClr val="accent1">
                <a:shade val="50000"/>
              </a:schemeClr>
            </a:solidFill>
            <a:prstDash val="solid"/>
          </a:ln>
        </p:spPr>
      </p:pic>
      <p:pic>
        <p:nvPicPr>
          <p:cNvPr id="19" name="图片 18" descr="图片1"/>
          <p:cNvPicPr>
            <a:picLocks noChangeAspect="1"/>
          </p:cNvPicPr>
          <p:nvPr/>
        </p:nvPicPr>
        <p:blipFill>
          <a:blip r:embed="rId7"/>
          <a:srcRect l="16568" t="19074" r="-307" b="23185"/>
          <a:stretch>
            <a:fillRect/>
          </a:stretch>
        </p:blipFill>
        <p:spPr>
          <a:xfrm>
            <a:off x="1986915" y="1056640"/>
            <a:ext cx="1400810" cy="1144270"/>
          </a:xfrm>
          <a:prstGeom prst="rect">
            <a:avLst/>
          </a:prstGeom>
          <a:ln>
            <a:solidFill>
              <a:schemeClr val="bg1">
                <a:lumMod val="65000"/>
              </a:schemeClr>
            </a:solidFill>
          </a:ln>
        </p:spPr>
      </p:pic>
      <p:sp>
        <p:nvSpPr>
          <p:cNvPr id="26" name="文本框 25"/>
          <p:cNvSpPr txBox="1"/>
          <p:nvPr/>
        </p:nvSpPr>
        <p:spPr>
          <a:xfrm>
            <a:off x="547370" y="4769485"/>
            <a:ext cx="3482340" cy="368300"/>
          </a:xfrm>
          <a:prstGeom prst="rect">
            <a:avLst/>
          </a:prstGeom>
          <a:noFill/>
        </p:spPr>
        <p:txBody>
          <a:bodyPr wrap="square" rtlCol="0">
            <a:spAutoFit/>
          </a:bodyPr>
          <a:p>
            <a:pPr algn="ctr"/>
            <a:r>
              <a:rPr lang="zh-CN" altLang="en-US" b="1">
                <a:latin typeface="微软雅黑" panose="020B0503020204020204" charset="-122"/>
                <a:ea typeface="微软雅黑" panose="020B0503020204020204" charset="-122"/>
              </a:rPr>
              <a:t>功能组件库</a:t>
            </a:r>
            <a:endParaRPr lang="zh-CN" altLang="en-US" b="1">
              <a:latin typeface="微软雅黑" panose="020B0503020204020204" charset="-122"/>
              <a:ea typeface="微软雅黑" panose="020B0503020204020204" charset="-122"/>
            </a:endParaRPr>
          </a:p>
        </p:txBody>
      </p:sp>
      <p:pic>
        <p:nvPicPr>
          <p:cNvPr id="27" name="图片 26"/>
          <p:cNvPicPr>
            <a:picLocks noChangeAspect="1"/>
          </p:cNvPicPr>
          <p:nvPr/>
        </p:nvPicPr>
        <p:blipFill>
          <a:blip r:embed="rId8"/>
          <a:stretch>
            <a:fillRect/>
          </a:stretch>
        </p:blipFill>
        <p:spPr>
          <a:xfrm>
            <a:off x="4913630" y="1169035"/>
            <a:ext cx="2522855" cy="1572895"/>
          </a:xfrm>
          <a:prstGeom prst="rect">
            <a:avLst/>
          </a:prstGeom>
          <a:ln>
            <a:solidFill>
              <a:schemeClr val="tx1">
                <a:lumMod val="75000"/>
                <a:lumOff val="25000"/>
              </a:schemeClr>
            </a:solidFill>
          </a:ln>
        </p:spPr>
      </p:pic>
      <p:pic>
        <p:nvPicPr>
          <p:cNvPr id="28" name="图片 27"/>
          <p:cNvPicPr>
            <a:picLocks noChangeAspect="1"/>
          </p:cNvPicPr>
          <p:nvPr/>
        </p:nvPicPr>
        <p:blipFill>
          <a:blip r:embed="rId9"/>
          <a:stretch>
            <a:fillRect/>
          </a:stretch>
        </p:blipFill>
        <p:spPr>
          <a:xfrm>
            <a:off x="4913630" y="2746375"/>
            <a:ext cx="2523490" cy="1573530"/>
          </a:xfrm>
          <a:prstGeom prst="rect">
            <a:avLst/>
          </a:prstGeom>
          <a:ln>
            <a:solidFill>
              <a:schemeClr val="bg2">
                <a:lumMod val="50000"/>
              </a:schemeClr>
            </a:solidFill>
          </a:ln>
        </p:spPr>
      </p:pic>
      <p:sp>
        <p:nvSpPr>
          <p:cNvPr id="29" name="文本框 28"/>
          <p:cNvSpPr txBox="1"/>
          <p:nvPr/>
        </p:nvSpPr>
        <p:spPr>
          <a:xfrm>
            <a:off x="4435475" y="4642485"/>
            <a:ext cx="3482340" cy="368300"/>
          </a:xfrm>
          <a:prstGeom prst="rect">
            <a:avLst/>
          </a:prstGeom>
          <a:noFill/>
        </p:spPr>
        <p:txBody>
          <a:bodyPr wrap="square" rtlCol="0">
            <a:spAutoFit/>
          </a:bodyPr>
          <a:p>
            <a:pPr algn="ctr"/>
            <a:r>
              <a:rPr lang="zh-CN" altLang="en-US" b="1">
                <a:latin typeface="微软雅黑" panose="020B0503020204020204" charset="-122"/>
                <a:ea typeface="微软雅黑" panose="020B0503020204020204" charset="-122"/>
              </a:rPr>
              <a:t>学科应用软件</a:t>
            </a:r>
            <a:endParaRPr lang="zh-CN" altLang="en-US" b="1">
              <a:latin typeface="微软雅黑" panose="020B0503020204020204" charset="-122"/>
              <a:ea typeface="微软雅黑" panose="020B0503020204020204" charset="-122"/>
            </a:endParaRPr>
          </a:p>
        </p:txBody>
      </p:sp>
      <p:sp>
        <p:nvSpPr>
          <p:cNvPr id="31" name="文本框 30"/>
          <p:cNvSpPr txBox="1"/>
          <p:nvPr/>
        </p:nvSpPr>
        <p:spPr>
          <a:xfrm>
            <a:off x="8492490" y="4642485"/>
            <a:ext cx="3482340" cy="368300"/>
          </a:xfrm>
          <a:prstGeom prst="rect">
            <a:avLst/>
          </a:prstGeom>
          <a:noFill/>
        </p:spPr>
        <p:txBody>
          <a:bodyPr wrap="square" rtlCol="0">
            <a:spAutoFit/>
          </a:bodyPr>
          <a:p>
            <a:pPr algn="ctr"/>
            <a:r>
              <a:rPr lang="zh-CN" altLang="en-US" b="1">
                <a:latin typeface="微软雅黑" panose="020B0503020204020204" charset="-122"/>
                <a:ea typeface="微软雅黑" panose="020B0503020204020204" charset="-122"/>
              </a:rPr>
              <a:t>集成工作台</a:t>
            </a:r>
            <a:endParaRPr lang="zh-CN" altLang="en-US" b="1">
              <a:latin typeface="微软雅黑" panose="020B0503020204020204" charset="-122"/>
              <a:ea typeface="微软雅黑" panose="020B0503020204020204" charset="-122"/>
            </a:endParaRPr>
          </a:p>
        </p:txBody>
      </p:sp>
      <p:pic>
        <p:nvPicPr>
          <p:cNvPr id="39" name="图片 38"/>
          <p:cNvPicPr>
            <a:picLocks noChangeAspect="1"/>
          </p:cNvPicPr>
          <p:nvPr/>
        </p:nvPicPr>
        <p:blipFill>
          <a:blip r:embed="rId10"/>
          <a:stretch>
            <a:fillRect/>
          </a:stretch>
        </p:blipFill>
        <p:spPr>
          <a:xfrm>
            <a:off x="8953500" y="2047240"/>
            <a:ext cx="2597785" cy="1746885"/>
          </a:xfrm>
          <a:prstGeom prst="rect">
            <a:avLst/>
          </a:prstGeom>
          <a:ln>
            <a:solidFill>
              <a:schemeClr val="tx1">
                <a:lumMod val="75000"/>
                <a:lumOff val="25000"/>
              </a:schemeClr>
            </a:solidFill>
          </a:ln>
        </p:spPr>
      </p:pic>
      <p:sp>
        <p:nvSpPr>
          <p:cNvPr id="2" name="右箭头 1"/>
          <p:cNvSpPr/>
          <p:nvPr/>
        </p:nvSpPr>
        <p:spPr>
          <a:xfrm>
            <a:off x="3966210" y="2380615"/>
            <a:ext cx="416560" cy="659130"/>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 name="右箭头 2"/>
          <p:cNvSpPr/>
          <p:nvPr/>
        </p:nvSpPr>
        <p:spPr>
          <a:xfrm>
            <a:off x="8075930" y="2403475"/>
            <a:ext cx="416560" cy="659130"/>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5" name="文本框 4"/>
          <p:cNvSpPr txBox="1"/>
          <p:nvPr/>
        </p:nvSpPr>
        <p:spPr>
          <a:xfrm>
            <a:off x="3775710" y="3069590"/>
            <a:ext cx="798195" cy="368300"/>
          </a:xfrm>
          <a:prstGeom prst="rect">
            <a:avLst/>
          </a:prstGeom>
          <a:noFill/>
        </p:spPr>
        <p:txBody>
          <a:bodyPr wrap="square" rtlCol="0">
            <a:spAutoFit/>
          </a:bodyPr>
          <a:p>
            <a:r>
              <a:rPr lang="zh-CN" altLang="en-US"/>
              <a:t>组合</a:t>
            </a:r>
            <a:endParaRPr lang="zh-CN" altLang="en-US"/>
          </a:p>
        </p:txBody>
      </p:sp>
      <p:sp>
        <p:nvSpPr>
          <p:cNvPr id="6" name="文本框 5"/>
          <p:cNvSpPr txBox="1"/>
          <p:nvPr/>
        </p:nvSpPr>
        <p:spPr>
          <a:xfrm>
            <a:off x="7874635" y="3072765"/>
            <a:ext cx="798195" cy="368300"/>
          </a:xfrm>
          <a:prstGeom prst="rect">
            <a:avLst/>
          </a:prstGeom>
          <a:noFill/>
        </p:spPr>
        <p:txBody>
          <a:bodyPr wrap="square" rtlCol="0">
            <a:spAutoFit/>
          </a:bodyPr>
          <a:p>
            <a:r>
              <a:rPr lang="zh-CN" altLang="en-US"/>
              <a:t>封装</a:t>
            </a:r>
            <a:endParaRPr lang="zh-CN" altLang="en-US"/>
          </a:p>
        </p:txBody>
      </p:sp>
    </p:spTree>
  </p:cSld>
  <p:clrMapOvr>
    <a:masterClrMapping/>
  </p:clrMapOvr>
  <p:transition spd="slow"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研发成果</a:t>
              </a:r>
              <a:endParaRPr lang="zh-CN" altLang="en-US" sz="14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05</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51" name="组合 50"/>
          <p:cNvGrpSpPr/>
          <p:nvPr/>
        </p:nvGrpSpPr>
        <p:grpSpPr>
          <a:xfrm>
            <a:off x="595630" y="1457325"/>
            <a:ext cx="3600450" cy="3908425"/>
            <a:chOff x="482" y="3268"/>
            <a:chExt cx="5670" cy="6155"/>
          </a:xfrm>
        </p:grpSpPr>
        <p:grpSp>
          <p:nvGrpSpPr>
            <p:cNvPr id="3" name="Group 4"/>
            <p:cNvGrpSpPr/>
            <p:nvPr/>
          </p:nvGrpSpPr>
          <p:grpSpPr>
            <a:xfrm rot="0" flipV="1">
              <a:off x="482" y="7395"/>
              <a:ext cx="5670" cy="2028"/>
              <a:chOff x="3810000" y="1303337"/>
              <a:chExt cx="2184401" cy="844552"/>
            </a:xfrm>
          </p:grpSpPr>
          <p:sp>
            <p:nvSpPr>
              <p:cNvPr id="4" name="Freeform: Shape 5"/>
              <p:cNvSpPr/>
              <p:nvPr>
                <p:custDataLst>
                  <p:tags r:id="rId2"/>
                </p:custDataLst>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1"/>
              </a:solidFill>
              <a:ln w="9525">
                <a:noFill/>
                <a:round/>
              </a:ln>
            </p:spPr>
            <p:txBody>
              <a:bodyPr anchor="ctr"/>
              <a:p>
                <a:pPr algn="ctr"/>
                <a:endParaRPr lang="en-US" sz="1865">
                  <a:solidFill>
                    <a:schemeClr val="bg1">
                      <a:lumMod val="50000"/>
                    </a:schemeClr>
                  </a:solidFill>
                  <a:cs typeface="+mn-ea"/>
                  <a:sym typeface="+mn-lt"/>
                </a:endParaRPr>
              </a:p>
            </p:txBody>
          </p:sp>
          <p:sp>
            <p:nvSpPr>
              <p:cNvPr id="6" name="Oval 6"/>
              <p:cNvSpPr/>
              <p:nvPr>
                <p:custDataLst>
                  <p:tags r:id="rId3"/>
                </p:custDataLst>
              </p:nvPr>
            </p:nvSpPr>
            <p:spPr bwMode="auto">
              <a:xfrm>
                <a:off x="4075114" y="1879167"/>
                <a:ext cx="1654174" cy="268722"/>
              </a:xfrm>
              <a:prstGeom prst="ellipse">
                <a:avLst/>
              </a:prstGeom>
              <a:solidFill>
                <a:schemeClr val="accent1">
                  <a:lumMod val="75000"/>
                </a:schemeClr>
              </a:solidFill>
              <a:ln w="19050">
                <a:noFill/>
                <a:round/>
              </a:ln>
            </p:spPr>
            <p:txBody>
              <a:bodyPr anchor="ctr"/>
              <a:p>
                <a:pPr algn="ctr"/>
                <a:endParaRPr sz="1865">
                  <a:solidFill>
                    <a:schemeClr val="bg1">
                      <a:lumMod val="50000"/>
                    </a:schemeClr>
                  </a:solidFill>
                  <a:cs typeface="+mn-ea"/>
                  <a:sym typeface="+mn-lt"/>
                </a:endParaRPr>
              </a:p>
            </p:txBody>
          </p:sp>
        </p:grpSp>
        <p:grpSp>
          <p:nvGrpSpPr>
            <p:cNvPr id="7" name="Group 7"/>
            <p:cNvGrpSpPr/>
            <p:nvPr/>
          </p:nvGrpSpPr>
          <p:grpSpPr>
            <a:xfrm rot="0" flipV="1">
              <a:off x="1170" y="5782"/>
              <a:ext cx="4293" cy="1514"/>
              <a:chOff x="3810000" y="1303337"/>
              <a:chExt cx="2184401" cy="844552"/>
            </a:xfrm>
          </p:grpSpPr>
          <p:sp>
            <p:nvSpPr>
              <p:cNvPr id="10" name="Freeform: Shape 8"/>
              <p:cNvSpPr/>
              <p:nvPr>
                <p:custDataLst>
                  <p:tags r:id="rId4"/>
                </p:custDataLst>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3"/>
              </a:solidFill>
              <a:ln w="9525">
                <a:noFill/>
                <a:round/>
              </a:ln>
            </p:spPr>
            <p:txBody>
              <a:bodyPr anchor="ctr"/>
              <a:p>
                <a:pPr algn="ctr"/>
                <a:endParaRPr sz="1865">
                  <a:solidFill>
                    <a:schemeClr val="bg1">
                      <a:lumMod val="50000"/>
                    </a:schemeClr>
                  </a:solidFill>
                  <a:cs typeface="+mn-ea"/>
                  <a:sym typeface="+mn-lt"/>
                </a:endParaRPr>
              </a:p>
            </p:txBody>
          </p:sp>
          <p:sp>
            <p:nvSpPr>
              <p:cNvPr id="12" name="Oval 9"/>
              <p:cNvSpPr/>
              <p:nvPr>
                <p:custDataLst>
                  <p:tags r:id="rId5"/>
                </p:custDataLst>
              </p:nvPr>
            </p:nvSpPr>
            <p:spPr bwMode="auto">
              <a:xfrm>
                <a:off x="4075114" y="1879167"/>
                <a:ext cx="1654174" cy="268722"/>
              </a:xfrm>
              <a:prstGeom prst="ellipse">
                <a:avLst/>
              </a:prstGeom>
              <a:solidFill>
                <a:schemeClr val="accent3">
                  <a:lumMod val="75000"/>
                </a:schemeClr>
              </a:solidFill>
              <a:ln w="19050">
                <a:noFill/>
                <a:round/>
              </a:ln>
            </p:spPr>
            <p:txBody>
              <a:bodyPr anchor="ctr"/>
              <a:p>
                <a:pPr algn="ctr"/>
                <a:endParaRPr sz="1865">
                  <a:solidFill>
                    <a:schemeClr val="bg1">
                      <a:lumMod val="50000"/>
                    </a:schemeClr>
                  </a:solidFill>
                  <a:cs typeface="+mn-ea"/>
                  <a:sym typeface="+mn-lt"/>
                </a:endParaRPr>
              </a:p>
            </p:txBody>
          </p:sp>
        </p:grpSp>
        <p:grpSp>
          <p:nvGrpSpPr>
            <p:cNvPr id="13" name="Group 10"/>
            <p:cNvGrpSpPr/>
            <p:nvPr/>
          </p:nvGrpSpPr>
          <p:grpSpPr>
            <a:xfrm rot="0" flipV="1">
              <a:off x="1691" y="4300"/>
              <a:ext cx="3250" cy="1366"/>
              <a:chOff x="3810000" y="1303337"/>
              <a:chExt cx="2184401" cy="844552"/>
            </a:xfrm>
          </p:grpSpPr>
          <p:sp>
            <p:nvSpPr>
              <p:cNvPr id="14" name="Freeform: Shape 11"/>
              <p:cNvSpPr/>
              <p:nvPr>
                <p:custDataLst>
                  <p:tags r:id="rId6"/>
                </p:custDataLst>
              </p:nvPr>
            </p:nvSpPr>
            <p:spPr bwMode="auto">
              <a:xfrm flipV="1">
                <a:off x="3810000" y="1303337"/>
                <a:ext cx="2184401" cy="839788"/>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2"/>
              </a:solidFill>
              <a:ln w="9525">
                <a:noFill/>
                <a:round/>
              </a:ln>
            </p:spPr>
            <p:txBody>
              <a:bodyPr anchor="ctr"/>
              <a:p>
                <a:pPr algn="ctr"/>
                <a:endParaRPr sz="1865">
                  <a:solidFill>
                    <a:schemeClr val="bg1">
                      <a:lumMod val="50000"/>
                    </a:schemeClr>
                  </a:solidFill>
                  <a:cs typeface="+mn-ea"/>
                  <a:sym typeface="+mn-lt"/>
                </a:endParaRPr>
              </a:p>
            </p:txBody>
          </p:sp>
          <p:sp>
            <p:nvSpPr>
              <p:cNvPr id="16" name="Oval 12"/>
              <p:cNvSpPr/>
              <p:nvPr>
                <p:custDataLst>
                  <p:tags r:id="rId7"/>
                </p:custDataLst>
              </p:nvPr>
            </p:nvSpPr>
            <p:spPr bwMode="auto">
              <a:xfrm>
                <a:off x="4075114" y="1879167"/>
                <a:ext cx="1654174" cy="268722"/>
              </a:xfrm>
              <a:prstGeom prst="ellipse">
                <a:avLst/>
              </a:prstGeom>
              <a:solidFill>
                <a:schemeClr val="accent2">
                  <a:lumMod val="75000"/>
                </a:schemeClr>
              </a:solidFill>
              <a:ln w="19050">
                <a:noFill/>
                <a:round/>
              </a:ln>
            </p:spPr>
            <p:txBody>
              <a:bodyPr anchor="ctr"/>
              <a:p>
                <a:pPr algn="ctr"/>
                <a:endParaRPr sz="1865">
                  <a:solidFill>
                    <a:schemeClr val="bg1">
                      <a:lumMod val="50000"/>
                    </a:schemeClr>
                  </a:solidFill>
                  <a:cs typeface="+mn-ea"/>
                  <a:sym typeface="+mn-lt"/>
                </a:endParaRPr>
              </a:p>
            </p:txBody>
          </p:sp>
        </p:grpSp>
        <p:grpSp>
          <p:nvGrpSpPr>
            <p:cNvPr id="30" name="组合 29"/>
            <p:cNvGrpSpPr/>
            <p:nvPr/>
          </p:nvGrpSpPr>
          <p:grpSpPr>
            <a:xfrm rot="0" flipV="1">
              <a:off x="2085" y="3268"/>
              <a:ext cx="2462" cy="902"/>
              <a:chOff x="4753" y="8231"/>
              <a:chExt cx="1516" cy="581"/>
            </a:xfrm>
          </p:grpSpPr>
          <p:sp>
            <p:nvSpPr>
              <p:cNvPr id="17" name="Freeform: Shape 14"/>
              <p:cNvSpPr/>
              <p:nvPr>
                <p:custDataLst>
                  <p:tags r:id="rId8"/>
                </p:custDataLst>
              </p:nvPr>
            </p:nvSpPr>
            <p:spPr bwMode="auto">
              <a:xfrm flipV="1">
                <a:off x="4753" y="8231"/>
                <a:ext cx="1516" cy="579"/>
              </a:xfrm>
              <a:custGeom>
                <a:avLst/>
                <a:gdLst/>
                <a:ahLst/>
                <a:cxnLst>
                  <a:cxn ang="0">
                    <a:pos x="1053" y="287"/>
                  </a:cxn>
                  <a:cxn ang="0">
                    <a:pos x="1053" y="286"/>
                  </a:cxn>
                  <a:cxn ang="0">
                    <a:pos x="1053" y="286"/>
                  </a:cxn>
                  <a:cxn ang="0">
                    <a:pos x="1052" y="286"/>
                  </a:cxn>
                  <a:cxn ang="0">
                    <a:pos x="931" y="54"/>
                  </a:cxn>
                  <a:cxn ang="0">
                    <a:pos x="931" y="55"/>
                  </a:cxn>
                  <a:cxn ang="0">
                    <a:pos x="930" y="52"/>
                  </a:cxn>
                  <a:cxn ang="0">
                    <a:pos x="927" y="48"/>
                  </a:cxn>
                  <a:cxn ang="0">
                    <a:pos x="812" y="16"/>
                  </a:cxn>
                  <a:cxn ang="0">
                    <a:pos x="528" y="0"/>
                  </a:cxn>
                  <a:cxn ang="0">
                    <a:pos x="243" y="16"/>
                  </a:cxn>
                  <a:cxn ang="0">
                    <a:pos x="128" y="48"/>
                  </a:cxn>
                  <a:cxn ang="0">
                    <a:pos x="127" y="48"/>
                  </a:cxn>
                  <a:cxn ang="0">
                    <a:pos x="4" y="283"/>
                  </a:cxn>
                  <a:cxn ang="0">
                    <a:pos x="1" y="286"/>
                  </a:cxn>
                  <a:cxn ang="0">
                    <a:pos x="1" y="287"/>
                  </a:cxn>
                  <a:cxn ang="0">
                    <a:pos x="0" y="290"/>
                  </a:cxn>
                  <a:cxn ang="0">
                    <a:pos x="155" y="328"/>
                  </a:cxn>
                  <a:cxn ang="0">
                    <a:pos x="528" y="344"/>
                  </a:cxn>
                  <a:cxn ang="0">
                    <a:pos x="900" y="328"/>
                  </a:cxn>
                  <a:cxn ang="0">
                    <a:pos x="1054" y="290"/>
                  </a:cxn>
                  <a:cxn ang="0">
                    <a:pos x="1054" y="287"/>
                  </a:cxn>
                  <a:cxn ang="0">
                    <a:pos x="1053" y="287"/>
                  </a:cxn>
                </a:cxnLst>
                <a:rect l="0" t="0" r="r" b="b"/>
                <a:pathLst>
                  <a:path w="1054" h="344">
                    <a:moveTo>
                      <a:pt x="1053" y="287"/>
                    </a:moveTo>
                    <a:cubicBezTo>
                      <a:pt x="1053" y="287"/>
                      <a:pt x="1053" y="286"/>
                      <a:pt x="1053" y="286"/>
                    </a:cubicBezTo>
                    <a:cubicBezTo>
                      <a:pt x="1053" y="286"/>
                      <a:pt x="1053" y="286"/>
                      <a:pt x="1053" y="286"/>
                    </a:cubicBezTo>
                    <a:cubicBezTo>
                      <a:pt x="1053" y="286"/>
                      <a:pt x="1052" y="286"/>
                      <a:pt x="1052" y="286"/>
                    </a:cubicBezTo>
                    <a:cubicBezTo>
                      <a:pt x="1048" y="276"/>
                      <a:pt x="1026" y="236"/>
                      <a:pt x="931" y="54"/>
                    </a:cubicBezTo>
                    <a:cubicBezTo>
                      <a:pt x="931" y="54"/>
                      <a:pt x="931" y="54"/>
                      <a:pt x="931" y="55"/>
                    </a:cubicBezTo>
                    <a:cubicBezTo>
                      <a:pt x="931" y="54"/>
                      <a:pt x="931" y="53"/>
                      <a:pt x="930" y="52"/>
                    </a:cubicBezTo>
                    <a:cubicBezTo>
                      <a:pt x="930" y="52"/>
                      <a:pt x="930" y="52"/>
                      <a:pt x="927" y="48"/>
                    </a:cubicBezTo>
                    <a:cubicBezTo>
                      <a:pt x="918" y="35"/>
                      <a:pt x="879" y="25"/>
                      <a:pt x="812" y="16"/>
                    </a:cubicBezTo>
                    <a:cubicBezTo>
                      <a:pt x="734" y="5"/>
                      <a:pt x="638" y="0"/>
                      <a:pt x="528" y="0"/>
                    </a:cubicBezTo>
                    <a:cubicBezTo>
                      <a:pt x="417" y="0"/>
                      <a:pt x="323" y="5"/>
                      <a:pt x="243" y="16"/>
                    </a:cubicBezTo>
                    <a:cubicBezTo>
                      <a:pt x="175" y="25"/>
                      <a:pt x="136" y="37"/>
                      <a:pt x="128" y="48"/>
                    </a:cubicBezTo>
                    <a:cubicBezTo>
                      <a:pt x="128" y="48"/>
                      <a:pt x="128" y="48"/>
                      <a:pt x="127" y="48"/>
                    </a:cubicBezTo>
                    <a:cubicBezTo>
                      <a:pt x="127" y="48"/>
                      <a:pt x="127" y="48"/>
                      <a:pt x="4" y="283"/>
                    </a:cubicBezTo>
                    <a:cubicBezTo>
                      <a:pt x="3" y="284"/>
                      <a:pt x="2" y="285"/>
                      <a:pt x="1" y="286"/>
                    </a:cubicBezTo>
                    <a:cubicBezTo>
                      <a:pt x="1" y="287"/>
                      <a:pt x="1" y="287"/>
                      <a:pt x="1" y="287"/>
                    </a:cubicBezTo>
                    <a:cubicBezTo>
                      <a:pt x="1" y="288"/>
                      <a:pt x="0" y="289"/>
                      <a:pt x="0" y="290"/>
                    </a:cubicBezTo>
                    <a:cubicBezTo>
                      <a:pt x="0" y="305"/>
                      <a:pt x="52" y="318"/>
                      <a:pt x="155" y="328"/>
                    </a:cubicBezTo>
                    <a:cubicBezTo>
                      <a:pt x="258" y="339"/>
                      <a:pt x="382" y="344"/>
                      <a:pt x="528" y="344"/>
                    </a:cubicBezTo>
                    <a:cubicBezTo>
                      <a:pt x="672" y="344"/>
                      <a:pt x="797" y="339"/>
                      <a:pt x="900" y="328"/>
                    </a:cubicBezTo>
                    <a:cubicBezTo>
                      <a:pt x="1002" y="318"/>
                      <a:pt x="1054" y="305"/>
                      <a:pt x="1054" y="290"/>
                    </a:cubicBezTo>
                    <a:cubicBezTo>
                      <a:pt x="1054" y="289"/>
                      <a:pt x="1054" y="288"/>
                      <a:pt x="1054" y="287"/>
                    </a:cubicBezTo>
                    <a:cubicBezTo>
                      <a:pt x="1053" y="287"/>
                      <a:pt x="1053" y="287"/>
                      <a:pt x="1053" y="287"/>
                    </a:cubicBezTo>
                    <a:close/>
                  </a:path>
                </a:pathLst>
              </a:custGeom>
              <a:solidFill>
                <a:schemeClr val="accent4"/>
              </a:solidFill>
              <a:ln w="9525">
                <a:noFill/>
                <a:round/>
              </a:ln>
            </p:spPr>
            <p:txBody>
              <a:bodyPr anchor="ctr"/>
              <a:p>
                <a:pPr algn="ctr"/>
                <a:endParaRPr sz="1865">
                  <a:solidFill>
                    <a:schemeClr val="bg1">
                      <a:lumMod val="50000"/>
                    </a:schemeClr>
                  </a:solidFill>
                  <a:cs typeface="+mn-ea"/>
                  <a:sym typeface="+mn-lt"/>
                </a:endParaRPr>
              </a:p>
            </p:txBody>
          </p:sp>
          <p:sp>
            <p:nvSpPr>
              <p:cNvPr id="42" name="Oval 15"/>
              <p:cNvSpPr/>
              <p:nvPr>
                <p:custDataLst>
                  <p:tags r:id="rId9"/>
                </p:custDataLst>
              </p:nvPr>
            </p:nvSpPr>
            <p:spPr bwMode="auto">
              <a:xfrm>
                <a:off x="4937" y="8628"/>
                <a:ext cx="1148" cy="185"/>
              </a:xfrm>
              <a:prstGeom prst="ellipse">
                <a:avLst/>
              </a:prstGeom>
              <a:solidFill>
                <a:schemeClr val="accent4">
                  <a:lumMod val="75000"/>
                </a:schemeClr>
              </a:solidFill>
              <a:ln w="19050">
                <a:noFill/>
                <a:round/>
              </a:ln>
            </p:spPr>
            <p:txBody>
              <a:bodyPr anchor="ctr"/>
              <a:p>
                <a:pPr algn="ctr"/>
                <a:endParaRPr sz="1865">
                  <a:solidFill>
                    <a:schemeClr val="bg1">
                      <a:lumMod val="50000"/>
                    </a:schemeClr>
                  </a:solidFill>
                  <a:cs typeface="+mn-ea"/>
                  <a:sym typeface="+mn-lt"/>
                </a:endParaRPr>
              </a:p>
            </p:txBody>
          </p:sp>
        </p:grpSp>
        <p:sp>
          <p:nvSpPr>
            <p:cNvPr id="44" name="文本框 43"/>
            <p:cNvSpPr txBox="1"/>
            <p:nvPr>
              <p:custDataLst>
                <p:tags r:id="rId10"/>
              </p:custDataLst>
            </p:nvPr>
          </p:nvSpPr>
          <p:spPr>
            <a:xfrm>
              <a:off x="1278" y="8341"/>
              <a:ext cx="4021" cy="822"/>
            </a:xfrm>
            <a:prstGeom prst="rect">
              <a:avLst/>
            </a:prstGeom>
            <a:noFill/>
          </p:spPr>
          <p:txBody>
            <a:bodyPr wrap="square" rtlCol="0">
              <a:spAutoFit/>
            </a:bodyPr>
            <a:p>
              <a:pPr algn="ctr"/>
              <a:r>
                <a:rPr lang="zh-CN" altLang="en-US" sz="2800" b="1">
                  <a:effectLst/>
                </a:rPr>
                <a:t>基础底座</a:t>
              </a:r>
              <a:endParaRPr lang="zh-CN" altLang="en-US" sz="2800" b="1">
                <a:effectLst/>
              </a:endParaRPr>
            </a:p>
          </p:txBody>
        </p:sp>
        <p:sp>
          <p:nvSpPr>
            <p:cNvPr id="45" name="文本框 44"/>
            <p:cNvSpPr txBox="1"/>
            <p:nvPr>
              <p:custDataLst>
                <p:tags r:id="rId11"/>
              </p:custDataLst>
            </p:nvPr>
          </p:nvSpPr>
          <p:spPr>
            <a:xfrm>
              <a:off x="1262" y="6363"/>
              <a:ext cx="4021" cy="725"/>
            </a:xfrm>
            <a:prstGeom prst="rect">
              <a:avLst/>
            </a:prstGeom>
            <a:noFill/>
          </p:spPr>
          <p:txBody>
            <a:bodyPr wrap="square" rtlCol="0">
              <a:spAutoFit/>
            </a:bodyPr>
            <a:p>
              <a:pPr algn="ctr"/>
              <a:r>
                <a:rPr lang="zh-CN" altLang="en-US" sz="2400" b="1"/>
                <a:t>功能组件</a:t>
              </a:r>
              <a:endParaRPr lang="zh-CN" altLang="en-US" sz="2400" b="1"/>
            </a:p>
          </p:txBody>
        </p:sp>
        <p:sp>
          <p:nvSpPr>
            <p:cNvPr id="46" name="文本框 45"/>
            <p:cNvSpPr txBox="1"/>
            <p:nvPr>
              <p:custDataLst>
                <p:tags r:id="rId12"/>
              </p:custDataLst>
            </p:nvPr>
          </p:nvSpPr>
          <p:spPr>
            <a:xfrm>
              <a:off x="1307" y="4835"/>
              <a:ext cx="4021" cy="628"/>
            </a:xfrm>
            <a:prstGeom prst="rect">
              <a:avLst/>
            </a:prstGeom>
            <a:noFill/>
          </p:spPr>
          <p:txBody>
            <a:bodyPr wrap="square" rtlCol="0">
              <a:spAutoFit/>
            </a:bodyPr>
            <a:p>
              <a:pPr algn="ctr"/>
              <a:r>
                <a:rPr lang="zh-CN" altLang="en-US" sz="2000" b="1"/>
                <a:t>学科应用</a:t>
              </a:r>
              <a:endParaRPr lang="zh-CN" altLang="en-US" sz="2000" b="1"/>
            </a:p>
          </p:txBody>
        </p:sp>
        <p:sp>
          <p:nvSpPr>
            <p:cNvPr id="48" name="文本框 47"/>
            <p:cNvSpPr txBox="1"/>
            <p:nvPr>
              <p:custDataLst>
                <p:tags r:id="rId13"/>
              </p:custDataLst>
            </p:nvPr>
          </p:nvSpPr>
          <p:spPr>
            <a:xfrm>
              <a:off x="1307" y="3555"/>
              <a:ext cx="4021" cy="580"/>
            </a:xfrm>
            <a:prstGeom prst="rect">
              <a:avLst/>
            </a:prstGeom>
            <a:noFill/>
          </p:spPr>
          <p:txBody>
            <a:bodyPr wrap="square" rtlCol="0">
              <a:spAutoFit/>
            </a:bodyPr>
            <a:p>
              <a:pPr algn="ctr"/>
              <a:r>
                <a:rPr lang="zh-CN" altLang="en-US" b="1"/>
                <a:t>集成工作台</a:t>
              </a:r>
              <a:endParaRPr lang="zh-CN" altLang="en-US" b="1"/>
            </a:p>
          </p:txBody>
        </p:sp>
      </p:grpSp>
      <p:sp>
        <p:nvSpPr>
          <p:cNvPr id="49" name="文本框 48"/>
          <p:cNvSpPr txBox="1"/>
          <p:nvPr/>
        </p:nvSpPr>
        <p:spPr>
          <a:xfrm>
            <a:off x="595630" y="5636260"/>
            <a:ext cx="3600450" cy="829945"/>
          </a:xfrm>
          <a:prstGeom prst="rect">
            <a:avLst/>
          </a:prstGeom>
          <a:noFill/>
        </p:spPr>
        <p:txBody>
          <a:bodyPr wrap="square" rtlCol="0">
            <a:spAutoFit/>
          </a:bodyPr>
          <a:p>
            <a:pPr algn="ctr">
              <a:lnSpc>
                <a:spcPct val="100000"/>
              </a:lnSpc>
            </a:pPr>
            <a:r>
              <a:rPr lang="zh-CN" altLang="en-US" sz="2400" b="1"/>
              <a:t>总代码量约</a:t>
            </a:r>
            <a:r>
              <a:rPr lang="en-US" altLang="zh-CN" sz="2400" b="1">
                <a:solidFill>
                  <a:srgbClr val="FF0000"/>
                </a:solidFill>
              </a:rPr>
              <a:t>80</a:t>
            </a:r>
            <a:r>
              <a:rPr lang="zh-CN" altLang="en-US" sz="2400" b="1">
                <a:solidFill>
                  <a:srgbClr val="FF0000"/>
                </a:solidFill>
              </a:rPr>
              <a:t>余万</a:t>
            </a:r>
            <a:r>
              <a:rPr lang="zh-CN" altLang="en-US" sz="2400" b="1"/>
              <a:t>行</a:t>
            </a:r>
            <a:endParaRPr lang="zh-CN" altLang="en-US" sz="2400" b="1"/>
          </a:p>
          <a:p>
            <a:pPr algn="ctr">
              <a:lnSpc>
                <a:spcPct val="100000"/>
              </a:lnSpc>
            </a:pPr>
            <a:r>
              <a:rPr lang="zh-CN" altLang="en-US" sz="2400" b="1"/>
              <a:t>说明文档</a:t>
            </a:r>
            <a:r>
              <a:rPr lang="en-US" altLang="zh-CN" sz="2400" b="1">
                <a:solidFill>
                  <a:srgbClr val="FF0000"/>
                </a:solidFill>
              </a:rPr>
              <a:t>120</a:t>
            </a:r>
            <a:r>
              <a:rPr lang="zh-CN" altLang="en-US" sz="2400" b="1">
                <a:solidFill>
                  <a:srgbClr val="FF0000"/>
                </a:solidFill>
              </a:rPr>
              <a:t>余</a:t>
            </a:r>
            <a:r>
              <a:rPr lang="zh-CN" altLang="en-US" sz="2400" b="1"/>
              <a:t>页</a:t>
            </a:r>
            <a:endParaRPr lang="zh-CN" altLang="en-US" sz="2400" b="1"/>
          </a:p>
        </p:txBody>
      </p:sp>
      <p:sp>
        <p:nvSpPr>
          <p:cNvPr id="50" name="矩形 49"/>
          <p:cNvSpPr/>
          <p:nvPr/>
        </p:nvSpPr>
        <p:spPr>
          <a:xfrm>
            <a:off x="5238115" y="5228590"/>
            <a:ext cx="6489700" cy="1183005"/>
          </a:xfrm>
          <a:prstGeom prst="rect">
            <a:avLst/>
          </a:prstGeom>
          <a:noFill/>
          <a:ln w="19050">
            <a:solidFill>
              <a:srgbClr val="5B9BD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just">
              <a:buClr>
                <a:schemeClr val="tx1"/>
              </a:buClr>
              <a:buSzPct val="80000"/>
              <a:buFont typeface="Wingdings" panose="05000000000000000000" pitchFamily="2" charset="2"/>
              <a:buNone/>
            </a:pPr>
            <a:r>
              <a:rPr lang="en-US" altLang="zh-CN" b="1" dirty="0" smtClean="0">
                <a:solidFill>
                  <a:schemeClr val="tx1"/>
                </a:solidFill>
                <a:latin typeface="微软雅黑" panose="020B0503020204020204" charset="-122"/>
                <a:ea typeface="微软雅黑" panose="020B0503020204020204" charset="-122"/>
                <a:cs typeface="宋体" panose="02010600030101010101" pitchFamily="2" charset="-122"/>
              </a:rPr>
              <a:t>CAE</a:t>
            </a:r>
            <a:r>
              <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rPr>
              <a:t>软件集成底座</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定义基础数据结构，提供数据的全生命周期管理。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定义应用程序框架，提供注册接口可实现个性化逻辑。</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提供线程池等基础的应用开发工具。</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2" name="矩形 61"/>
          <p:cNvSpPr/>
          <p:nvPr/>
        </p:nvSpPr>
        <p:spPr>
          <a:xfrm>
            <a:off x="5238115" y="3601085"/>
            <a:ext cx="6489700" cy="1296035"/>
          </a:xfrm>
          <a:prstGeom prst="rect">
            <a:avLst/>
          </a:prstGeom>
          <a:noFill/>
          <a:ln w="19050">
            <a:solidFill>
              <a:srgbClr val="A5A5A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just">
              <a:buClr>
                <a:schemeClr val="tx1"/>
              </a:buClr>
              <a:buSzPct val="80000"/>
              <a:buFont typeface="Wingdings" panose="05000000000000000000" pitchFamily="2" charset="2"/>
              <a:buNone/>
            </a:pPr>
            <a:r>
              <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rPr>
              <a:t>功能组件</a:t>
            </a:r>
            <a:endPar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包含几何模型处理，网格划分，数据可视化、数据管理、数据转化等多种类型功能组件</a:t>
            </a: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37</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个。同类型功能组件基于相同的</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接口进行开发，可进行组件替换。</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3" name="矩形 62"/>
          <p:cNvSpPr/>
          <p:nvPr/>
        </p:nvSpPr>
        <p:spPr>
          <a:xfrm>
            <a:off x="5238115" y="2245995"/>
            <a:ext cx="6489700" cy="1023620"/>
          </a:xfrm>
          <a:prstGeom prst="rect">
            <a:avLst/>
          </a:prstGeom>
          <a:noFill/>
          <a:ln w="19050">
            <a:solidFill>
              <a:srgbClr val="ED7D3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just">
              <a:buClr>
                <a:schemeClr val="tx1"/>
              </a:buClr>
              <a:buSzPct val="80000"/>
              <a:buFont typeface="Wingdings" panose="05000000000000000000" pitchFamily="2" charset="2"/>
              <a:buNone/>
            </a:pPr>
            <a:r>
              <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rPr>
              <a:t>专用学科软件</a:t>
            </a:r>
            <a:endPar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集成</a:t>
            </a: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Calculix</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a:t>
            </a: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OpenFOAM</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、风雷等求解器，形成专用的学科软件</a:t>
            </a: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9</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个，具备一定的解决工程实际问题的能力。</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4" name="矩形 63"/>
          <p:cNvSpPr/>
          <p:nvPr/>
        </p:nvSpPr>
        <p:spPr>
          <a:xfrm>
            <a:off x="5238115" y="898525"/>
            <a:ext cx="6489700" cy="1016000"/>
          </a:xfrm>
          <a:prstGeom prst="rect">
            <a:avLst/>
          </a:prstGeom>
          <a:noFill/>
          <a:ln w="1905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just">
              <a:buClr>
                <a:schemeClr val="tx1"/>
              </a:buClr>
              <a:buSzPct val="80000"/>
              <a:buFont typeface="Wingdings" panose="05000000000000000000" pitchFamily="2" charset="2"/>
              <a:buNone/>
            </a:pPr>
            <a:r>
              <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rPr>
              <a:t>多学科联合仿真</a:t>
            </a:r>
            <a:endParaRPr lang="zh-CN" altLang="en-US" b="1" dirty="0" smtClean="0">
              <a:solidFill>
                <a:schemeClr val="tx1"/>
              </a:solidFill>
              <a:latin typeface="微软雅黑" panose="020B0503020204020204" charset="-122"/>
              <a:ea typeface="微软雅黑" panose="020B0503020204020204" charset="-122"/>
              <a:cs typeface="宋体" panose="02010600030101010101" pitchFamily="2" charset="-122"/>
            </a:endParaRPr>
          </a:p>
          <a:p>
            <a:pPr marL="1270" indent="0" algn="just">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集成工作台可通过配置文件实现学科应用软件的集成与联合仿真，能够对流程文件与数据进行统一管理。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Tree>
  </p:cSld>
  <p:clrMapOvr>
    <a:masterClrMapping/>
  </p:clrMapOvr>
  <p:transition spd="slow"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代码</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结构</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06</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pic>
        <p:nvPicPr>
          <p:cNvPr id="3" name="图片 2"/>
          <p:cNvPicPr>
            <a:picLocks noChangeAspect="1"/>
          </p:cNvPicPr>
          <p:nvPr/>
        </p:nvPicPr>
        <p:blipFill>
          <a:blip r:embed="rId2"/>
          <a:stretch>
            <a:fillRect/>
          </a:stretch>
        </p:blipFill>
        <p:spPr>
          <a:xfrm>
            <a:off x="6256020" y="1348740"/>
            <a:ext cx="2258060" cy="4826000"/>
          </a:xfrm>
          <a:prstGeom prst="rect">
            <a:avLst/>
          </a:prstGeom>
          <a:ln>
            <a:solidFill>
              <a:schemeClr val="bg1">
                <a:lumMod val="75000"/>
              </a:schemeClr>
            </a:solidFill>
          </a:ln>
        </p:spPr>
      </p:pic>
      <p:pic>
        <p:nvPicPr>
          <p:cNvPr id="4" name="图片 3"/>
          <p:cNvPicPr>
            <a:picLocks noChangeAspect="1"/>
          </p:cNvPicPr>
          <p:nvPr/>
        </p:nvPicPr>
        <p:blipFill>
          <a:blip r:embed="rId3"/>
          <a:srcRect l="4047"/>
          <a:stretch>
            <a:fillRect/>
          </a:stretch>
        </p:blipFill>
        <p:spPr>
          <a:xfrm>
            <a:off x="3378835" y="1374775"/>
            <a:ext cx="2409190" cy="4799330"/>
          </a:xfrm>
          <a:prstGeom prst="rect">
            <a:avLst/>
          </a:prstGeom>
          <a:ln>
            <a:solidFill>
              <a:schemeClr val="bg1">
                <a:lumMod val="75000"/>
              </a:schemeClr>
            </a:solidFill>
          </a:ln>
        </p:spPr>
      </p:pic>
      <p:pic>
        <p:nvPicPr>
          <p:cNvPr id="6" name="图片 5"/>
          <p:cNvPicPr>
            <a:picLocks noChangeAspect="1"/>
          </p:cNvPicPr>
          <p:nvPr/>
        </p:nvPicPr>
        <p:blipFill>
          <a:blip r:embed="rId4"/>
          <a:stretch>
            <a:fillRect/>
          </a:stretch>
        </p:blipFill>
        <p:spPr>
          <a:xfrm>
            <a:off x="338455" y="1374140"/>
            <a:ext cx="2459990" cy="4080510"/>
          </a:xfrm>
          <a:prstGeom prst="rect">
            <a:avLst/>
          </a:prstGeom>
          <a:ln>
            <a:solidFill>
              <a:schemeClr val="bg1">
                <a:lumMod val="75000"/>
              </a:schemeClr>
            </a:solidFill>
          </a:ln>
        </p:spPr>
      </p:pic>
      <p:pic>
        <p:nvPicPr>
          <p:cNvPr id="7" name="图片 6"/>
          <p:cNvPicPr>
            <a:picLocks noChangeAspect="1"/>
          </p:cNvPicPr>
          <p:nvPr/>
        </p:nvPicPr>
        <p:blipFill>
          <a:blip r:embed="rId5"/>
          <a:stretch>
            <a:fillRect/>
          </a:stretch>
        </p:blipFill>
        <p:spPr>
          <a:xfrm>
            <a:off x="9136380" y="1374140"/>
            <a:ext cx="2595245" cy="4800600"/>
          </a:xfrm>
          <a:prstGeom prst="rect">
            <a:avLst/>
          </a:prstGeom>
          <a:ln>
            <a:solidFill>
              <a:schemeClr val="bg1">
                <a:lumMod val="75000"/>
              </a:schemeClr>
            </a:solidFill>
          </a:ln>
        </p:spPr>
      </p:pic>
      <p:sp>
        <p:nvSpPr>
          <p:cNvPr id="10" name="文本框 9"/>
          <p:cNvSpPr txBox="1"/>
          <p:nvPr/>
        </p:nvSpPr>
        <p:spPr>
          <a:xfrm>
            <a:off x="575310" y="993775"/>
            <a:ext cx="1882140" cy="368300"/>
          </a:xfrm>
          <a:prstGeom prst="rect">
            <a:avLst/>
          </a:prstGeom>
          <a:noFill/>
        </p:spPr>
        <p:txBody>
          <a:bodyPr wrap="square" rtlCol="0">
            <a:spAutoFit/>
          </a:bodyPr>
          <a:p>
            <a:pPr algn="ctr"/>
            <a:r>
              <a:rPr lang="zh-CN" altLang="en-US"/>
              <a:t>基础底座</a:t>
            </a:r>
            <a:endParaRPr lang="zh-CN" altLang="en-US"/>
          </a:p>
        </p:txBody>
      </p:sp>
      <p:sp>
        <p:nvSpPr>
          <p:cNvPr id="12" name="文本框 11"/>
          <p:cNvSpPr txBox="1"/>
          <p:nvPr/>
        </p:nvSpPr>
        <p:spPr>
          <a:xfrm>
            <a:off x="3585210" y="981075"/>
            <a:ext cx="1882140" cy="368300"/>
          </a:xfrm>
          <a:prstGeom prst="rect">
            <a:avLst/>
          </a:prstGeom>
          <a:noFill/>
        </p:spPr>
        <p:txBody>
          <a:bodyPr wrap="square" rtlCol="0">
            <a:spAutoFit/>
          </a:bodyPr>
          <a:p>
            <a:pPr algn="ctr"/>
            <a:r>
              <a:rPr lang="zh-CN" altLang="en-US"/>
              <a:t>通用接口</a:t>
            </a:r>
            <a:endParaRPr lang="en-US" altLang="zh-CN"/>
          </a:p>
        </p:txBody>
      </p:sp>
      <p:sp>
        <p:nvSpPr>
          <p:cNvPr id="13" name="文本框 12"/>
          <p:cNvSpPr txBox="1"/>
          <p:nvPr/>
        </p:nvSpPr>
        <p:spPr>
          <a:xfrm>
            <a:off x="6508115" y="980440"/>
            <a:ext cx="1882140" cy="368300"/>
          </a:xfrm>
          <a:prstGeom prst="rect">
            <a:avLst/>
          </a:prstGeom>
          <a:noFill/>
        </p:spPr>
        <p:txBody>
          <a:bodyPr wrap="square" rtlCol="0">
            <a:spAutoFit/>
          </a:bodyPr>
          <a:p>
            <a:pPr algn="ctr"/>
            <a:r>
              <a:rPr lang="zh-CN" altLang="en-US"/>
              <a:t>功能组件</a:t>
            </a:r>
            <a:endParaRPr lang="en-US" altLang="zh-CN"/>
          </a:p>
        </p:txBody>
      </p:sp>
      <p:sp>
        <p:nvSpPr>
          <p:cNvPr id="14" name="文本框 13"/>
          <p:cNvSpPr txBox="1"/>
          <p:nvPr/>
        </p:nvSpPr>
        <p:spPr>
          <a:xfrm>
            <a:off x="9493250" y="1006475"/>
            <a:ext cx="1882140" cy="368300"/>
          </a:xfrm>
          <a:prstGeom prst="rect">
            <a:avLst/>
          </a:prstGeom>
          <a:noFill/>
        </p:spPr>
        <p:txBody>
          <a:bodyPr wrap="square" rtlCol="0">
            <a:spAutoFit/>
          </a:bodyPr>
          <a:p>
            <a:pPr algn="ctr"/>
            <a:r>
              <a:rPr lang="zh-CN" altLang="en-US"/>
              <a:t>应用软件</a:t>
            </a:r>
            <a:endParaRPr lang="en-US" altLang="zh-CN"/>
          </a:p>
        </p:txBody>
      </p:sp>
      <p:sp>
        <p:nvSpPr>
          <p:cNvPr id="17" name="文本框 16"/>
          <p:cNvSpPr txBox="1"/>
          <p:nvPr/>
        </p:nvSpPr>
        <p:spPr>
          <a:xfrm>
            <a:off x="338455" y="5655310"/>
            <a:ext cx="4064000" cy="1322070"/>
          </a:xfrm>
          <a:prstGeom prst="rect">
            <a:avLst/>
          </a:prstGeom>
          <a:noFill/>
        </p:spPr>
        <p:txBody>
          <a:bodyPr wrap="square" rtlCol="0">
            <a:spAutoFit/>
          </a:bodyPr>
          <a:p>
            <a:r>
              <a:rPr lang="zh-CN" altLang="en-US" sz="1600"/>
              <a:t>参考资料</a:t>
            </a:r>
            <a:endParaRPr lang="zh-CN" altLang="en-US" sz="1600"/>
          </a:p>
          <a:p>
            <a:r>
              <a:rPr lang="zh-CN" altLang="en-US" sz="1600"/>
              <a:t>《组件使用说明书》</a:t>
            </a:r>
            <a:endParaRPr lang="zh-CN" altLang="en-US" sz="1600"/>
          </a:p>
          <a:p>
            <a:r>
              <a:rPr lang="zh-CN" altLang="en-US" sz="1600"/>
              <a:t>《网格划分组件开发流程》</a:t>
            </a:r>
            <a:endParaRPr lang="zh-CN" altLang="en-US" sz="1600"/>
          </a:p>
          <a:p>
            <a:r>
              <a:rPr lang="zh-CN" altLang="en-US" sz="1600">
                <a:sym typeface="+mn-ea"/>
              </a:rPr>
              <a:t>《FastCAE基础底座开发与使用说明书》</a:t>
            </a:r>
            <a:endParaRPr lang="zh-CN" altLang="en-US" sz="1600"/>
          </a:p>
          <a:p>
            <a:endParaRPr lang="zh-CN" altLang="en-US" sz="1600"/>
          </a:p>
        </p:txBody>
      </p:sp>
      <p:sp>
        <p:nvSpPr>
          <p:cNvPr id="2" name="文本框 1"/>
          <p:cNvSpPr txBox="1"/>
          <p:nvPr/>
        </p:nvSpPr>
        <p:spPr>
          <a:xfrm>
            <a:off x="5106035" y="6232525"/>
            <a:ext cx="6625590" cy="645160"/>
          </a:xfrm>
          <a:prstGeom prst="rect">
            <a:avLst/>
          </a:prstGeom>
          <a:noFill/>
        </p:spPr>
        <p:txBody>
          <a:bodyPr wrap="square" rtlCol="0">
            <a:spAutoFit/>
          </a:bodyPr>
          <a:p>
            <a:r>
              <a:rPr lang="zh-CN" altLang="en-US"/>
              <a:t>基础底座、通用接口、功能组件每一个仓库就是一个动态库，在应用程序中采用</a:t>
            </a:r>
            <a:r>
              <a:rPr lang="en-US" altLang="zh-CN"/>
              <a:t>Git</a:t>
            </a:r>
            <a:r>
              <a:rPr lang="zh-CN" altLang="en-US"/>
              <a:t>子模块技术进行</a:t>
            </a:r>
            <a:r>
              <a:rPr lang="zh-CN" altLang="en-US"/>
              <a:t>整合。</a:t>
            </a:r>
            <a:endParaRPr lang="zh-CN" altLang="en-US"/>
          </a:p>
        </p:txBody>
      </p:sp>
    </p:spTree>
  </p:cSld>
  <p:clrMapOvr>
    <a:masterClrMapping/>
  </p:clrMapOvr>
  <p:transition spd="slow"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基础</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底座</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07</a:t>
              </a:r>
              <a:endParaRPr lang="en-US" altLang="zh-CN"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8" name="矩形 17"/>
          <p:cNvSpPr/>
          <p:nvPr>
            <p:custDataLst>
              <p:tags r:id="rId2"/>
            </p:custDataLst>
          </p:nvPr>
        </p:nvSpPr>
        <p:spPr>
          <a:xfrm>
            <a:off x="2409825" y="3052445"/>
            <a:ext cx="170942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数据标准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9" name="矩形 28"/>
          <p:cNvSpPr/>
          <p:nvPr>
            <p:custDataLst>
              <p:tags r:id="rId3"/>
            </p:custDataLst>
          </p:nvPr>
        </p:nvSpPr>
        <p:spPr>
          <a:xfrm>
            <a:off x="2409825" y="4879975"/>
            <a:ext cx="170942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软件框架</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 name="矩形 5"/>
          <p:cNvSpPr/>
          <p:nvPr>
            <p:custDataLst>
              <p:tags r:id="rId4"/>
            </p:custDataLst>
          </p:nvPr>
        </p:nvSpPr>
        <p:spPr>
          <a:xfrm>
            <a:off x="2422525" y="3966210"/>
            <a:ext cx="170942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内存管理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0" name="文本框 9"/>
          <p:cNvSpPr txBox="1"/>
          <p:nvPr/>
        </p:nvSpPr>
        <p:spPr>
          <a:xfrm>
            <a:off x="721360" y="1066165"/>
            <a:ext cx="10934065" cy="1753235"/>
          </a:xfrm>
          <a:prstGeom prst="rect">
            <a:avLst/>
          </a:prstGeom>
          <a:noFill/>
        </p:spPr>
        <p:txBody>
          <a:bodyPr wrap="square" rtlCol="0">
            <a:spAutoFit/>
          </a:bodyPr>
          <a:p>
            <a:pPr algn="just">
              <a:lnSpc>
                <a:spcPct val="150000"/>
              </a:lnSpc>
            </a:pPr>
            <a:r>
              <a:rPr lang="en-US" altLang="zh-CN" sz="1600"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FastCAE为了规范CAE软件子系统集成，设计开发了基础集成底座，该集成底座中定义了基础的抽象数据结构，并提供了线程池等基础通用工具，同时定义了CAE软件的集成框架，规定了软件运行的顺序。基于该底座能够实现标准化的CAE软件集成，可有效提高CAE软件的集成效率与软件的鲁棒性</a:t>
            </a:r>
            <a:r>
              <a:rPr lang="zh-CN" altLang="en-US" dirty="0">
                <a:latin typeface="微软雅黑" panose="020B0503020204020204" charset="-122"/>
                <a:ea typeface="微软雅黑" panose="020B0503020204020204" charset="-122"/>
              </a:rPr>
              <a:t>。代码位于（</a:t>
            </a:r>
            <a:r>
              <a:rPr lang="en-US" altLang="zh-CN">
                <a:sym typeface="+mn-ea"/>
              </a:rPr>
              <a:t>FITK_Kernal</a:t>
            </a:r>
            <a:r>
              <a:rPr lang="zh-CN" altLang="en-US"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sp>
        <p:nvSpPr>
          <p:cNvPr id="11" name="矩形 10"/>
          <p:cNvSpPr/>
          <p:nvPr>
            <p:custDataLst>
              <p:tags r:id="rId5"/>
            </p:custDataLst>
          </p:nvPr>
        </p:nvSpPr>
        <p:spPr>
          <a:xfrm>
            <a:off x="2422525" y="5793740"/>
            <a:ext cx="170942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开发</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工具</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3" name="文本框 12"/>
          <p:cNvSpPr txBox="1"/>
          <p:nvPr>
            <p:custDataLst>
              <p:tags r:id="rId6"/>
            </p:custDataLst>
          </p:nvPr>
        </p:nvSpPr>
        <p:spPr>
          <a:xfrm>
            <a:off x="4445000" y="3025775"/>
            <a:ext cx="5349875" cy="583565"/>
          </a:xfrm>
          <a:prstGeom prst="rect">
            <a:avLst/>
          </a:prstGeom>
          <a:noFill/>
        </p:spPr>
        <p:txBody>
          <a:bodyPr wrap="square" rtlCol="0">
            <a:spAutoFit/>
          </a:bodyPr>
          <a:p>
            <a:r>
              <a:rPr lang="en-US" altLang="zh-CN" sz="1600" dirty="0">
                <a:latin typeface="微软雅黑" panose="020B0503020204020204" charset="-122"/>
                <a:ea typeface="微软雅黑" panose="020B0503020204020204" charset="-122"/>
              </a:rPr>
              <a:t>定义数据层、GUI层、逻辑层全部数据对象基类，统一数据传递接口。</a:t>
            </a:r>
            <a:endParaRPr lang="en-US" altLang="zh-CN" sz="1600" dirty="0">
              <a:latin typeface="微软雅黑" panose="020B0503020204020204" charset="-122"/>
              <a:ea typeface="微软雅黑" panose="020B0503020204020204" charset="-122"/>
            </a:endParaRPr>
          </a:p>
        </p:txBody>
      </p:sp>
      <p:sp>
        <p:nvSpPr>
          <p:cNvPr id="14" name="文本框 13"/>
          <p:cNvSpPr txBox="1"/>
          <p:nvPr>
            <p:custDataLst>
              <p:tags r:id="rId7"/>
            </p:custDataLst>
          </p:nvPr>
        </p:nvSpPr>
        <p:spPr>
          <a:xfrm>
            <a:off x="4445000" y="3910965"/>
            <a:ext cx="5349875" cy="583565"/>
          </a:xfrm>
          <a:prstGeom prst="rect">
            <a:avLst/>
          </a:prstGeom>
          <a:noFill/>
        </p:spPr>
        <p:txBody>
          <a:bodyPr wrap="square" rtlCol="0">
            <a:spAutoFit/>
          </a:bodyPr>
          <a:p>
            <a:r>
              <a:rPr lang="en-US" altLang="zh-CN" sz="1600" dirty="0">
                <a:latin typeface="微软雅黑" panose="020B0503020204020204" charset="-122"/>
                <a:ea typeface="微软雅黑" panose="020B0503020204020204" charset="-122"/>
              </a:rPr>
              <a:t>定义</a:t>
            </a:r>
            <a:r>
              <a:rPr lang="zh-CN" altLang="en-US" sz="1600" dirty="0">
                <a:latin typeface="微软雅黑" panose="020B0503020204020204" charset="-122"/>
                <a:ea typeface="微软雅黑" panose="020B0503020204020204" charset="-122"/>
              </a:rPr>
              <a:t>数据管理器模板与数据仓库，实现了数据的统一管理与遍历查找，避免内存泄露与野指针问题的</a:t>
            </a:r>
            <a:r>
              <a:rPr lang="zh-CN" altLang="en-US" sz="1600" dirty="0">
                <a:latin typeface="微软雅黑" panose="020B0503020204020204" charset="-122"/>
                <a:ea typeface="微软雅黑" panose="020B0503020204020204" charset="-122"/>
              </a:rPr>
              <a:t>出现。</a:t>
            </a:r>
            <a:endParaRPr lang="zh-CN" altLang="en-US" sz="1600" dirty="0">
              <a:latin typeface="微软雅黑" panose="020B0503020204020204" charset="-122"/>
              <a:ea typeface="微软雅黑" panose="020B0503020204020204" charset="-122"/>
            </a:endParaRPr>
          </a:p>
        </p:txBody>
      </p:sp>
      <p:sp>
        <p:nvSpPr>
          <p:cNvPr id="15" name="文本框 14"/>
          <p:cNvSpPr txBox="1"/>
          <p:nvPr>
            <p:custDataLst>
              <p:tags r:id="rId8"/>
            </p:custDataLst>
          </p:nvPr>
        </p:nvSpPr>
        <p:spPr>
          <a:xfrm>
            <a:off x="4519295" y="4879975"/>
            <a:ext cx="5434965" cy="583565"/>
          </a:xfrm>
          <a:prstGeom prst="rect">
            <a:avLst/>
          </a:prstGeom>
          <a:noFill/>
        </p:spPr>
        <p:txBody>
          <a:bodyPr wrap="square" rtlCol="0">
            <a:spAutoFit/>
          </a:bodyPr>
          <a:p>
            <a:r>
              <a:rPr lang="zh-CN" altLang="en-US" sz="1600" dirty="0">
                <a:latin typeface="微软雅黑" panose="020B0503020204020204" charset="-122"/>
                <a:ea typeface="微软雅黑" panose="020B0503020204020204" charset="-122"/>
                <a:sym typeface="+mn-ea"/>
              </a:rPr>
              <a:t>定义程序运行顺序与各阶段接口，提供个性化事件处理接口，实现少量全局信号处理。</a:t>
            </a:r>
            <a:endParaRPr lang="en-US" altLang="zh-CN" sz="1600" dirty="0">
              <a:latin typeface="微软雅黑" panose="020B0503020204020204" charset="-122"/>
              <a:ea typeface="微软雅黑" panose="020B0503020204020204" charset="-122"/>
              <a:sym typeface="+mn-ea"/>
            </a:endParaRPr>
          </a:p>
        </p:txBody>
      </p:sp>
      <p:sp>
        <p:nvSpPr>
          <p:cNvPr id="16" name="文本框 15"/>
          <p:cNvSpPr txBox="1"/>
          <p:nvPr>
            <p:custDataLst>
              <p:tags r:id="rId9"/>
            </p:custDataLst>
          </p:nvPr>
        </p:nvSpPr>
        <p:spPr>
          <a:xfrm>
            <a:off x="4519295" y="5767070"/>
            <a:ext cx="5434965" cy="583565"/>
          </a:xfrm>
          <a:prstGeom prst="rect">
            <a:avLst/>
          </a:prstGeom>
          <a:noFill/>
        </p:spPr>
        <p:txBody>
          <a:bodyPr wrap="square" rtlCol="0">
            <a:spAutoFit/>
          </a:bodyPr>
          <a:p>
            <a:r>
              <a:rPr lang="zh-CN" altLang="en-US" sz="1600" dirty="0">
                <a:latin typeface="微软雅黑" panose="020B0503020204020204" charset="-122"/>
                <a:ea typeface="微软雅黑" panose="020B0503020204020204" charset="-122"/>
                <a:sym typeface="+mn-ea"/>
              </a:rPr>
              <a:t>提供线程池、目录与文件管理工具、基础数学向量与</a:t>
            </a:r>
            <a:r>
              <a:rPr lang="zh-CN" altLang="en-US" sz="1600" dirty="0">
                <a:latin typeface="微软雅黑" panose="020B0503020204020204" charset="-122"/>
                <a:ea typeface="微软雅黑" panose="020B0503020204020204" charset="-122"/>
                <a:sym typeface="+mn-ea"/>
              </a:rPr>
              <a:t>图形运算等</a:t>
            </a:r>
            <a:r>
              <a:rPr lang="zh-CN" altLang="en-US" sz="1600" dirty="0">
                <a:latin typeface="微软雅黑" panose="020B0503020204020204" charset="-122"/>
                <a:ea typeface="微软雅黑" panose="020B0503020204020204" charset="-122"/>
                <a:sym typeface="+mn-ea"/>
              </a:rPr>
              <a:t>工具。</a:t>
            </a:r>
            <a:endParaRPr lang="zh-CN" altLang="en-US" sz="1600" dirty="0">
              <a:latin typeface="微软雅黑" panose="020B0503020204020204" charset="-122"/>
              <a:ea typeface="微软雅黑" panose="020B0503020204020204" charset="-122"/>
              <a:sym typeface="+mn-ea"/>
            </a:endParaRPr>
          </a:p>
        </p:txBody>
      </p:sp>
    </p:spTree>
  </p:cSld>
  <p:clrMapOvr>
    <a:masterClrMapping/>
  </p:clrMapOvr>
  <p:transition spd="slow"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基础底座</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08</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0" name="文本框 9"/>
          <p:cNvSpPr txBox="1"/>
          <p:nvPr/>
        </p:nvSpPr>
        <p:spPr>
          <a:xfrm>
            <a:off x="721360" y="1066165"/>
            <a:ext cx="10796270" cy="922020"/>
          </a:xfrm>
          <a:prstGeom prst="rect">
            <a:avLst/>
          </a:prstGeom>
          <a:noFill/>
        </p:spPr>
        <p:txBody>
          <a:bodyPr wrap="square" rtlCol="0">
            <a:spAutoFit/>
          </a:bodyPr>
          <a:p>
            <a:pPr>
              <a:lnSpc>
                <a:spcPct val="150000"/>
              </a:lnSpc>
            </a:pPr>
            <a:r>
              <a:rPr lang="en-US" altLang="zh-CN" sz="1600" dirty="0">
                <a:latin typeface="微软雅黑" panose="020B0503020204020204" charset="-122"/>
                <a:ea typeface="微软雅黑" panose="020B0503020204020204" charset="-122"/>
              </a:rPr>
              <a:t>       </a:t>
            </a:r>
            <a:r>
              <a:rPr lang="en-US" altLang="zh-CN" dirty="0">
                <a:latin typeface="微软雅黑" panose="020B0503020204020204" charset="-122"/>
                <a:ea typeface="微软雅黑" panose="020B0503020204020204" charset="-122"/>
              </a:rPr>
              <a:t>软件核心架构</a:t>
            </a:r>
            <a:r>
              <a:rPr lang="zh-CN" altLang="en-US" dirty="0">
                <a:latin typeface="微软雅黑" panose="020B0503020204020204" charset="-122"/>
                <a:ea typeface="微软雅黑" panose="020B0503020204020204" charset="-122"/>
              </a:rPr>
              <a:t>按照</a:t>
            </a:r>
            <a:r>
              <a:rPr lang="en-US" altLang="zh-CN" dirty="0">
                <a:latin typeface="微软雅黑" panose="020B0503020204020204" charset="-122"/>
                <a:ea typeface="微软雅黑" panose="020B0503020204020204" charset="-122"/>
              </a:rPr>
              <a:t>MVC架构模式，将软件中的主要的类分为数据类，UI类、以及业务逻辑类，分别对应Data、GUI和Operator</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FITK_Kernel/FITKCore</a:t>
            </a:r>
            <a:r>
              <a:rPr lang="zh-CN" altLang="en-US"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3859530" y="2056765"/>
            <a:ext cx="5181600" cy="3228975"/>
          </a:xfrm>
          <a:prstGeom prst="rect">
            <a:avLst/>
          </a:prstGeom>
        </p:spPr>
      </p:pic>
      <p:sp>
        <p:nvSpPr>
          <p:cNvPr id="3" name="文本框 2"/>
          <p:cNvSpPr txBox="1"/>
          <p:nvPr/>
        </p:nvSpPr>
        <p:spPr>
          <a:xfrm>
            <a:off x="740410" y="5394960"/>
            <a:ext cx="10873740" cy="1337945"/>
          </a:xfrm>
          <a:prstGeom prst="rect">
            <a:avLst/>
          </a:prstGeom>
          <a:noFill/>
        </p:spPr>
        <p:txBody>
          <a:bodyPr wrap="square" rtlCol="0">
            <a:spAutoFit/>
          </a:bodyPr>
          <a:p>
            <a:pPr>
              <a:lnSpc>
                <a:spcPct val="150000"/>
              </a:lnSpc>
            </a:pPr>
            <a:r>
              <a:rPr lang="en-US" altLang="zh-CN"/>
              <a:t>        </a:t>
            </a:r>
            <a:r>
              <a:rPr lang="zh-CN" altLang="en-US"/>
              <a:t>三者中数据层处于最底层，可以被UI与Operator访问与修改，Operator可以直接访问UI，而UI则可以通过访问Operator的基类抽象接口实现对Operator的控制，这样就做到了三者之间的彼此独立，且能够相互访问。</a:t>
            </a:r>
            <a:endParaRPr lang="zh-CN" altLang="en-US"/>
          </a:p>
        </p:txBody>
      </p:sp>
    </p:spTree>
  </p:cSld>
  <p:clrMapOvr>
    <a:masterClrMapping/>
  </p:clrMapOvr>
  <p:transition spd="slow"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522500" y="426027"/>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基础底座</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09</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0" name="文本框 9"/>
          <p:cNvSpPr txBox="1"/>
          <p:nvPr/>
        </p:nvSpPr>
        <p:spPr>
          <a:xfrm>
            <a:off x="358775" y="899160"/>
            <a:ext cx="4320540" cy="2676525"/>
          </a:xfrm>
          <a:prstGeom prst="rect">
            <a:avLst/>
          </a:prstGeom>
          <a:noFill/>
        </p:spPr>
        <p:txBody>
          <a:bodyPr wrap="square" rtlCol="0">
            <a:spAutoFit/>
          </a:bodyPr>
          <a:p>
            <a:pPr>
              <a:lnSpc>
                <a:spcPct val="150000"/>
              </a:lnSpc>
            </a:pPr>
            <a:r>
              <a:rPr lang="en-US" altLang="zh-CN" sz="1600" dirty="0">
                <a:latin typeface="微软雅黑" panose="020B0503020204020204" charset="-122"/>
                <a:ea typeface="微软雅黑" panose="020B0503020204020204" charset="-122"/>
              </a:rPr>
              <a:t>       </a:t>
            </a:r>
            <a:r>
              <a:rPr lang="zh-CN" sz="1600" dirty="0">
                <a:latin typeface="微软雅黑" panose="020B0503020204020204" charset="-122"/>
                <a:ea typeface="微软雅黑" panose="020B0503020204020204" charset="-122"/>
              </a:rPr>
              <a:t>软件</a:t>
            </a:r>
            <a:r>
              <a:rPr sz="1600" dirty="0">
                <a:latin typeface="微软雅黑" panose="020B0503020204020204" charset="-122"/>
                <a:ea typeface="微软雅黑" panose="020B0503020204020204" charset="-122"/>
              </a:rPr>
              <a:t>将CAE软件运行的过程拆分为十几个固定的流程，并规定了这个流程的运行顺序与彼此之间的数据接口，形成了一套面向CAE软件的应用程序框架，该框架基于统一的抽象接口与注册机制实现业务逻辑与功能实现的完全独立，支持方便的功能组合与个性化业务逻辑拓展</a:t>
            </a:r>
            <a:r>
              <a:rPr lang="zh-CN"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FITK_Kernel/FITKAppFramework</a:t>
            </a:r>
            <a:r>
              <a:rPr lang="zh-CN" sz="1600" dirty="0">
                <a:latin typeface="微软雅黑" panose="020B0503020204020204" charset="-122"/>
                <a:ea typeface="微软雅黑" panose="020B0503020204020204" charset="-122"/>
              </a:rPr>
              <a:t>）</a:t>
            </a:r>
            <a:endParaRPr lang="zh-CN" sz="1600" dirty="0">
              <a:latin typeface="微软雅黑" panose="020B0503020204020204" charset="-122"/>
              <a:ea typeface="微软雅黑" panose="020B0503020204020204" charset="-122"/>
            </a:endParaRPr>
          </a:p>
        </p:txBody>
      </p:sp>
      <p:pic>
        <p:nvPicPr>
          <p:cNvPr id="4" name="图片 1" descr="FITK运行时序图"/>
          <p:cNvPicPr>
            <a:picLocks noChangeAspect="1"/>
          </p:cNvPicPr>
          <p:nvPr/>
        </p:nvPicPr>
        <p:blipFill>
          <a:blip r:embed="rId2"/>
          <a:stretch>
            <a:fillRect/>
          </a:stretch>
        </p:blipFill>
        <p:spPr>
          <a:xfrm>
            <a:off x="4678680" y="843280"/>
            <a:ext cx="7380605" cy="5937250"/>
          </a:xfrm>
          <a:prstGeom prst="rect">
            <a:avLst/>
          </a:prstGeom>
        </p:spPr>
      </p:pic>
      <p:sp>
        <p:nvSpPr>
          <p:cNvPr id="3" name="圆角矩形 2"/>
          <p:cNvSpPr/>
          <p:nvPr/>
        </p:nvSpPr>
        <p:spPr>
          <a:xfrm>
            <a:off x="358775" y="368236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全局数据创建</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7" name="圆角矩形 6"/>
          <p:cNvSpPr/>
          <p:nvPr/>
        </p:nvSpPr>
        <p:spPr>
          <a:xfrm>
            <a:off x="2582545" y="368236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运行时信息存储</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8" name="圆角矩形 7"/>
          <p:cNvSpPr/>
          <p:nvPr/>
        </p:nvSpPr>
        <p:spPr>
          <a:xfrm>
            <a:off x="2582545" y="432371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自动保存机制</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9" name="圆角矩形 8"/>
          <p:cNvSpPr/>
          <p:nvPr/>
        </p:nvSpPr>
        <p:spPr>
          <a:xfrm>
            <a:off x="358775" y="432371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主界面生成</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1" name="圆角矩形 10"/>
          <p:cNvSpPr/>
          <p:nvPr/>
        </p:nvSpPr>
        <p:spPr>
          <a:xfrm>
            <a:off x="358775" y="4933950"/>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组件管理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2" name="圆角矩形 11"/>
          <p:cNvSpPr/>
          <p:nvPr/>
        </p:nvSpPr>
        <p:spPr>
          <a:xfrm>
            <a:off x="2582545" y="4923790"/>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第三方程序驱动</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4" name="圆角矩形 13"/>
          <p:cNvSpPr/>
          <p:nvPr/>
        </p:nvSpPr>
        <p:spPr>
          <a:xfrm>
            <a:off x="363855" y="5558790"/>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命令行处理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5" name="圆角矩形 14"/>
          <p:cNvSpPr/>
          <p:nvPr/>
        </p:nvSpPr>
        <p:spPr>
          <a:xfrm>
            <a:off x="2584450" y="552386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信号转接</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7" name="圆角矩形 16"/>
          <p:cNvSpPr/>
          <p:nvPr/>
        </p:nvSpPr>
        <p:spPr>
          <a:xfrm>
            <a:off x="358775" y="618553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系统</a:t>
            </a: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检查</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8" name="圆角矩形 17"/>
          <p:cNvSpPr/>
          <p:nvPr/>
        </p:nvSpPr>
        <p:spPr>
          <a:xfrm>
            <a:off x="2582545" y="6205855"/>
            <a:ext cx="1872615" cy="42227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indent="0" algn="ctr">
              <a:buClr>
                <a:schemeClr val="tx1"/>
              </a:buClr>
              <a:buSzPct val="80000"/>
              <a:buFont typeface="Wingdings" panose="05000000000000000000" pitchFamily="2" charset="2"/>
              <a:buNone/>
            </a:pPr>
            <a:r>
              <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rPr>
              <a:t>异常处理</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Tree>
  </p:cSld>
  <p:clrMapOvr>
    <a:masterClrMapping/>
  </p:clrMapOvr>
  <p:transition spd="slow"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标准化功能接口</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10</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0" name="文本框 9"/>
          <p:cNvSpPr txBox="1"/>
          <p:nvPr/>
        </p:nvSpPr>
        <p:spPr>
          <a:xfrm>
            <a:off x="721360" y="1066165"/>
            <a:ext cx="10996930" cy="1337945"/>
          </a:xfrm>
          <a:prstGeom prst="rect">
            <a:avLst/>
          </a:prstGeom>
          <a:noFill/>
        </p:spPr>
        <p:txBody>
          <a:bodyPr wrap="square" rtlCol="0">
            <a:spAutoFit/>
          </a:bodyPr>
          <a:p>
            <a:pPr>
              <a:lnSpc>
                <a:spcPct val="150000"/>
              </a:lnSpc>
            </a:pPr>
            <a:r>
              <a:rPr lang="en-US" altLang="zh-CN" sz="1600" dirty="0">
                <a:latin typeface="微软雅黑" panose="020B0503020204020204" charset="-122"/>
                <a:ea typeface="微软雅黑" panose="020B0503020204020204" charset="-122"/>
              </a:rPr>
              <a:t>       </a:t>
            </a:r>
            <a:r>
              <a:rPr lang="zh-CN" dirty="0">
                <a:latin typeface="微软雅黑" panose="020B0503020204020204" charset="-122"/>
                <a:ea typeface="微软雅黑" panose="020B0503020204020204" charset="-122"/>
              </a:rPr>
              <a:t>为了实现同类型不同组件之间的切换，</a:t>
            </a:r>
            <a:r>
              <a:rPr lang="en-US" altLang="zh-CN" dirty="0">
                <a:latin typeface="微软雅黑" panose="020B0503020204020204" charset="-122"/>
                <a:ea typeface="微软雅黑" panose="020B0503020204020204" charset="-122"/>
              </a:rPr>
              <a:t>FastCAE</a:t>
            </a:r>
            <a:r>
              <a:rPr lang="zh-CN" altLang="en-US" dirty="0">
                <a:latin typeface="微软雅黑" panose="020B0503020204020204" charset="-122"/>
                <a:ea typeface="微软雅黑" panose="020B0503020204020204" charset="-122"/>
              </a:rPr>
              <a:t>定义了一套标准的功能接口，并且规定UI与其他逻辑操作只能访问该接口，在组件中实现抽象接口，以达到隔离引擎的目的。标准化接口在隔离几何引擎与网格引擎中发挥了重要作用。（</a:t>
            </a:r>
            <a:r>
              <a:rPr lang="en-US" altLang="zh-CN" dirty="0">
                <a:latin typeface="微软雅黑" panose="020B0503020204020204" charset="-122"/>
                <a:ea typeface="微软雅黑" panose="020B0503020204020204" charset="-122"/>
              </a:rPr>
              <a:t>FITK_Interface</a:t>
            </a:r>
            <a:r>
              <a:rPr lang="zh-CN" altLang="en-US"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2"/>
          <a:stretch>
            <a:fillRect/>
          </a:stretch>
        </p:blipFill>
        <p:spPr>
          <a:xfrm>
            <a:off x="3911600" y="2470150"/>
            <a:ext cx="4615815" cy="3275330"/>
          </a:xfrm>
          <a:prstGeom prst="rect">
            <a:avLst/>
          </a:prstGeom>
        </p:spPr>
      </p:pic>
      <p:sp>
        <p:nvSpPr>
          <p:cNvPr id="2" name="文本框 1"/>
          <p:cNvSpPr txBox="1"/>
          <p:nvPr/>
        </p:nvSpPr>
        <p:spPr>
          <a:xfrm>
            <a:off x="655955" y="5848985"/>
            <a:ext cx="10996930" cy="922020"/>
          </a:xfrm>
          <a:prstGeom prst="rect">
            <a:avLst/>
          </a:prstGeom>
          <a:noFill/>
        </p:spPr>
        <p:txBody>
          <a:bodyPr wrap="square" rtlCol="0">
            <a:spAutoFit/>
          </a:bodyPr>
          <a:p>
            <a:pPr algn="l">
              <a:lnSpc>
                <a:spcPct val="150000"/>
              </a:lnSpc>
            </a:pPr>
            <a:r>
              <a:rPr lang="en-US" altLang="zh-CN" sz="1600" dirty="0">
                <a:solidFill>
                  <a:schemeClr val="tx1"/>
                </a:solidFill>
                <a:latin typeface="微软雅黑" panose="020B0503020204020204" charset="-122"/>
                <a:ea typeface="微软雅黑" panose="020B0503020204020204" charset="-122"/>
              </a:rPr>
              <a:t>       </a:t>
            </a:r>
            <a:r>
              <a:rPr lang="zh-CN" dirty="0">
                <a:solidFill>
                  <a:schemeClr val="tx1"/>
                </a:solidFill>
                <a:latin typeface="微软雅黑" panose="020B0503020204020204" charset="-122"/>
                <a:ea typeface="微软雅黑" panose="020B0503020204020204" charset="-122"/>
              </a:rPr>
              <a:t>当前基于网格划分标准接口，已经实现了</a:t>
            </a:r>
            <a:r>
              <a:rPr lang="en-US" altLang="zh-CN" dirty="0">
                <a:solidFill>
                  <a:schemeClr val="tx1"/>
                </a:solidFill>
                <a:latin typeface="微软雅黑" panose="020B0503020204020204" charset="-122"/>
                <a:ea typeface="微软雅黑" panose="020B0503020204020204" charset="-122"/>
              </a:rPr>
              <a:t>OpenFOAM</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AFLR</a:t>
            </a: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Gmsh </a:t>
            </a:r>
            <a:r>
              <a:rPr lang="zh-CN" altLang="en-US" dirty="0">
                <a:solidFill>
                  <a:schemeClr val="tx1"/>
                </a:solidFill>
                <a:latin typeface="微软雅黑" panose="020B0503020204020204" charset="-122"/>
                <a:ea typeface="微软雅黑" panose="020B0503020204020204" charset="-122"/>
              </a:rPr>
              <a:t>达索网格引擎等四个网格划分引擎的集成。除此之外，我们还定义了几何模型处理的抽象接口，可支持</a:t>
            </a:r>
            <a:r>
              <a:rPr lang="en-US" altLang="zh-CN" dirty="0">
                <a:solidFill>
                  <a:schemeClr val="tx1"/>
                </a:solidFill>
                <a:latin typeface="微软雅黑" panose="020B0503020204020204" charset="-122"/>
                <a:ea typeface="微软雅黑" panose="020B0503020204020204" charset="-122"/>
              </a:rPr>
              <a:t>OCC</a:t>
            </a:r>
            <a:r>
              <a:rPr lang="zh-CN" altLang="en-US" dirty="0">
                <a:solidFill>
                  <a:schemeClr val="tx1"/>
                </a:solidFill>
                <a:latin typeface="微软雅黑" panose="020B0503020204020204" charset="-122"/>
                <a:ea typeface="微软雅黑" panose="020B0503020204020204" charset="-122"/>
              </a:rPr>
              <a:t>与</a:t>
            </a:r>
            <a:r>
              <a:rPr lang="en-US" altLang="zh-CN" dirty="0">
                <a:solidFill>
                  <a:schemeClr val="tx1"/>
                </a:solidFill>
                <a:latin typeface="微软雅黑" panose="020B0503020204020204" charset="-122"/>
                <a:ea typeface="微软雅黑" panose="020B0503020204020204" charset="-122"/>
              </a:rPr>
              <a:t>CGM</a:t>
            </a:r>
            <a:r>
              <a:rPr lang="zh-CN" altLang="en-US" dirty="0">
                <a:solidFill>
                  <a:schemeClr val="tx1"/>
                </a:solidFill>
                <a:latin typeface="微软雅黑" panose="020B0503020204020204" charset="-122"/>
                <a:ea typeface="微软雅黑" panose="020B0503020204020204" charset="-122"/>
              </a:rPr>
              <a:t>引擎的替换。</a:t>
            </a:r>
            <a:endParaRPr lang="zh-CN" altLang="en-US"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9581515" y="2001520"/>
            <a:ext cx="4064000" cy="368300"/>
          </a:xfrm>
          <a:prstGeom prst="rect">
            <a:avLst/>
          </a:prstGeom>
          <a:noFill/>
        </p:spPr>
        <p:txBody>
          <a:bodyPr wrap="square" rtlCol="0">
            <a:spAutoFit/>
          </a:bodyPr>
          <a:p>
            <a:endParaRPr lang="zh-CN" altLang="en-US"/>
          </a:p>
        </p:txBody>
      </p:sp>
    </p:spTree>
  </p:cSld>
  <p:clrMapOvr>
    <a:masterClrMapping/>
  </p:clrMapOvr>
  <p:transition spd="slow"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标准化功能接口</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11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0" name="文本框 9"/>
          <p:cNvSpPr txBox="1"/>
          <p:nvPr/>
        </p:nvSpPr>
        <p:spPr>
          <a:xfrm>
            <a:off x="721360" y="1066165"/>
            <a:ext cx="10996930" cy="922020"/>
          </a:xfrm>
          <a:prstGeom prst="rect">
            <a:avLst/>
          </a:prstGeom>
          <a:noFill/>
        </p:spPr>
        <p:txBody>
          <a:bodyPr wrap="square" rtlCol="0">
            <a:spAutoFit/>
          </a:bodyPr>
          <a:p>
            <a:pPr>
              <a:lnSpc>
                <a:spcPct val="150000"/>
              </a:lnSpc>
            </a:pPr>
            <a:r>
              <a:rPr lang="en-US" altLang="zh-CN" sz="1600"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除此之外，在标准接口层还定义了一系列的标准数据接口与标准的数据操作接口，这些标准数据接口能够直接在组件、或者应用程序中使用，降低开发难度。</a:t>
            </a:r>
            <a:r>
              <a:rPr lang="zh-CN" altLang="en-US" dirty="0">
                <a:latin typeface="微软雅黑" panose="020B0503020204020204" charset="-122"/>
                <a:ea typeface="微软雅黑" panose="020B0503020204020204" charset="-122"/>
                <a:sym typeface="+mn-ea"/>
              </a:rPr>
              <a:t>（</a:t>
            </a:r>
            <a:r>
              <a:rPr lang="en-US" altLang="zh-CN" dirty="0">
                <a:latin typeface="微软雅黑" panose="020B0503020204020204" charset="-122"/>
                <a:ea typeface="微软雅黑" panose="020B0503020204020204" charset="-122"/>
                <a:sym typeface="+mn-ea"/>
              </a:rPr>
              <a:t>FITK_Interface</a:t>
            </a:r>
            <a:r>
              <a:rPr lang="zh-CN" altLang="en-US" dirty="0">
                <a:latin typeface="微软雅黑" panose="020B0503020204020204" charset="-122"/>
                <a:ea typeface="微软雅黑" panose="020B0503020204020204" charset="-122"/>
                <a:sym typeface="+mn-ea"/>
              </a:rPr>
              <a:t>）</a:t>
            </a:r>
            <a:endParaRPr lang="zh-CN" altLang="en-US" dirty="0">
              <a:latin typeface="微软雅黑" panose="020B0503020204020204" charset="-122"/>
              <a:ea typeface="微软雅黑" panose="020B0503020204020204" charset="-122"/>
            </a:endParaRPr>
          </a:p>
        </p:txBody>
      </p:sp>
      <p:sp>
        <p:nvSpPr>
          <p:cNvPr id="6" name="矩形 5"/>
          <p:cNvSpPr/>
          <p:nvPr>
            <p:custDataLst>
              <p:tags r:id="rId2"/>
            </p:custDataLst>
          </p:nvPr>
        </p:nvSpPr>
        <p:spPr>
          <a:xfrm>
            <a:off x="1358265" y="210248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数据</a:t>
            </a:r>
            <a:r>
              <a:rPr lang="en-US" altLang="zh-CN"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IO</a:t>
            </a: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9" name="矩形 8"/>
          <p:cNvSpPr/>
          <p:nvPr>
            <p:custDataLst>
              <p:tags r:id="rId3"/>
            </p:custDataLst>
          </p:nvPr>
        </p:nvSpPr>
        <p:spPr>
          <a:xfrm>
            <a:off x="1358265" y="267843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模型接口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7" name="矩形 6"/>
          <p:cNvSpPr/>
          <p:nvPr>
            <p:custDataLst>
              <p:tags r:id="rId4"/>
            </p:custDataLst>
          </p:nvPr>
        </p:nvSpPr>
        <p:spPr>
          <a:xfrm>
            <a:off x="1358265" y="325437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网格接口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4" name="矩形 13"/>
          <p:cNvSpPr/>
          <p:nvPr>
            <p:custDataLst>
              <p:tags r:id="rId5"/>
            </p:custDataLst>
          </p:nvPr>
        </p:nvSpPr>
        <p:spPr>
          <a:xfrm>
            <a:off x="1358265" y="383032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基础物理属性接口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6" name="矩形 15"/>
          <p:cNvSpPr/>
          <p:nvPr>
            <p:custDataLst>
              <p:tags r:id="rId6"/>
            </p:custDataLst>
          </p:nvPr>
        </p:nvSpPr>
        <p:spPr>
          <a:xfrm>
            <a:off x="1358265" y="440626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结构分析前处理接口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7" name="矩形 16"/>
          <p:cNvSpPr/>
          <p:nvPr>
            <p:custDataLst>
              <p:tags r:id="rId7"/>
            </p:custDataLst>
          </p:nvPr>
        </p:nvSpPr>
        <p:spPr>
          <a:xfrm>
            <a:off x="1358265" y="498221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流体分析前处理接口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8" name="文本框 17"/>
          <p:cNvSpPr txBox="1"/>
          <p:nvPr>
            <p:custDataLst>
              <p:tags r:id="rId8"/>
            </p:custDataLst>
          </p:nvPr>
        </p:nvSpPr>
        <p:spPr>
          <a:xfrm>
            <a:off x="4058920" y="2096770"/>
            <a:ext cx="6816090" cy="460375"/>
          </a:xfrm>
          <a:prstGeom prst="rect">
            <a:avLst/>
          </a:prstGeom>
          <a:noFill/>
        </p:spPr>
        <p:txBody>
          <a:bodyPr wrap="square" rtlCol="0" anchor="ctr" anchorCtr="0">
            <a:spAutoFit/>
          </a:bodyPr>
          <a:p>
            <a:pPr indent="0" algn="l" fontAlgn="auto">
              <a:lnSpc>
                <a:spcPct val="150000"/>
              </a:lnSpc>
            </a:pPr>
            <a:r>
              <a:rPr lang="zh-CN" altLang="en-US" sz="1600" dirty="0">
                <a:latin typeface="微软雅黑" panose="020B0503020204020204" charset="-122"/>
                <a:ea typeface="微软雅黑" panose="020B0503020204020204" charset="-122"/>
              </a:rPr>
              <a:t>基于适配器抽象类定义文本文件、</a:t>
            </a:r>
            <a:r>
              <a:rPr lang="en-US" altLang="zh-CN" sz="1600" dirty="0">
                <a:latin typeface="微软雅黑" panose="020B0503020204020204" charset="-122"/>
                <a:ea typeface="微软雅黑" panose="020B0503020204020204" charset="-122"/>
              </a:rPr>
              <a:t>xml</a:t>
            </a:r>
            <a:r>
              <a:rPr lang="zh-CN" altLang="en-US" sz="1600" dirty="0">
                <a:latin typeface="微软雅黑" panose="020B0503020204020204" charset="-122"/>
                <a:ea typeface="微软雅黑" panose="020B0503020204020204" charset="-122"/>
              </a:rPr>
              <a:t>文件</a:t>
            </a:r>
            <a:r>
              <a:rPr lang="en-US" altLang="zh-CN" sz="1600" dirty="0">
                <a:latin typeface="微软雅黑" panose="020B0503020204020204" charset="-122"/>
                <a:ea typeface="微软雅黑" panose="020B0503020204020204" charset="-122"/>
              </a:rPr>
              <a:t>HDF5</a:t>
            </a:r>
            <a:r>
              <a:rPr lang="zh-CN" altLang="en-US" sz="1600" dirty="0">
                <a:latin typeface="微软雅黑" panose="020B0503020204020204" charset="-122"/>
                <a:ea typeface="微软雅黑" panose="020B0503020204020204" charset="-122"/>
              </a:rPr>
              <a:t>文件读写接口。</a:t>
            </a:r>
            <a:endParaRPr lang="en-US" altLang="zh-CN" sz="1600" dirty="0">
              <a:latin typeface="微软雅黑" panose="020B0503020204020204" charset="-122"/>
              <a:ea typeface="微软雅黑" panose="020B0503020204020204" charset="-122"/>
            </a:endParaRPr>
          </a:p>
        </p:txBody>
      </p:sp>
      <p:sp>
        <p:nvSpPr>
          <p:cNvPr id="8" name="文本框 7"/>
          <p:cNvSpPr txBox="1"/>
          <p:nvPr>
            <p:custDataLst>
              <p:tags r:id="rId9"/>
            </p:custDataLst>
          </p:nvPr>
        </p:nvSpPr>
        <p:spPr>
          <a:xfrm>
            <a:off x="4058920" y="2665730"/>
            <a:ext cx="6816090" cy="460375"/>
          </a:xfrm>
          <a:prstGeom prst="rect">
            <a:avLst/>
          </a:prstGeom>
          <a:noFill/>
        </p:spPr>
        <p:txBody>
          <a:bodyPr wrap="square" rtlCol="0" anchor="ctr" anchorCtr="0">
            <a:spAutoFit/>
          </a:bodyPr>
          <a:p>
            <a:pPr indent="0" algn="l" fontAlgn="auto">
              <a:lnSpc>
                <a:spcPct val="150000"/>
              </a:lnSpc>
            </a:pPr>
            <a:r>
              <a:rPr lang="zh-CN" altLang="en-US" sz="1600" dirty="0">
                <a:latin typeface="微软雅黑" panose="020B0503020204020204" charset="-122"/>
                <a:ea typeface="微软雅黑" panose="020B0503020204020204" charset="-122"/>
              </a:rPr>
              <a:t>定义几何模型的基本接口，创建、编辑等，包含部件装配体定义。</a:t>
            </a:r>
            <a:endParaRPr lang="zh-CN" altLang="en-US" sz="1600" dirty="0">
              <a:latin typeface="微软雅黑" panose="020B0503020204020204" charset="-122"/>
              <a:ea typeface="微软雅黑" panose="020B0503020204020204" charset="-122"/>
            </a:endParaRPr>
          </a:p>
        </p:txBody>
      </p:sp>
      <p:sp>
        <p:nvSpPr>
          <p:cNvPr id="20" name="文本框 19"/>
          <p:cNvSpPr txBox="1"/>
          <p:nvPr>
            <p:custDataLst>
              <p:tags r:id="rId10"/>
            </p:custDataLst>
          </p:nvPr>
        </p:nvSpPr>
        <p:spPr>
          <a:xfrm>
            <a:off x="4058920" y="3234690"/>
            <a:ext cx="7170420"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定义简单的网格数据结构，包含结构网格、非结构网格等</a:t>
            </a:r>
            <a:endParaRPr lang="zh-CN" sz="1600" dirty="0">
              <a:latin typeface="微软雅黑" panose="020B0503020204020204" charset="-122"/>
              <a:ea typeface="微软雅黑" panose="020B0503020204020204" charset="-122"/>
            </a:endParaRPr>
          </a:p>
        </p:txBody>
      </p:sp>
      <p:sp>
        <p:nvSpPr>
          <p:cNvPr id="11" name="文本框 10"/>
          <p:cNvSpPr txBox="1"/>
          <p:nvPr>
            <p:custDataLst>
              <p:tags r:id="rId11"/>
            </p:custDataLst>
          </p:nvPr>
        </p:nvSpPr>
        <p:spPr>
          <a:xfrm>
            <a:off x="4058920" y="3803650"/>
            <a:ext cx="7171055"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定义基础物理属性接口，材料、载荷、边界条件，使其能够与模型与网格关联。</a:t>
            </a:r>
            <a:endParaRPr lang="zh-CN" sz="1600" dirty="0">
              <a:latin typeface="微软雅黑" panose="020B0503020204020204" charset="-122"/>
              <a:ea typeface="微软雅黑" panose="020B0503020204020204" charset="-122"/>
            </a:endParaRPr>
          </a:p>
        </p:txBody>
      </p:sp>
      <p:sp>
        <p:nvSpPr>
          <p:cNvPr id="12" name="文本框 11"/>
          <p:cNvSpPr txBox="1"/>
          <p:nvPr>
            <p:custDataLst>
              <p:tags r:id="rId12"/>
            </p:custDataLst>
          </p:nvPr>
        </p:nvSpPr>
        <p:spPr>
          <a:xfrm>
            <a:off x="4058920" y="4372610"/>
            <a:ext cx="7171055"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定义通用结构分析的数据结构，包含材料本构、相互作用、载荷、坐标系等。</a:t>
            </a:r>
            <a:endParaRPr lang="zh-CN" sz="1600" dirty="0">
              <a:latin typeface="微软雅黑" panose="020B0503020204020204" charset="-122"/>
              <a:ea typeface="微软雅黑" panose="020B0503020204020204" charset="-122"/>
            </a:endParaRPr>
          </a:p>
        </p:txBody>
      </p:sp>
      <p:sp>
        <p:nvSpPr>
          <p:cNvPr id="13" name="文本框 12"/>
          <p:cNvSpPr txBox="1"/>
          <p:nvPr>
            <p:custDataLst>
              <p:tags r:id="rId13"/>
            </p:custDataLst>
          </p:nvPr>
        </p:nvSpPr>
        <p:spPr>
          <a:xfrm>
            <a:off x="4058920" y="4941570"/>
            <a:ext cx="7171055"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参考</a:t>
            </a:r>
            <a:r>
              <a:rPr lang="en-US" altLang="zh-CN" sz="1600" dirty="0">
                <a:latin typeface="微软雅黑" panose="020B0503020204020204" charset="-122"/>
                <a:ea typeface="微软雅黑" panose="020B0503020204020204" charset="-122"/>
              </a:rPr>
              <a:t>OpenFOAM</a:t>
            </a:r>
            <a:r>
              <a:rPr lang="zh-CN" altLang="en-US" sz="1600" dirty="0">
                <a:latin typeface="微软雅黑" panose="020B0503020204020204" charset="-122"/>
                <a:ea typeface="微软雅黑" panose="020B0503020204020204" charset="-122"/>
              </a:rPr>
              <a:t>，定义流体分析的数据接口，包含多种湍流模型、多相流等。</a:t>
            </a:r>
            <a:endParaRPr lang="zh-CN" altLang="en-US" sz="1600" dirty="0">
              <a:latin typeface="微软雅黑" panose="020B0503020204020204" charset="-122"/>
              <a:ea typeface="微软雅黑" panose="020B0503020204020204" charset="-122"/>
            </a:endParaRPr>
          </a:p>
        </p:txBody>
      </p:sp>
      <p:sp>
        <p:nvSpPr>
          <p:cNvPr id="15" name="矩形 14"/>
          <p:cNvSpPr/>
          <p:nvPr>
            <p:custDataLst>
              <p:tags r:id="rId14"/>
            </p:custDataLst>
          </p:nvPr>
        </p:nvSpPr>
        <p:spPr>
          <a:xfrm>
            <a:off x="1358265" y="555815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结构分析后处理接口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9" name="文本框 18"/>
          <p:cNvSpPr txBox="1"/>
          <p:nvPr>
            <p:custDataLst>
              <p:tags r:id="rId15"/>
            </p:custDataLst>
          </p:nvPr>
        </p:nvSpPr>
        <p:spPr>
          <a:xfrm>
            <a:off x="4058920" y="5510530"/>
            <a:ext cx="7171055"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定义基础的后处理功能接口，实现变形、显式分析动画功能。</a:t>
            </a:r>
            <a:endParaRPr lang="zh-CN" sz="1600" dirty="0">
              <a:latin typeface="微软雅黑" panose="020B0503020204020204" charset="-122"/>
              <a:ea typeface="微软雅黑" panose="020B0503020204020204" charset="-122"/>
            </a:endParaRPr>
          </a:p>
        </p:txBody>
      </p:sp>
      <p:sp>
        <p:nvSpPr>
          <p:cNvPr id="21" name="矩形 20"/>
          <p:cNvSpPr/>
          <p:nvPr>
            <p:custDataLst>
              <p:tags r:id="rId16"/>
            </p:custDataLst>
          </p:nvPr>
        </p:nvSpPr>
        <p:spPr>
          <a:xfrm>
            <a:off x="1358265" y="613410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rPr>
              <a:t>流体分析后处理接口</a:t>
            </a:r>
            <a:endParaRPr lang="zh-CN" altLang="en-US" dirty="0" smtClean="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22" name="文本框 21"/>
          <p:cNvSpPr txBox="1"/>
          <p:nvPr>
            <p:custDataLst>
              <p:tags r:id="rId17"/>
            </p:custDataLst>
          </p:nvPr>
        </p:nvSpPr>
        <p:spPr>
          <a:xfrm>
            <a:off x="4058920" y="6079490"/>
            <a:ext cx="7171055" cy="460375"/>
          </a:xfrm>
          <a:prstGeom prst="rect">
            <a:avLst/>
          </a:prstGeom>
          <a:noFill/>
        </p:spPr>
        <p:txBody>
          <a:bodyPr wrap="square" rtlCol="0" anchor="ctr" anchorCtr="0">
            <a:spAutoFit/>
          </a:bodyPr>
          <a:p>
            <a:pPr indent="0" algn="l" fontAlgn="auto">
              <a:lnSpc>
                <a:spcPct val="150000"/>
              </a:lnSpc>
            </a:pPr>
            <a:r>
              <a:rPr lang="zh-CN" sz="1600" dirty="0">
                <a:latin typeface="微软雅黑" panose="020B0503020204020204" charset="-122"/>
                <a:ea typeface="微软雅黑" panose="020B0503020204020204" charset="-122"/>
              </a:rPr>
              <a:t>定义基础的后处理功能接口，云图、流线、切面、变量计算等。</a:t>
            </a:r>
            <a:endParaRPr lang="zh-CN" sz="1600" dirty="0">
              <a:latin typeface="微软雅黑" panose="020B0503020204020204" charset="-122"/>
              <a:ea typeface="微软雅黑" panose="020B0503020204020204" charset="-122"/>
            </a:endParaRPr>
          </a:p>
        </p:txBody>
      </p:sp>
    </p:spTree>
  </p:cSld>
  <p:clrMapOvr>
    <a:masterClrMapping/>
  </p:clrMapOvr>
  <p:transition spd="slow"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学科应用软件二次开发接口</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12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2" name="组合 1"/>
          <p:cNvGrpSpPr/>
          <p:nvPr/>
        </p:nvGrpSpPr>
        <p:grpSpPr>
          <a:xfrm>
            <a:off x="5680075" y="2764155"/>
            <a:ext cx="4838064" cy="3335655"/>
            <a:chOff x="5001784" y="3597885"/>
            <a:chExt cx="3972569" cy="2785745"/>
          </a:xfrm>
        </p:grpSpPr>
        <p:sp>
          <p:nvSpPr>
            <p:cNvPr id="21" name="矩形 20"/>
            <p:cNvSpPr/>
            <p:nvPr/>
          </p:nvSpPr>
          <p:spPr>
            <a:xfrm>
              <a:off x="5001784" y="3597885"/>
              <a:ext cx="2316712" cy="2784573"/>
            </a:xfrm>
            <a:prstGeom prst="rect">
              <a:avLst/>
            </a:prstGeom>
            <a:solidFill>
              <a:schemeClr val="accent5">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270" marR="0" lvl="0" indent="0" defTabSz="914400" rtl="0" eaLnBrk="1" fontAlgn="auto" latinLnBrk="0" hangingPunct="1">
                <a:lnSpc>
                  <a:spcPct val="150000"/>
                </a:lnSpc>
                <a:spcBef>
                  <a:spcPts val="0"/>
                </a:spcBef>
                <a:spcAft>
                  <a:spcPts val="0"/>
                </a:spcAft>
                <a:buClr>
                  <a:prstClr val="black"/>
                </a:buClr>
                <a:buSzPct val="80000"/>
                <a:buFontTx/>
                <a:buNone/>
                <a:defRPr/>
              </a:pPr>
              <a:r>
                <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rPr>
                <a:t>       学科</a:t>
              </a:r>
              <a:endPar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endParaRPr>
            </a:p>
            <a:p>
              <a:pPr marL="1270" marR="0" lvl="0" indent="0" defTabSz="914400" rtl="0" eaLnBrk="1" fontAlgn="auto" latinLnBrk="0" hangingPunct="1">
                <a:lnSpc>
                  <a:spcPct val="150000"/>
                </a:lnSpc>
                <a:spcBef>
                  <a:spcPts val="0"/>
                </a:spcBef>
                <a:spcAft>
                  <a:spcPts val="0"/>
                </a:spcAft>
                <a:buClr>
                  <a:prstClr val="black"/>
                </a:buClr>
                <a:buSzPct val="80000"/>
                <a:buFontTx/>
                <a:buNone/>
                <a:defRPr/>
              </a:pPr>
              <a:r>
                <a:rPr kumimoji="0" lang="en-US" altLang="zh-CN"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rPr>
                <a:t>       </a:t>
              </a:r>
              <a:r>
                <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rPr>
                <a:t>应用</a:t>
              </a:r>
              <a:endPar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endParaRPr>
            </a:p>
            <a:p>
              <a:pPr marL="1270" marR="0" lvl="0" indent="0" defTabSz="914400" rtl="0" eaLnBrk="1" fontAlgn="auto" latinLnBrk="0" hangingPunct="1">
                <a:lnSpc>
                  <a:spcPct val="150000"/>
                </a:lnSpc>
                <a:spcBef>
                  <a:spcPts val="0"/>
                </a:spcBef>
                <a:spcAft>
                  <a:spcPts val="0"/>
                </a:spcAft>
                <a:buClr>
                  <a:prstClr val="black"/>
                </a:buClr>
                <a:buSzPct val="80000"/>
                <a:buFontTx/>
                <a:buNone/>
                <a:defRPr/>
              </a:pPr>
              <a:r>
                <a:rPr kumimoji="0" lang="en-US" altLang="zh-CN"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rPr>
                <a:t>       </a:t>
              </a:r>
              <a:r>
                <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rPr>
                <a:t>软件</a:t>
              </a:r>
              <a:endParaRPr kumimoji="0" lang="zh-CN" altLang="en-US"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endParaRPr>
            </a:p>
          </p:txBody>
        </p:sp>
        <p:sp>
          <p:nvSpPr>
            <p:cNvPr id="22" name="矩形 21"/>
            <p:cNvSpPr/>
            <p:nvPr/>
          </p:nvSpPr>
          <p:spPr>
            <a:xfrm>
              <a:off x="6721364" y="3597885"/>
              <a:ext cx="607060" cy="2785745"/>
            </a:xfrm>
            <a:prstGeom prst="rect">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270" marR="0" lvl="0" indent="0" algn="ctr" defTabSz="914400" rtl="0" eaLnBrk="1" fontAlgn="auto" latinLnBrk="0" hangingPunct="1">
                <a:lnSpc>
                  <a:spcPct val="100000"/>
                </a:lnSpc>
                <a:spcBef>
                  <a:spcPts val="0"/>
                </a:spcBef>
                <a:spcAft>
                  <a:spcPts val="0"/>
                </a:spcAft>
                <a:buClr>
                  <a:prstClr val="black"/>
                </a:buClr>
                <a:buSzPct val="80000"/>
                <a:buFontTx/>
                <a:buNone/>
                <a:defRPr/>
              </a:pPr>
              <a:r>
                <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rPr>
                <a:t>插</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endParaRPr>
            </a:p>
            <a:p>
              <a:pPr marL="1270" marR="0" lvl="0" indent="0" algn="ctr" defTabSz="914400" rtl="0" eaLnBrk="1" fontAlgn="auto" latinLnBrk="0" hangingPunct="1">
                <a:lnSpc>
                  <a:spcPct val="100000"/>
                </a:lnSpc>
                <a:spcBef>
                  <a:spcPts val="0"/>
                </a:spcBef>
                <a:spcAft>
                  <a:spcPts val="0"/>
                </a:spcAft>
                <a:buClr>
                  <a:prstClr val="black"/>
                </a:buClr>
                <a:buSzPct val="80000"/>
                <a:buFontTx/>
                <a:buNone/>
                <a:defRPr/>
              </a:pPr>
              <a:r>
                <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rPr>
                <a:t>件</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endParaRPr>
            </a:p>
            <a:p>
              <a:pPr marL="1270" marR="0" lvl="0" indent="0" algn="ctr" defTabSz="914400" rtl="0" eaLnBrk="1" fontAlgn="auto" latinLnBrk="0" hangingPunct="1">
                <a:lnSpc>
                  <a:spcPct val="100000"/>
                </a:lnSpc>
                <a:spcBef>
                  <a:spcPts val="0"/>
                </a:spcBef>
                <a:spcAft>
                  <a:spcPts val="0"/>
                </a:spcAft>
                <a:buClr>
                  <a:prstClr val="black"/>
                </a:buClr>
                <a:buSzPct val="80000"/>
                <a:buFontTx/>
                <a:buNone/>
                <a:defRPr/>
              </a:pPr>
              <a:r>
                <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rPr>
                <a:t>系</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endParaRPr>
            </a:p>
            <a:p>
              <a:pPr marL="1270" marR="0" lvl="0" indent="0" algn="ctr" defTabSz="914400" rtl="0" eaLnBrk="1" fontAlgn="auto" latinLnBrk="0" hangingPunct="1">
                <a:lnSpc>
                  <a:spcPct val="100000"/>
                </a:lnSpc>
                <a:spcBef>
                  <a:spcPts val="0"/>
                </a:spcBef>
                <a:spcAft>
                  <a:spcPts val="0"/>
                </a:spcAft>
                <a:buClr>
                  <a:prstClr val="black"/>
                </a:buClr>
                <a:buSzPct val="80000"/>
                <a:buFontTx/>
                <a:buNone/>
                <a:defRPr/>
              </a:pPr>
              <a:r>
                <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rPr>
                <a:t>统</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endParaRPr>
            </a:p>
          </p:txBody>
        </p:sp>
        <p:sp>
          <p:nvSpPr>
            <p:cNvPr id="26" name="矩形 25"/>
            <p:cNvSpPr/>
            <p:nvPr/>
          </p:nvSpPr>
          <p:spPr>
            <a:xfrm>
              <a:off x="8554474" y="3597885"/>
              <a:ext cx="418697" cy="2784573"/>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270" marR="0" lvl="0" indent="0" algn="ctr" defTabSz="914400" rtl="0" eaLnBrk="1" fontAlgn="auto" latinLnBrk="0" hangingPunct="1">
                <a:lnSpc>
                  <a:spcPct val="100000"/>
                </a:lnSpc>
                <a:spcBef>
                  <a:spcPts val="0"/>
                </a:spcBef>
                <a:spcAft>
                  <a:spcPts val="0"/>
                </a:spcAft>
                <a:buClr>
                  <a:prstClr val="black"/>
                </a:buClr>
                <a:buSzPct val="80000"/>
                <a:buFontTx/>
                <a:buNone/>
                <a:defRPr/>
              </a:pPr>
              <a:r>
                <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rPr>
                <a:t>插件</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宋体" panose="02010600030101010101" pitchFamily="2" charset="-122"/>
              </a:endParaRPr>
            </a:p>
          </p:txBody>
        </p:sp>
        <p:sp>
          <p:nvSpPr>
            <p:cNvPr id="27" name="矩形 26"/>
            <p:cNvSpPr/>
            <p:nvPr/>
          </p:nvSpPr>
          <p:spPr>
            <a:xfrm>
              <a:off x="6719660" y="3870935"/>
              <a:ext cx="605977" cy="330716"/>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270" marR="0" lvl="0" indent="0" algn="just" defTabSz="914400" rtl="0" eaLnBrk="1" fontAlgn="auto" latinLnBrk="0" hangingPunct="1">
                <a:lnSpc>
                  <a:spcPct val="100000"/>
                </a:lnSpc>
                <a:spcBef>
                  <a:spcPts val="0"/>
                </a:spcBef>
                <a:spcAft>
                  <a:spcPts val="0"/>
                </a:spcAft>
                <a:buClr>
                  <a:prstClr val="black"/>
                </a:buClr>
                <a:buSzPct val="80000"/>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endParaRPr>
            </a:p>
          </p:txBody>
        </p:sp>
        <p:sp>
          <p:nvSpPr>
            <p:cNvPr id="28" name="矩形 27"/>
            <p:cNvSpPr/>
            <p:nvPr/>
          </p:nvSpPr>
          <p:spPr>
            <a:xfrm>
              <a:off x="8554618" y="3870935"/>
              <a:ext cx="419735" cy="30797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1270" marR="0" lvl="0" indent="0" algn="just" defTabSz="914400" rtl="0" eaLnBrk="1" fontAlgn="auto" latinLnBrk="0" hangingPunct="1">
                <a:lnSpc>
                  <a:spcPct val="100000"/>
                </a:lnSpc>
                <a:spcBef>
                  <a:spcPts val="0"/>
                </a:spcBef>
                <a:spcAft>
                  <a:spcPts val="0"/>
                </a:spcAft>
                <a:buClr>
                  <a:prstClr val="black"/>
                </a:buClr>
                <a:buSzPct val="80000"/>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宋体" panose="02010600030101010101" pitchFamily="2" charset="-122"/>
              </a:endParaRPr>
            </a:p>
          </p:txBody>
        </p:sp>
        <p:sp>
          <p:nvSpPr>
            <p:cNvPr id="48" name="文本框 47"/>
            <p:cNvSpPr txBox="1"/>
            <p:nvPr/>
          </p:nvSpPr>
          <p:spPr>
            <a:xfrm>
              <a:off x="7387590" y="3597885"/>
              <a:ext cx="1068276" cy="281597"/>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管理识别</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49" name="文本框 48"/>
            <p:cNvSpPr txBox="1"/>
            <p:nvPr/>
          </p:nvSpPr>
          <p:spPr>
            <a:xfrm>
              <a:off x="7473389" y="6043904"/>
              <a:ext cx="771542" cy="281597"/>
            </a:xfrm>
            <a:prstGeom prst="rect">
              <a:avLst/>
            </a:prstGeom>
            <a:noFill/>
          </p:spPr>
          <p:txBody>
            <a:bodyPr wrap="square" rtlCol="0">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rPr>
                <a:t>调用</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grpSp>
      <p:sp>
        <p:nvSpPr>
          <p:cNvPr id="3" name="文本框 2"/>
          <p:cNvSpPr txBox="1"/>
          <p:nvPr/>
        </p:nvSpPr>
        <p:spPr>
          <a:xfrm>
            <a:off x="671830" y="1217295"/>
            <a:ext cx="10782935" cy="922020"/>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rPr>
              <a:t>      FastCAE</a:t>
            </a:r>
            <a:r>
              <a:rPr lang="zh-CN" altLang="en-US">
                <a:latin typeface="微软雅黑" panose="020B0503020204020204" charset="-122"/>
                <a:ea typeface="微软雅黑" panose="020B0503020204020204" charset="-122"/>
                <a:cs typeface="微软雅黑" panose="020B0503020204020204" charset="-122"/>
              </a:rPr>
              <a:t>插件系统旨在为用户提供一个灵活且强大的工具，通过该系统，用户不仅可以访问预装的核心功能，还可以通过安装来自社区或其他来源的插件来扩展软件解决具体工程问题的能力。</a:t>
            </a: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圆角矩形 4"/>
          <p:cNvSpPr/>
          <p:nvPr>
            <p:custDataLst>
              <p:tags r:id="rId2"/>
            </p:custDataLst>
          </p:nvPr>
        </p:nvSpPr>
        <p:spPr>
          <a:xfrm rot="10800000" flipV="1">
            <a:off x="1714500" y="2762885"/>
            <a:ext cx="2792095" cy="46799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600">
                <a:effectLst/>
                <a:uFillTx/>
                <a:latin typeface="微软雅黑" panose="020B0503020204020204" charset="-122"/>
                <a:ea typeface="微软雅黑" panose="020B0503020204020204" charset="-122"/>
                <a:cs typeface="+mn-ea"/>
                <a:sym typeface="+mn-ea"/>
              </a:rPr>
              <a:t>功能组件替换</a:t>
            </a:r>
            <a:r>
              <a:rPr lang="en-US" altLang="zh-CN" sz="1600">
                <a:effectLst/>
                <a:uFillTx/>
                <a:latin typeface="微软雅黑" panose="020B0503020204020204" charset="-122"/>
                <a:ea typeface="微软雅黑" panose="020B0503020204020204" charset="-122"/>
                <a:cs typeface="+mn-ea"/>
                <a:sym typeface="+mn-ea"/>
              </a:rPr>
              <a:t>/</a:t>
            </a:r>
            <a:r>
              <a:rPr lang="zh-CN" altLang="en-US" sz="1600">
                <a:effectLst/>
                <a:uFillTx/>
                <a:latin typeface="微软雅黑" panose="020B0503020204020204" charset="-122"/>
                <a:ea typeface="微软雅黑" panose="020B0503020204020204" charset="-122"/>
                <a:cs typeface="+mn-ea"/>
                <a:sym typeface="+mn-ea"/>
              </a:rPr>
              <a:t>添加</a:t>
            </a:r>
            <a:endParaRPr lang="zh-CN" altLang="en-US" sz="1600">
              <a:effectLst/>
              <a:uFillTx/>
              <a:latin typeface="微软雅黑" panose="020B0503020204020204" charset="-122"/>
              <a:ea typeface="微软雅黑" panose="020B0503020204020204" charset="-122"/>
              <a:cs typeface="+mn-ea"/>
              <a:sym typeface="+mn-ea"/>
            </a:endParaRPr>
          </a:p>
        </p:txBody>
      </p:sp>
      <p:sp>
        <p:nvSpPr>
          <p:cNvPr id="6" name="圆角矩形 5"/>
          <p:cNvSpPr/>
          <p:nvPr>
            <p:custDataLst>
              <p:tags r:id="rId3"/>
            </p:custDataLst>
          </p:nvPr>
        </p:nvSpPr>
        <p:spPr>
          <a:xfrm rot="10800000" flipV="1">
            <a:off x="1714500" y="4140835"/>
            <a:ext cx="2792095" cy="46799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600">
                <a:effectLst/>
                <a:uFillTx/>
                <a:latin typeface="微软雅黑" panose="020B0503020204020204" charset="-122"/>
                <a:ea typeface="微软雅黑" panose="020B0503020204020204" charset="-122"/>
                <a:cs typeface="+mn-ea"/>
                <a:sym typeface="+mn-ea"/>
              </a:rPr>
              <a:t>数据交换接口</a:t>
            </a:r>
            <a:endParaRPr lang="zh-CN" altLang="en-US" sz="1600">
              <a:effectLst/>
              <a:uFillTx/>
              <a:latin typeface="微软雅黑" panose="020B0503020204020204" charset="-122"/>
              <a:ea typeface="微软雅黑" panose="020B0503020204020204" charset="-122"/>
              <a:cs typeface="+mn-ea"/>
              <a:sym typeface="+mn-ea"/>
            </a:endParaRPr>
          </a:p>
        </p:txBody>
      </p:sp>
      <p:sp>
        <p:nvSpPr>
          <p:cNvPr id="7" name="圆角矩形 6"/>
          <p:cNvSpPr/>
          <p:nvPr>
            <p:custDataLst>
              <p:tags r:id="rId4"/>
            </p:custDataLst>
          </p:nvPr>
        </p:nvSpPr>
        <p:spPr>
          <a:xfrm rot="10800000" flipV="1">
            <a:off x="1714500" y="4829810"/>
            <a:ext cx="2792095" cy="46799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600">
                <a:effectLst/>
                <a:uFillTx/>
                <a:latin typeface="微软雅黑" panose="020B0503020204020204" charset="-122"/>
                <a:ea typeface="微软雅黑" panose="020B0503020204020204" charset="-122"/>
                <a:cs typeface="+mn-ea"/>
                <a:sym typeface="+mn-ea"/>
              </a:rPr>
              <a:t>可视化增强</a:t>
            </a:r>
            <a:endParaRPr lang="zh-CN" altLang="en-US" sz="1600">
              <a:effectLst/>
              <a:uFillTx/>
              <a:latin typeface="微软雅黑" panose="020B0503020204020204" charset="-122"/>
              <a:ea typeface="微软雅黑" panose="020B0503020204020204" charset="-122"/>
              <a:cs typeface="+mn-ea"/>
              <a:sym typeface="+mn-ea"/>
            </a:endParaRPr>
          </a:p>
        </p:txBody>
      </p:sp>
      <p:sp>
        <p:nvSpPr>
          <p:cNvPr id="8" name="圆角矩形 7"/>
          <p:cNvSpPr/>
          <p:nvPr>
            <p:custDataLst>
              <p:tags r:id="rId5"/>
            </p:custDataLst>
          </p:nvPr>
        </p:nvSpPr>
        <p:spPr>
          <a:xfrm rot="10800000" flipV="1">
            <a:off x="1714500" y="5518785"/>
            <a:ext cx="2792095" cy="46799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600">
                <a:effectLst/>
                <a:uFillTx/>
                <a:latin typeface="微软雅黑" panose="020B0503020204020204" charset="-122"/>
                <a:ea typeface="微软雅黑" panose="020B0503020204020204" charset="-122"/>
                <a:cs typeface="+mn-ea"/>
                <a:sym typeface="+mn-ea"/>
              </a:rPr>
              <a:t>算法拓展</a:t>
            </a:r>
            <a:endParaRPr lang="zh-CN" altLang="en-US" sz="1600">
              <a:effectLst/>
              <a:uFillTx/>
              <a:latin typeface="微软雅黑" panose="020B0503020204020204" charset="-122"/>
              <a:ea typeface="微软雅黑" panose="020B0503020204020204" charset="-122"/>
              <a:cs typeface="+mn-ea"/>
              <a:sym typeface="+mn-ea"/>
            </a:endParaRPr>
          </a:p>
        </p:txBody>
      </p:sp>
      <p:sp>
        <p:nvSpPr>
          <p:cNvPr id="9" name="圆角矩形 8"/>
          <p:cNvSpPr/>
          <p:nvPr>
            <p:custDataLst>
              <p:tags r:id="rId6"/>
            </p:custDataLst>
          </p:nvPr>
        </p:nvSpPr>
        <p:spPr>
          <a:xfrm rot="10800000" flipV="1">
            <a:off x="1714500" y="3451860"/>
            <a:ext cx="2792095" cy="46799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600">
                <a:effectLst/>
                <a:uFillTx/>
                <a:latin typeface="微软雅黑" panose="020B0503020204020204" charset="-122"/>
                <a:ea typeface="微软雅黑" panose="020B0503020204020204" charset="-122"/>
                <a:cs typeface="+mn-ea"/>
                <a:sym typeface="+mn-ea"/>
              </a:rPr>
              <a:t>自定义仿真流程</a:t>
            </a:r>
            <a:endParaRPr lang="zh-CN" altLang="en-US" sz="1600">
              <a:effectLst/>
              <a:uFillTx/>
              <a:latin typeface="微软雅黑" panose="020B0503020204020204" charset="-122"/>
              <a:ea typeface="微软雅黑" panose="020B0503020204020204" charset="-122"/>
              <a:cs typeface="+mn-ea"/>
              <a:sym typeface="+mn-ea"/>
            </a:endParaRPr>
          </a:p>
        </p:txBody>
      </p:sp>
      <p:sp>
        <p:nvSpPr>
          <p:cNvPr id="266" name="任意多边形: 形状 265"/>
          <p:cNvSpPr/>
          <p:nvPr/>
        </p:nvSpPr>
        <p:spPr bwMode="auto">
          <a:xfrm rot="10800000">
            <a:off x="8830310" y="5040630"/>
            <a:ext cx="784225" cy="53149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2" name="任意多边形: 形状 265"/>
          <p:cNvSpPr/>
          <p:nvPr/>
        </p:nvSpPr>
        <p:spPr bwMode="auto">
          <a:xfrm rot="10800000">
            <a:off x="8807450" y="4632325"/>
            <a:ext cx="784225" cy="53149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 name="任意多边形: 形状 265"/>
          <p:cNvSpPr/>
          <p:nvPr/>
        </p:nvSpPr>
        <p:spPr bwMode="auto">
          <a:xfrm rot="10800000">
            <a:off x="8807450" y="4224020"/>
            <a:ext cx="784225" cy="53149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 name="任意多边形: 形状 265"/>
          <p:cNvSpPr/>
          <p:nvPr/>
        </p:nvSpPr>
        <p:spPr bwMode="auto">
          <a:xfrm rot="10800000">
            <a:off x="8784590" y="3815715"/>
            <a:ext cx="784225" cy="53149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gradFill>
              <a:gsLst>
                <a:gs pos="100000">
                  <a:schemeClr val="accent1">
                    <a:lumMod val="60000"/>
                    <a:lumOff val="40000"/>
                  </a:schemeClr>
                </a:gs>
                <a:gs pos="65000">
                  <a:schemeClr val="accent1">
                    <a:lumMod val="60000"/>
                    <a:lumOff val="40000"/>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371" name="任意多边形: 形状 53"/>
          <p:cNvSpPr/>
          <p:nvPr/>
        </p:nvSpPr>
        <p:spPr>
          <a:xfrm rot="5400000" flipH="1" flipV="1">
            <a:off x="8841822" y="3154801"/>
            <a:ext cx="308890" cy="327133"/>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0">
                <a:schemeClr val="accent1">
                  <a:lumMod val="60000"/>
                  <a:lumOff val="40000"/>
                  <a:alpha val="0"/>
                </a:schemeClr>
              </a:gs>
              <a:gs pos="100000">
                <a:schemeClr val="accent1"/>
              </a:gs>
            </a:gsLst>
            <a:lin ang="16200000" scaled="0"/>
            <a:tileRect/>
          </a:gradFill>
          <a:ln w="3175">
            <a:gradFill flip="none" rotWithShape="1">
              <a:gsLst>
                <a:gs pos="0">
                  <a:schemeClr val="accent1">
                    <a:alpha val="0"/>
                  </a:schemeClr>
                </a:gs>
                <a:gs pos="77000">
                  <a:schemeClr val="accent1"/>
                </a:gs>
              </a:gsLst>
              <a:lin ang="16200000" scaled="0"/>
              <a:tileRect/>
            </a:gradFill>
            <a:round/>
          </a:ln>
          <a:effectLst>
            <a:outerShdw blurRad="152400" sx="102000" sy="102000" algn="ctr" rotWithShape="0">
              <a:schemeClr val="accent1">
                <a:lumMod val="60000"/>
                <a:lumOff val="40000"/>
              </a:schemeClr>
            </a:outerShdw>
          </a:effectLst>
        </p:spPr>
        <p:txBody>
          <a:bodyPr vert="horz" wrap="square" lIns="91440" tIns="45720" rIns="91440" bIns="45720" numCol="1" anchor="t" anchorCtr="0" compatLnSpc="1"/>
          <a:p>
            <a:endParaRPr lang="zh-CN" altLang="en-US" dirty="0">
              <a:solidFill>
                <a:schemeClr val="tx1"/>
              </a:solidFill>
              <a:cs typeface="思源黑体 CN Normal" panose="020B0400000000000000" charset="-122"/>
            </a:endParaRPr>
          </a:p>
        </p:txBody>
      </p:sp>
      <p:sp>
        <p:nvSpPr>
          <p:cNvPr id="375" name="任意多边形: 形状 53"/>
          <p:cNvSpPr/>
          <p:nvPr/>
        </p:nvSpPr>
        <p:spPr>
          <a:xfrm rot="-5400000" flipV="1">
            <a:off x="9279157" y="3160517"/>
            <a:ext cx="308890" cy="327133"/>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0">
                <a:schemeClr val="accent1">
                  <a:lumMod val="60000"/>
                  <a:lumOff val="40000"/>
                  <a:alpha val="0"/>
                </a:schemeClr>
              </a:gs>
              <a:gs pos="100000">
                <a:schemeClr val="accent1"/>
              </a:gs>
            </a:gsLst>
            <a:lin ang="16200000" scaled="0"/>
            <a:tileRect/>
          </a:gradFill>
          <a:ln w="3175">
            <a:gradFill flip="none" rotWithShape="1">
              <a:gsLst>
                <a:gs pos="0">
                  <a:schemeClr val="accent1">
                    <a:alpha val="0"/>
                  </a:schemeClr>
                </a:gs>
                <a:gs pos="77000">
                  <a:schemeClr val="accent1"/>
                </a:gs>
              </a:gsLst>
              <a:lin ang="16200000" scaled="0"/>
              <a:tileRect/>
            </a:gradFill>
            <a:round/>
          </a:ln>
          <a:effectLst>
            <a:outerShdw blurRad="152400" sx="102000" sy="102000" algn="ctr" rotWithShape="0">
              <a:schemeClr val="accent1">
                <a:lumMod val="60000"/>
                <a:lumOff val="40000"/>
              </a:schemeClr>
            </a:outerShdw>
          </a:effectLst>
        </p:spPr>
        <p:txBody>
          <a:bodyPr vert="horz" wrap="square" lIns="91440" tIns="45720" rIns="91440" bIns="45720" numCol="1" anchor="t" anchorCtr="0" compatLnSpc="1"/>
          <a:p>
            <a:endParaRPr lang="zh-CN" altLang="en-US" dirty="0">
              <a:solidFill>
                <a:schemeClr val="tx1"/>
              </a:solidFill>
              <a:cs typeface="思源黑体 CN Normal" panose="020B0400000000000000" charset="-122"/>
            </a:endParaRPr>
          </a:p>
        </p:txBody>
      </p:sp>
      <p:sp>
        <p:nvSpPr>
          <p:cNvPr id="4" name="文本框 3"/>
          <p:cNvSpPr txBox="1"/>
          <p:nvPr/>
        </p:nvSpPr>
        <p:spPr>
          <a:xfrm>
            <a:off x="6243955" y="6317615"/>
            <a:ext cx="4064000" cy="368300"/>
          </a:xfrm>
          <a:prstGeom prst="rect">
            <a:avLst/>
          </a:prstGeom>
          <a:noFill/>
        </p:spPr>
        <p:txBody>
          <a:bodyPr wrap="square" rtlCol="0">
            <a:spAutoFit/>
          </a:bodyPr>
          <a:p>
            <a:r>
              <a:rPr lang="zh-CN" altLang="en-US"/>
              <a:t>参阅《插件系统开发与使用说明</a:t>
            </a:r>
            <a:r>
              <a:rPr lang="zh-CN" altLang="en-US"/>
              <a:t>》</a:t>
            </a:r>
            <a:endParaRPr lang="zh-CN" altLang="en-US"/>
          </a:p>
        </p:txBody>
      </p:sp>
    </p:spTree>
  </p:cSld>
  <p:clrMapOvr>
    <a:masterClrMapping/>
  </p:clrMapOvr>
  <p:transition spd="slow"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学科应用软件全流程脚本</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13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14" name="组合 13"/>
          <p:cNvGrpSpPr/>
          <p:nvPr/>
        </p:nvGrpSpPr>
        <p:grpSpPr>
          <a:xfrm>
            <a:off x="7567674" y="2550477"/>
            <a:ext cx="3138733" cy="3640762"/>
            <a:chOff x="1939307" y="2762959"/>
            <a:chExt cx="3138733" cy="3640762"/>
          </a:xfrm>
        </p:grpSpPr>
        <p:sp>
          <p:nvSpPr>
            <p:cNvPr id="93" name="Freeform 13"/>
            <p:cNvSpPr/>
            <p:nvPr/>
          </p:nvSpPr>
          <p:spPr bwMode="auto">
            <a:xfrm rot="3569734">
              <a:off x="3818706" y="4006649"/>
              <a:ext cx="1756383" cy="762284"/>
            </a:xfrm>
            <a:custGeom>
              <a:avLst/>
              <a:gdLst>
                <a:gd name="T0" fmla="*/ 1855 w 1855"/>
                <a:gd name="T1" fmla="*/ 808 h 808"/>
                <a:gd name="T2" fmla="*/ 473 w 1855"/>
                <a:gd name="T3" fmla="*/ 0 h 808"/>
                <a:gd name="T4" fmla="*/ 0 w 1855"/>
                <a:gd name="T5" fmla="*/ 808 h 808"/>
                <a:gd name="T6" fmla="*/ 1855 w 1855"/>
                <a:gd name="T7" fmla="*/ 808 h 808"/>
                <a:gd name="connsiteX0" fmla="*/ 10037 w 10037"/>
                <a:gd name="connsiteY0" fmla="*/ 10000 h 10000"/>
                <a:gd name="connsiteX1" fmla="*/ 2587 w 10037"/>
                <a:gd name="connsiteY1" fmla="*/ 0 h 10000"/>
                <a:gd name="connsiteX2" fmla="*/ 0 w 10037"/>
                <a:gd name="connsiteY2" fmla="*/ 9949 h 10000"/>
                <a:gd name="connsiteX3" fmla="*/ 10037 w 10037"/>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37" h="10000">
                  <a:moveTo>
                    <a:pt x="10037" y="10000"/>
                  </a:moveTo>
                  <a:lnTo>
                    <a:pt x="2587" y="0"/>
                  </a:lnTo>
                  <a:lnTo>
                    <a:pt x="0" y="9949"/>
                  </a:lnTo>
                  <a:lnTo>
                    <a:pt x="10037" y="10000"/>
                  </a:lnTo>
                  <a:close/>
                </a:path>
              </a:pathLst>
            </a:custGeom>
            <a:solidFill>
              <a:srgbClr val="ED7D31"/>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sp>
          <p:nvSpPr>
            <p:cNvPr id="94" name="Freeform 13"/>
            <p:cNvSpPr/>
            <p:nvPr/>
          </p:nvSpPr>
          <p:spPr bwMode="auto">
            <a:xfrm rot="14345172">
              <a:off x="1445103" y="4389213"/>
              <a:ext cx="1753538" cy="765129"/>
            </a:xfrm>
            <a:custGeom>
              <a:avLst/>
              <a:gdLst>
                <a:gd name="T0" fmla="*/ 1855 w 1855"/>
                <a:gd name="T1" fmla="*/ 808 h 808"/>
                <a:gd name="T2" fmla="*/ 473 w 1855"/>
                <a:gd name="T3" fmla="*/ 0 h 808"/>
                <a:gd name="T4" fmla="*/ 0 w 1855"/>
                <a:gd name="T5" fmla="*/ 808 h 808"/>
                <a:gd name="T6" fmla="*/ 1855 w 1855"/>
                <a:gd name="T7" fmla="*/ 808 h 808"/>
                <a:gd name="connsiteX0" fmla="*/ 10085 w 10085"/>
                <a:gd name="connsiteY0" fmla="*/ 10000 h 10000"/>
                <a:gd name="connsiteX1" fmla="*/ 2635 w 10085"/>
                <a:gd name="connsiteY1" fmla="*/ 0 h 10000"/>
                <a:gd name="connsiteX2" fmla="*/ 0 w 10085"/>
                <a:gd name="connsiteY2" fmla="*/ 9940 h 10000"/>
                <a:gd name="connsiteX3" fmla="*/ 10085 w 10085"/>
                <a:gd name="connsiteY3" fmla="*/ 10000 h 10000"/>
                <a:gd name="connsiteX0-1" fmla="*/ 10074 w 10074"/>
                <a:gd name="connsiteY0-2" fmla="*/ 10043 h 10043"/>
                <a:gd name="connsiteX1-3" fmla="*/ 2635 w 10074"/>
                <a:gd name="connsiteY1-4" fmla="*/ 0 h 10043"/>
                <a:gd name="connsiteX2-5" fmla="*/ 0 w 10074"/>
                <a:gd name="connsiteY2-6" fmla="*/ 9940 h 10043"/>
                <a:gd name="connsiteX3-7" fmla="*/ 10074 w 10074"/>
                <a:gd name="connsiteY3-8" fmla="*/ 10043 h 10043"/>
                <a:gd name="connsiteX0-9" fmla="*/ 10052 w 10052"/>
                <a:gd name="connsiteY0-10" fmla="*/ 10043 h 10043"/>
                <a:gd name="connsiteX1-11" fmla="*/ 2613 w 10052"/>
                <a:gd name="connsiteY1-12" fmla="*/ 0 h 10043"/>
                <a:gd name="connsiteX2-13" fmla="*/ 0 w 10052"/>
                <a:gd name="connsiteY2-14" fmla="*/ 9855 h 10043"/>
                <a:gd name="connsiteX3-15" fmla="*/ 10052 w 10052"/>
                <a:gd name="connsiteY3-16" fmla="*/ 10043 h 10043"/>
                <a:gd name="connsiteX0-17" fmla="*/ 10022 w 10022"/>
                <a:gd name="connsiteY0-18" fmla="*/ 10043 h 10043"/>
                <a:gd name="connsiteX1-19" fmla="*/ 2583 w 10022"/>
                <a:gd name="connsiteY1-20" fmla="*/ 0 h 10043"/>
                <a:gd name="connsiteX2-21" fmla="*/ 0 w 10022"/>
                <a:gd name="connsiteY2-22" fmla="*/ 9838 h 10043"/>
                <a:gd name="connsiteX3-23" fmla="*/ 10022 w 10022"/>
                <a:gd name="connsiteY3-24" fmla="*/ 10043 h 10043"/>
                <a:gd name="connsiteX0-25" fmla="*/ 10003 w 10003"/>
                <a:gd name="connsiteY0-26" fmla="*/ 10043 h 10043"/>
                <a:gd name="connsiteX1-27" fmla="*/ 2564 w 10003"/>
                <a:gd name="connsiteY1-28" fmla="*/ 0 h 10043"/>
                <a:gd name="connsiteX2-29" fmla="*/ 0 w 10003"/>
                <a:gd name="connsiteY2-30" fmla="*/ 9864 h 10043"/>
                <a:gd name="connsiteX3-31" fmla="*/ 10003 w 10003"/>
                <a:gd name="connsiteY3-32" fmla="*/ 10043 h 10043"/>
                <a:gd name="connsiteX0-33" fmla="*/ 10003 w 10003"/>
                <a:gd name="connsiteY0-34" fmla="*/ 10043 h 10043"/>
                <a:gd name="connsiteX1-35" fmla="*/ 2564 w 10003"/>
                <a:gd name="connsiteY1-36" fmla="*/ 0 h 10043"/>
                <a:gd name="connsiteX2-37" fmla="*/ 0 w 10003"/>
                <a:gd name="connsiteY2-38" fmla="*/ 9864 h 10043"/>
                <a:gd name="connsiteX3-39" fmla="*/ 10003 w 10003"/>
                <a:gd name="connsiteY3-40" fmla="*/ 10043 h 10043"/>
                <a:gd name="connsiteX0-41" fmla="*/ 10022 w 10022"/>
                <a:gd name="connsiteY0-42" fmla="*/ 10043 h 10043"/>
                <a:gd name="connsiteX1-43" fmla="*/ 2583 w 10022"/>
                <a:gd name="connsiteY1-44" fmla="*/ 0 h 10043"/>
                <a:gd name="connsiteX2-45" fmla="*/ 0 w 10022"/>
                <a:gd name="connsiteY2-46" fmla="*/ 9838 h 10043"/>
                <a:gd name="connsiteX3-47" fmla="*/ 10022 w 10022"/>
                <a:gd name="connsiteY3-48" fmla="*/ 10043 h 10043"/>
              </a:gdLst>
              <a:ahLst/>
              <a:cxnLst>
                <a:cxn ang="0">
                  <a:pos x="connsiteX0-1" y="connsiteY0-2"/>
                </a:cxn>
                <a:cxn ang="0">
                  <a:pos x="connsiteX1-3" y="connsiteY1-4"/>
                </a:cxn>
                <a:cxn ang="0">
                  <a:pos x="connsiteX2-5" y="connsiteY2-6"/>
                </a:cxn>
                <a:cxn ang="0">
                  <a:pos x="connsiteX3-7" y="connsiteY3-8"/>
                </a:cxn>
              </a:cxnLst>
              <a:rect l="l" t="t" r="r" b="b"/>
              <a:pathLst>
                <a:path w="10022" h="10043">
                  <a:moveTo>
                    <a:pt x="10022" y="10043"/>
                  </a:moveTo>
                  <a:lnTo>
                    <a:pt x="2583" y="0"/>
                  </a:lnTo>
                  <a:lnTo>
                    <a:pt x="0" y="9838"/>
                  </a:lnTo>
                  <a:lnTo>
                    <a:pt x="10022" y="10043"/>
                  </a:lnTo>
                  <a:close/>
                </a:path>
              </a:pathLst>
            </a:custGeom>
            <a:solidFill>
              <a:srgbClr val="4472C4"/>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sp>
          <p:nvSpPr>
            <p:cNvPr id="96" name="Freeform 13"/>
            <p:cNvSpPr/>
            <p:nvPr/>
          </p:nvSpPr>
          <p:spPr bwMode="auto">
            <a:xfrm>
              <a:off x="3054290" y="3061616"/>
              <a:ext cx="1753538" cy="765129"/>
            </a:xfrm>
            <a:custGeom>
              <a:avLst/>
              <a:gdLst>
                <a:gd name="T0" fmla="*/ 1855 w 1855"/>
                <a:gd name="T1" fmla="*/ 808 h 808"/>
                <a:gd name="T2" fmla="*/ 473 w 1855"/>
                <a:gd name="T3" fmla="*/ 0 h 808"/>
                <a:gd name="T4" fmla="*/ 0 w 1855"/>
                <a:gd name="T5" fmla="*/ 808 h 808"/>
                <a:gd name="T6" fmla="*/ 1855 w 1855"/>
                <a:gd name="T7" fmla="*/ 808 h 808"/>
                <a:gd name="connsiteX0" fmla="*/ 10022 w 10022"/>
                <a:gd name="connsiteY0" fmla="*/ 10050 h 10050"/>
                <a:gd name="connsiteX1" fmla="*/ 2550 w 10022"/>
                <a:gd name="connsiteY1" fmla="*/ 0 h 10050"/>
                <a:gd name="connsiteX2" fmla="*/ 0 w 10022"/>
                <a:gd name="connsiteY2" fmla="*/ 10000 h 10050"/>
                <a:gd name="connsiteX3" fmla="*/ 10022 w 10022"/>
                <a:gd name="connsiteY3" fmla="*/ 10050 h 10050"/>
              </a:gdLst>
              <a:ahLst/>
              <a:cxnLst>
                <a:cxn ang="0">
                  <a:pos x="connsiteX0" y="connsiteY0"/>
                </a:cxn>
                <a:cxn ang="0">
                  <a:pos x="connsiteX1" y="connsiteY1"/>
                </a:cxn>
                <a:cxn ang="0">
                  <a:pos x="connsiteX2" y="connsiteY2"/>
                </a:cxn>
                <a:cxn ang="0">
                  <a:pos x="connsiteX3" y="connsiteY3"/>
                </a:cxn>
              </a:cxnLst>
              <a:rect l="l" t="t" r="r" b="b"/>
              <a:pathLst>
                <a:path w="10022" h="10050">
                  <a:moveTo>
                    <a:pt x="10022" y="10050"/>
                  </a:moveTo>
                  <a:lnTo>
                    <a:pt x="2550" y="0"/>
                  </a:lnTo>
                  <a:lnTo>
                    <a:pt x="0" y="10000"/>
                  </a:lnTo>
                  <a:lnTo>
                    <a:pt x="10022" y="10050"/>
                  </a:lnTo>
                  <a:close/>
                </a:path>
              </a:pathLst>
            </a:custGeom>
            <a:solidFill>
              <a:srgbClr val="5B9BD5"/>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sp>
          <p:nvSpPr>
            <p:cNvPr id="97" name="Freeform 13"/>
            <p:cNvSpPr/>
            <p:nvPr/>
          </p:nvSpPr>
          <p:spPr bwMode="auto">
            <a:xfrm rot="7171573">
              <a:off x="3394189" y="5146520"/>
              <a:ext cx="1749272" cy="765129"/>
            </a:xfrm>
            <a:custGeom>
              <a:avLst/>
              <a:gdLst>
                <a:gd name="T0" fmla="*/ 1855 w 1855"/>
                <a:gd name="T1" fmla="*/ 808 h 808"/>
                <a:gd name="T2" fmla="*/ 473 w 1855"/>
                <a:gd name="T3" fmla="*/ 0 h 808"/>
                <a:gd name="T4" fmla="*/ 0 w 1855"/>
                <a:gd name="T5" fmla="*/ 808 h 808"/>
                <a:gd name="T6" fmla="*/ 1855 w 1855"/>
                <a:gd name="T7" fmla="*/ 808 h 808"/>
                <a:gd name="connsiteX0" fmla="*/ 10000 w 10000"/>
                <a:gd name="connsiteY0" fmla="*/ 10029 h 10029"/>
                <a:gd name="connsiteX1" fmla="*/ 2503 w 10000"/>
                <a:gd name="connsiteY1" fmla="*/ 0 h 10029"/>
                <a:gd name="connsiteX2" fmla="*/ 0 w 10000"/>
                <a:gd name="connsiteY2" fmla="*/ 10029 h 10029"/>
                <a:gd name="connsiteX3" fmla="*/ 10000 w 10000"/>
                <a:gd name="connsiteY3" fmla="*/ 10029 h 10029"/>
              </a:gdLst>
              <a:ahLst/>
              <a:cxnLst>
                <a:cxn ang="0">
                  <a:pos x="connsiteX0" y="connsiteY0"/>
                </a:cxn>
                <a:cxn ang="0">
                  <a:pos x="connsiteX1" y="connsiteY1"/>
                </a:cxn>
                <a:cxn ang="0">
                  <a:pos x="connsiteX2" y="connsiteY2"/>
                </a:cxn>
                <a:cxn ang="0">
                  <a:pos x="connsiteX3" y="connsiteY3"/>
                </a:cxn>
              </a:cxnLst>
              <a:rect l="l" t="t" r="r" b="b"/>
              <a:pathLst>
                <a:path w="10000" h="10029">
                  <a:moveTo>
                    <a:pt x="10000" y="10029"/>
                  </a:moveTo>
                  <a:lnTo>
                    <a:pt x="2503" y="0"/>
                  </a:lnTo>
                  <a:lnTo>
                    <a:pt x="0" y="10029"/>
                  </a:lnTo>
                  <a:lnTo>
                    <a:pt x="10000" y="10029"/>
                  </a:lnTo>
                  <a:close/>
                </a:path>
              </a:pathLst>
            </a:custGeom>
            <a:solidFill>
              <a:srgbClr val="A6D659"/>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sp>
          <p:nvSpPr>
            <p:cNvPr id="98" name="Freeform 13"/>
            <p:cNvSpPr/>
            <p:nvPr/>
          </p:nvSpPr>
          <p:spPr bwMode="auto">
            <a:xfrm rot="10800000">
              <a:off x="2208096" y="5328558"/>
              <a:ext cx="1735050" cy="773662"/>
            </a:xfrm>
            <a:custGeom>
              <a:avLst/>
              <a:gdLst>
                <a:gd name="T0" fmla="*/ 1855 w 1855"/>
                <a:gd name="T1" fmla="*/ 808 h 808"/>
                <a:gd name="T2" fmla="*/ 473 w 1855"/>
                <a:gd name="T3" fmla="*/ 0 h 808"/>
                <a:gd name="T4" fmla="*/ 0 w 1855"/>
                <a:gd name="T5" fmla="*/ 808 h 808"/>
                <a:gd name="T6" fmla="*/ 1855 w 1855"/>
                <a:gd name="T7" fmla="*/ 808 h 808"/>
                <a:gd name="connsiteX0" fmla="*/ 9957 w 9957"/>
                <a:gd name="connsiteY0" fmla="*/ 10000 h 10050"/>
                <a:gd name="connsiteX1" fmla="*/ 2507 w 9957"/>
                <a:gd name="connsiteY1" fmla="*/ 0 h 10050"/>
                <a:gd name="connsiteX2" fmla="*/ 0 w 9957"/>
                <a:gd name="connsiteY2" fmla="*/ 10050 h 10050"/>
                <a:gd name="connsiteX3" fmla="*/ 9957 w 9957"/>
                <a:gd name="connsiteY3" fmla="*/ 10000 h 10050"/>
                <a:gd name="connsiteX0-1" fmla="*/ 9956 w 9956"/>
                <a:gd name="connsiteY0-2" fmla="*/ 9950 h 10000"/>
                <a:gd name="connsiteX1-3" fmla="*/ 2474 w 9956"/>
                <a:gd name="connsiteY1-4" fmla="*/ 0 h 10000"/>
                <a:gd name="connsiteX2-5" fmla="*/ 0 w 9956"/>
                <a:gd name="connsiteY2-6" fmla="*/ 10000 h 10000"/>
                <a:gd name="connsiteX3-7" fmla="*/ 9956 w 9956"/>
                <a:gd name="connsiteY3-8" fmla="*/ 9950 h 10000"/>
                <a:gd name="connsiteX0-9" fmla="*/ 10000 w 10000"/>
                <a:gd name="connsiteY0-10" fmla="*/ 10049 h 10099"/>
                <a:gd name="connsiteX1-11" fmla="*/ 2507 w 10000"/>
                <a:gd name="connsiteY1-12" fmla="*/ 0 h 10099"/>
                <a:gd name="connsiteX2-13" fmla="*/ 0 w 10000"/>
                <a:gd name="connsiteY2-14" fmla="*/ 10099 h 10099"/>
                <a:gd name="connsiteX3-15" fmla="*/ 10000 w 10000"/>
                <a:gd name="connsiteY3-16" fmla="*/ 10049 h 10099"/>
              </a:gdLst>
              <a:ahLst/>
              <a:cxnLst>
                <a:cxn ang="0">
                  <a:pos x="connsiteX0-1" y="connsiteY0-2"/>
                </a:cxn>
                <a:cxn ang="0">
                  <a:pos x="connsiteX1-3" y="connsiteY1-4"/>
                </a:cxn>
                <a:cxn ang="0">
                  <a:pos x="connsiteX2-5" y="connsiteY2-6"/>
                </a:cxn>
                <a:cxn ang="0">
                  <a:pos x="connsiteX3-7" y="connsiteY3-8"/>
                </a:cxn>
              </a:cxnLst>
              <a:rect l="l" t="t" r="r" b="b"/>
              <a:pathLst>
                <a:path w="10000" h="10099">
                  <a:moveTo>
                    <a:pt x="10000" y="10049"/>
                  </a:moveTo>
                  <a:lnTo>
                    <a:pt x="2507" y="0"/>
                  </a:lnTo>
                  <a:lnTo>
                    <a:pt x="0" y="10099"/>
                  </a:lnTo>
                  <a:lnTo>
                    <a:pt x="10000" y="10049"/>
                  </a:lnTo>
                  <a:close/>
                </a:path>
              </a:pathLst>
            </a:custGeom>
            <a:solidFill>
              <a:srgbClr val="FFC000"/>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sp>
          <p:nvSpPr>
            <p:cNvPr id="99" name="Freeform 7"/>
            <p:cNvSpPr>
              <a:spLocks noEditPoints="1"/>
            </p:cNvSpPr>
            <p:nvPr/>
          </p:nvSpPr>
          <p:spPr bwMode="auto">
            <a:xfrm>
              <a:off x="2734092" y="3905638"/>
              <a:ext cx="1516036" cy="1361018"/>
            </a:xfrm>
            <a:custGeom>
              <a:avLst/>
              <a:gdLst>
                <a:gd name="T0" fmla="*/ 264 w 724"/>
                <a:gd name="T1" fmla="*/ 592 h 650"/>
                <a:gd name="T2" fmla="*/ 179 w 724"/>
                <a:gd name="T3" fmla="*/ 543 h 650"/>
                <a:gd name="T4" fmla="*/ 81 w 724"/>
                <a:gd name="T5" fmla="*/ 374 h 650"/>
                <a:gd name="T6" fmla="*/ 81 w 724"/>
                <a:gd name="T7" fmla="*/ 276 h 650"/>
                <a:gd name="T8" fmla="*/ 179 w 724"/>
                <a:gd name="T9" fmla="*/ 106 h 650"/>
                <a:gd name="T10" fmla="*/ 264 w 724"/>
                <a:gd name="T11" fmla="*/ 57 h 650"/>
                <a:gd name="T12" fmla="*/ 460 w 724"/>
                <a:gd name="T13" fmla="*/ 57 h 650"/>
                <a:gd name="T14" fmla="*/ 545 w 724"/>
                <a:gd name="T15" fmla="*/ 106 h 650"/>
                <a:gd name="T16" fmla="*/ 643 w 724"/>
                <a:gd name="T17" fmla="*/ 276 h 650"/>
                <a:gd name="T18" fmla="*/ 643 w 724"/>
                <a:gd name="T19" fmla="*/ 374 h 650"/>
                <a:gd name="T20" fmla="*/ 545 w 724"/>
                <a:gd name="T21" fmla="*/ 543 h 650"/>
                <a:gd name="T22" fmla="*/ 460 w 724"/>
                <a:gd name="T23" fmla="*/ 592 h 650"/>
                <a:gd name="T24" fmla="*/ 264 w 724"/>
                <a:gd name="T25" fmla="*/ 592 h 650"/>
                <a:gd name="T26" fmla="*/ 493 w 724"/>
                <a:gd name="T27" fmla="*/ 0 h 650"/>
                <a:gd name="T28" fmla="*/ 231 w 724"/>
                <a:gd name="T29" fmla="*/ 0 h 650"/>
                <a:gd name="T30" fmla="*/ 146 w 724"/>
                <a:gd name="T31" fmla="*/ 49 h 650"/>
                <a:gd name="T32" fmla="*/ 15 w 724"/>
                <a:gd name="T33" fmla="*/ 276 h 650"/>
                <a:gd name="T34" fmla="*/ 15 w 724"/>
                <a:gd name="T35" fmla="*/ 374 h 650"/>
                <a:gd name="T36" fmla="*/ 146 w 724"/>
                <a:gd name="T37" fmla="*/ 601 h 650"/>
                <a:gd name="T38" fmla="*/ 231 w 724"/>
                <a:gd name="T39" fmla="*/ 650 h 650"/>
                <a:gd name="T40" fmla="*/ 493 w 724"/>
                <a:gd name="T41" fmla="*/ 650 h 650"/>
                <a:gd name="T42" fmla="*/ 578 w 724"/>
                <a:gd name="T43" fmla="*/ 601 h 650"/>
                <a:gd name="T44" fmla="*/ 709 w 724"/>
                <a:gd name="T45" fmla="*/ 374 h 650"/>
                <a:gd name="T46" fmla="*/ 709 w 724"/>
                <a:gd name="T47" fmla="*/ 276 h 650"/>
                <a:gd name="T48" fmla="*/ 578 w 724"/>
                <a:gd name="T49" fmla="*/ 49 h 650"/>
                <a:gd name="T50" fmla="*/ 493 w 724"/>
                <a:gd name="T51" fmla="*/ 0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24" h="650">
                  <a:moveTo>
                    <a:pt x="264" y="592"/>
                  </a:moveTo>
                  <a:cubicBezTo>
                    <a:pt x="233" y="592"/>
                    <a:pt x="195" y="570"/>
                    <a:pt x="179" y="543"/>
                  </a:cubicBezTo>
                  <a:cubicBezTo>
                    <a:pt x="81" y="374"/>
                    <a:pt x="81" y="374"/>
                    <a:pt x="81" y="374"/>
                  </a:cubicBezTo>
                  <a:cubicBezTo>
                    <a:pt x="66" y="347"/>
                    <a:pt x="66" y="303"/>
                    <a:pt x="81" y="276"/>
                  </a:cubicBezTo>
                  <a:cubicBezTo>
                    <a:pt x="179" y="106"/>
                    <a:pt x="179" y="106"/>
                    <a:pt x="179" y="106"/>
                  </a:cubicBezTo>
                  <a:cubicBezTo>
                    <a:pt x="195" y="79"/>
                    <a:pt x="233" y="57"/>
                    <a:pt x="264" y="57"/>
                  </a:cubicBezTo>
                  <a:cubicBezTo>
                    <a:pt x="460" y="57"/>
                    <a:pt x="460" y="57"/>
                    <a:pt x="460" y="57"/>
                  </a:cubicBezTo>
                  <a:cubicBezTo>
                    <a:pt x="491" y="57"/>
                    <a:pt x="529" y="79"/>
                    <a:pt x="545" y="106"/>
                  </a:cubicBezTo>
                  <a:cubicBezTo>
                    <a:pt x="643" y="276"/>
                    <a:pt x="643" y="276"/>
                    <a:pt x="643" y="276"/>
                  </a:cubicBezTo>
                  <a:cubicBezTo>
                    <a:pt x="658" y="303"/>
                    <a:pt x="658" y="347"/>
                    <a:pt x="643" y="374"/>
                  </a:cubicBezTo>
                  <a:cubicBezTo>
                    <a:pt x="545" y="543"/>
                    <a:pt x="545" y="543"/>
                    <a:pt x="545" y="543"/>
                  </a:cubicBezTo>
                  <a:cubicBezTo>
                    <a:pt x="529" y="570"/>
                    <a:pt x="491" y="592"/>
                    <a:pt x="460" y="592"/>
                  </a:cubicBezTo>
                  <a:cubicBezTo>
                    <a:pt x="264" y="592"/>
                    <a:pt x="264" y="592"/>
                    <a:pt x="264" y="592"/>
                  </a:cubicBezTo>
                  <a:moveTo>
                    <a:pt x="493" y="0"/>
                  </a:moveTo>
                  <a:cubicBezTo>
                    <a:pt x="231" y="0"/>
                    <a:pt x="231" y="0"/>
                    <a:pt x="231" y="0"/>
                  </a:cubicBezTo>
                  <a:cubicBezTo>
                    <a:pt x="200" y="0"/>
                    <a:pt x="162" y="22"/>
                    <a:pt x="146" y="49"/>
                  </a:cubicBezTo>
                  <a:cubicBezTo>
                    <a:pt x="15" y="276"/>
                    <a:pt x="15" y="276"/>
                    <a:pt x="15" y="276"/>
                  </a:cubicBezTo>
                  <a:cubicBezTo>
                    <a:pt x="0" y="303"/>
                    <a:pt x="0" y="347"/>
                    <a:pt x="15" y="374"/>
                  </a:cubicBezTo>
                  <a:cubicBezTo>
                    <a:pt x="146" y="601"/>
                    <a:pt x="146" y="601"/>
                    <a:pt x="146" y="601"/>
                  </a:cubicBezTo>
                  <a:cubicBezTo>
                    <a:pt x="162" y="628"/>
                    <a:pt x="200" y="650"/>
                    <a:pt x="231" y="650"/>
                  </a:cubicBezTo>
                  <a:cubicBezTo>
                    <a:pt x="493" y="650"/>
                    <a:pt x="493" y="650"/>
                    <a:pt x="493" y="650"/>
                  </a:cubicBezTo>
                  <a:cubicBezTo>
                    <a:pt x="524" y="650"/>
                    <a:pt x="562" y="628"/>
                    <a:pt x="578" y="601"/>
                  </a:cubicBezTo>
                  <a:cubicBezTo>
                    <a:pt x="709" y="374"/>
                    <a:pt x="709" y="374"/>
                    <a:pt x="709" y="374"/>
                  </a:cubicBezTo>
                  <a:cubicBezTo>
                    <a:pt x="724" y="347"/>
                    <a:pt x="724" y="303"/>
                    <a:pt x="709" y="276"/>
                  </a:cubicBezTo>
                  <a:cubicBezTo>
                    <a:pt x="578" y="49"/>
                    <a:pt x="578" y="49"/>
                    <a:pt x="578" y="49"/>
                  </a:cubicBezTo>
                  <a:cubicBezTo>
                    <a:pt x="562" y="22"/>
                    <a:pt x="524" y="0"/>
                    <a:pt x="493" y="0"/>
                  </a:cubicBezTo>
                </a:path>
              </a:pathLst>
            </a:custGeom>
            <a:noFill/>
            <a:ln>
              <a:noFill/>
            </a:ln>
          </p:spPr>
          <p:txBody>
            <a:bodyPr lIns="68580" tIns="34290" rIns="68580" bIns="34290" anchor="ctr"/>
            <a:p>
              <a:pPr algn="ctr">
                <a:defRPr/>
              </a:pPr>
              <a:r>
                <a:rPr lang="en-US" altLang="zh-CN" sz="2000" b="1" kern="0" dirty="0">
                  <a:solidFill>
                    <a:sysClr val="windowText" lastClr="000000"/>
                  </a:solidFill>
                  <a:latin typeface="微软雅黑" panose="020B0503020204020204" charset="-122"/>
                  <a:ea typeface="微软雅黑" panose="020B0503020204020204" charset="-122"/>
                </a:rPr>
                <a:t>Python</a:t>
              </a:r>
              <a:endParaRPr lang="en-US" altLang="zh-CN" sz="2000" b="1" kern="0" dirty="0">
                <a:solidFill>
                  <a:sysClr val="windowText" lastClr="000000"/>
                </a:solidFill>
                <a:latin typeface="微软雅黑" panose="020B0503020204020204" charset="-122"/>
                <a:ea typeface="微软雅黑" panose="020B0503020204020204" charset="-122"/>
              </a:endParaRPr>
            </a:p>
            <a:p>
              <a:pPr algn="ctr">
                <a:defRPr/>
              </a:pPr>
              <a:r>
                <a:rPr lang="zh-CN" altLang="en-US" sz="2000" b="1" kern="0" dirty="0">
                  <a:solidFill>
                    <a:sysClr val="windowText" lastClr="000000"/>
                  </a:solidFill>
                  <a:latin typeface="微软雅黑" panose="020B0503020204020204" charset="-122"/>
                  <a:ea typeface="微软雅黑" panose="020B0503020204020204" charset="-122"/>
                </a:rPr>
                <a:t>脚本系统</a:t>
              </a:r>
              <a:endParaRPr lang="zh-CN" altLang="en-US" sz="2000" b="1" kern="0" dirty="0">
                <a:solidFill>
                  <a:sysClr val="windowText" lastClr="000000"/>
                </a:solidFill>
                <a:latin typeface="微软雅黑" panose="020B0503020204020204" charset="-122"/>
                <a:ea typeface="微软雅黑" panose="020B0503020204020204" charset="-122"/>
              </a:endParaRPr>
            </a:p>
          </p:txBody>
        </p:sp>
        <p:sp>
          <p:nvSpPr>
            <p:cNvPr id="100" name="Freeform 13"/>
            <p:cNvSpPr/>
            <p:nvPr/>
          </p:nvSpPr>
          <p:spPr bwMode="auto">
            <a:xfrm rot="17971099">
              <a:off x="1866064" y="3254320"/>
              <a:ext cx="1746428" cy="763706"/>
            </a:xfrm>
            <a:custGeom>
              <a:avLst/>
              <a:gdLst>
                <a:gd name="T0" fmla="*/ 1855 w 1855"/>
                <a:gd name="T1" fmla="*/ 808 h 808"/>
                <a:gd name="T2" fmla="*/ 473 w 1855"/>
                <a:gd name="T3" fmla="*/ 0 h 808"/>
                <a:gd name="T4" fmla="*/ 0 w 1855"/>
                <a:gd name="T5" fmla="*/ 808 h 808"/>
                <a:gd name="T6" fmla="*/ 1855 w 1855"/>
                <a:gd name="T7" fmla="*/ 808 h 808"/>
                <a:gd name="connsiteX0" fmla="*/ 9981 w 9981"/>
                <a:gd name="connsiteY0" fmla="*/ 10024 h 10024"/>
                <a:gd name="connsiteX1" fmla="*/ 2550 w 9981"/>
                <a:gd name="connsiteY1" fmla="*/ 0 h 10024"/>
                <a:gd name="connsiteX2" fmla="*/ 0 w 9981"/>
                <a:gd name="connsiteY2" fmla="*/ 10000 h 10024"/>
                <a:gd name="connsiteX3" fmla="*/ 9981 w 9981"/>
                <a:gd name="connsiteY3" fmla="*/ 10024 h 10024"/>
              </a:gdLst>
              <a:ahLst/>
              <a:cxnLst>
                <a:cxn ang="0">
                  <a:pos x="connsiteX0" y="connsiteY0"/>
                </a:cxn>
                <a:cxn ang="0">
                  <a:pos x="connsiteX1" y="connsiteY1"/>
                </a:cxn>
                <a:cxn ang="0">
                  <a:pos x="connsiteX2" y="connsiteY2"/>
                </a:cxn>
                <a:cxn ang="0">
                  <a:pos x="connsiteX3" y="connsiteY3"/>
                </a:cxn>
              </a:cxnLst>
              <a:rect l="l" t="t" r="r" b="b"/>
              <a:pathLst>
                <a:path w="9981" h="10024">
                  <a:moveTo>
                    <a:pt x="9981" y="10024"/>
                  </a:moveTo>
                  <a:lnTo>
                    <a:pt x="2550" y="0"/>
                  </a:lnTo>
                  <a:lnTo>
                    <a:pt x="0" y="10000"/>
                  </a:lnTo>
                  <a:lnTo>
                    <a:pt x="9981" y="10024"/>
                  </a:lnTo>
                  <a:close/>
                </a:path>
              </a:pathLst>
            </a:custGeom>
            <a:solidFill>
              <a:schemeClr val="accent2">
                <a:lumMod val="75000"/>
              </a:schemeClr>
            </a:solidFill>
            <a:ln>
              <a:noFill/>
            </a:ln>
          </p:spPr>
          <p:txBody>
            <a:bodyPr lIns="0" tIns="270000" rIns="243000" bIns="0"/>
            <a:p>
              <a:pPr algn="ctr">
                <a:defRPr/>
              </a:pPr>
              <a:endParaRPr lang="zh-CN" altLang="en-US" kern="0" dirty="0">
                <a:solidFill>
                  <a:srgbClr val="080808"/>
                </a:solidFill>
                <a:latin typeface="Kozuka Mincho Pr6N H" panose="02020900000000000000" pitchFamily="18" charset="-128"/>
                <a:ea typeface="Kozuka Mincho Pr6N H" panose="02020900000000000000" pitchFamily="18" charset="-128"/>
              </a:endParaRPr>
            </a:p>
          </p:txBody>
        </p:sp>
      </p:grpSp>
      <p:sp>
        <p:nvSpPr>
          <p:cNvPr id="15" name="文本框 49"/>
          <p:cNvSpPr txBox="1"/>
          <p:nvPr/>
        </p:nvSpPr>
        <p:spPr>
          <a:xfrm>
            <a:off x="10909815" y="3118821"/>
            <a:ext cx="1110598" cy="346249"/>
          </a:xfrm>
          <a:prstGeom prst="rect">
            <a:avLst/>
          </a:prstGeom>
          <a:noFill/>
        </p:spPr>
        <p:txBody>
          <a:bodyPr wrap="square" lIns="68580" tIns="34290" rIns="68580" bIns="34290" rtlCol="0">
            <a:spAutoFit/>
          </a:bodyPr>
          <a:p>
            <a:pPr>
              <a:spcBef>
                <a:spcPts val="450"/>
              </a:spcBef>
            </a:pPr>
            <a:r>
              <a:rPr lang="zh-CN" altLang="en-US" dirty="0">
                <a:latin typeface="微软雅黑" panose="020B0503020204020204" charset="-122"/>
                <a:ea typeface="微软雅黑" panose="020B0503020204020204" charset="-122"/>
              </a:rPr>
              <a:t>网格划分</a:t>
            </a:r>
            <a:endParaRPr lang="en-US" altLang="zh-CN" dirty="0">
              <a:latin typeface="微软雅黑" panose="020B0503020204020204" charset="-122"/>
              <a:ea typeface="微软雅黑" panose="020B0503020204020204" charset="-122"/>
            </a:endParaRPr>
          </a:p>
        </p:txBody>
      </p:sp>
      <p:sp>
        <p:nvSpPr>
          <p:cNvPr id="23" name="文本框 49"/>
          <p:cNvSpPr txBox="1"/>
          <p:nvPr/>
        </p:nvSpPr>
        <p:spPr>
          <a:xfrm>
            <a:off x="10909815" y="4142155"/>
            <a:ext cx="1110598" cy="346249"/>
          </a:xfrm>
          <a:prstGeom prst="rect">
            <a:avLst/>
          </a:prstGeom>
          <a:noFill/>
        </p:spPr>
        <p:txBody>
          <a:bodyPr wrap="square" lIns="68580" tIns="34290" rIns="68580" bIns="34290" rtlCol="0">
            <a:spAutoFit/>
          </a:bodyPr>
          <a:p>
            <a:pPr>
              <a:spcBef>
                <a:spcPts val="450"/>
              </a:spcBef>
            </a:pPr>
            <a:r>
              <a:rPr lang="zh-CN" altLang="en-US" dirty="0">
                <a:latin typeface="微软雅黑" panose="020B0503020204020204" charset="-122"/>
                <a:ea typeface="微软雅黑" panose="020B0503020204020204" charset="-122"/>
              </a:rPr>
              <a:t>求解控制</a:t>
            </a:r>
            <a:endParaRPr lang="en-US" altLang="zh-CN" dirty="0">
              <a:latin typeface="微软雅黑" panose="020B0503020204020204" charset="-122"/>
              <a:ea typeface="微软雅黑" panose="020B0503020204020204" charset="-122"/>
            </a:endParaRPr>
          </a:p>
        </p:txBody>
      </p:sp>
      <p:sp>
        <p:nvSpPr>
          <p:cNvPr id="24" name="文本框 49"/>
          <p:cNvSpPr txBox="1"/>
          <p:nvPr/>
        </p:nvSpPr>
        <p:spPr>
          <a:xfrm>
            <a:off x="10909815" y="5180876"/>
            <a:ext cx="1110598" cy="346249"/>
          </a:xfrm>
          <a:prstGeom prst="rect">
            <a:avLst/>
          </a:prstGeom>
          <a:noFill/>
        </p:spPr>
        <p:txBody>
          <a:bodyPr wrap="square" lIns="68580" tIns="34290" rIns="68580" bIns="34290" rtlCol="0">
            <a:spAutoFit/>
          </a:bodyPr>
          <a:p>
            <a:pPr>
              <a:spcBef>
                <a:spcPts val="450"/>
              </a:spcBef>
            </a:pPr>
            <a:r>
              <a:rPr lang="zh-CN" altLang="en-US" dirty="0">
                <a:latin typeface="微软雅黑" panose="020B0503020204020204" charset="-122"/>
                <a:ea typeface="微软雅黑" panose="020B0503020204020204" charset="-122"/>
              </a:rPr>
              <a:t>数据管理</a:t>
            </a:r>
            <a:endParaRPr lang="en-US" altLang="zh-CN" dirty="0">
              <a:latin typeface="微软雅黑" panose="020B0503020204020204" charset="-122"/>
              <a:ea typeface="微软雅黑" panose="020B0503020204020204" charset="-122"/>
            </a:endParaRPr>
          </a:p>
        </p:txBody>
      </p:sp>
      <p:grpSp>
        <p:nvGrpSpPr>
          <p:cNvPr id="25" name="组合 24"/>
          <p:cNvGrpSpPr/>
          <p:nvPr/>
        </p:nvGrpSpPr>
        <p:grpSpPr>
          <a:xfrm>
            <a:off x="9763904" y="3031944"/>
            <a:ext cx="1019697" cy="2566670"/>
            <a:chOff x="4143062" y="3207028"/>
            <a:chExt cx="1019697" cy="2566670"/>
          </a:xfrm>
        </p:grpSpPr>
        <p:grpSp>
          <p:nvGrpSpPr>
            <p:cNvPr id="29" name="组合 28"/>
            <p:cNvGrpSpPr/>
            <p:nvPr/>
          </p:nvGrpSpPr>
          <p:grpSpPr>
            <a:xfrm>
              <a:off x="4143062" y="3207028"/>
              <a:ext cx="1019697" cy="489227"/>
              <a:chOff x="4025280" y="3243134"/>
              <a:chExt cx="1019697" cy="489227"/>
            </a:xfrm>
          </p:grpSpPr>
          <p:cxnSp>
            <p:nvCxnSpPr>
              <p:cNvPr id="30" name="直接连接符 29"/>
              <p:cNvCxnSpPr/>
              <p:nvPr/>
            </p:nvCxnSpPr>
            <p:spPr bwMode="auto">
              <a:xfrm flipH="1">
                <a:off x="4025280" y="3477793"/>
                <a:ext cx="1014009" cy="0"/>
              </a:xfrm>
              <a:prstGeom prst="line">
                <a:avLst/>
              </a:prstGeom>
              <a:noFill/>
              <a:ln w="25400" cap="flat" cmpd="sng" algn="ctr">
                <a:solidFill>
                  <a:srgbClr val="5B9BD5"/>
                </a:solidFill>
                <a:prstDash val="solid"/>
                <a:miter lim="800000"/>
              </a:ln>
              <a:effectLst/>
            </p:spPr>
          </p:cxnSp>
          <p:cxnSp>
            <p:nvCxnSpPr>
              <p:cNvPr id="31" name="直接连接符 30"/>
              <p:cNvCxnSpPr/>
              <p:nvPr/>
            </p:nvCxnSpPr>
            <p:spPr bwMode="auto">
              <a:xfrm>
                <a:off x="5044977" y="3243134"/>
                <a:ext cx="0" cy="489227"/>
              </a:xfrm>
              <a:prstGeom prst="line">
                <a:avLst/>
              </a:prstGeom>
              <a:noFill/>
              <a:ln w="76200" cap="flat" cmpd="sng" algn="ctr">
                <a:solidFill>
                  <a:srgbClr val="5B9BD5"/>
                </a:solidFill>
                <a:prstDash val="solid"/>
                <a:miter lim="800000"/>
              </a:ln>
              <a:effectLst/>
            </p:spPr>
          </p:cxnSp>
        </p:grpSp>
        <p:grpSp>
          <p:nvGrpSpPr>
            <p:cNvPr id="38" name="组合 37"/>
            <p:cNvGrpSpPr/>
            <p:nvPr/>
          </p:nvGrpSpPr>
          <p:grpSpPr>
            <a:xfrm>
              <a:off x="4524866" y="4245750"/>
              <a:ext cx="637893" cy="489227"/>
              <a:chOff x="4407084" y="3243134"/>
              <a:chExt cx="637893" cy="489227"/>
            </a:xfrm>
          </p:grpSpPr>
          <p:cxnSp>
            <p:nvCxnSpPr>
              <p:cNvPr id="39" name="直接连接符 38"/>
              <p:cNvCxnSpPr/>
              <p:nvPr/>
            </p:nvCxnSpPr>
            <p:spPr bwMode="auto">
              <a:xfrm flipH="1">
                <a:off x="4407084" y="3477793"/>
                <a:ext cx="632206" cy="9954"/>
              </a:xfrm>
              <a:prstGeom prst="line">
                <a:avLst/>
              </a:prstGeom>
              <a:noFill/>
              <a:ln w="25400" cap="flat" cmpd="sng" algn="ctr">
                <a:solidFill>
                  <a:srgbClr val="ED7D31"/>
                </a:solidFill>
                <a:prstDash val="solid"/>
                <a:miter lim="800000"/>
              </a:ln>
              <a:effectLst/>
            </p:spPr>
          </p:cxnSp>
          <p:cxnSp>
            <p:nvCxnSpPr>
              <p:cNvPr id="40" name="直接连接符 39"/>
              <p:cNvCxnSpPr/>
              <p:nvPr/>
            </p:nvCxnSpPr>
            <p:spPr bwMode="auto">
              <a:xfrm>
                <a:off x="5044977" y="3243134"/>
                <a:ext cx="0" cy="489227"/>
              </a:xfrm>
              <a:prstGeom prst="line">
                <a:avLst/>
              </a:prstGeom>
              <a:noFill/>
              <a:ln w="76200" cap="flat" cmpd="sng" algn="ctr">
                <a:solidFill>
                  <a:srgbClr val="ED7D31"/>
                </a:solidFill>
                <a:prstDash val="solid"/>
                <a:miter lim="800000"/>
              </a:ln>
              <a:effectLst/>
            </p:spPr>
          </p:cxnSp>
        </p:grpSp>
        <p:grpSp>
          <p:nvGrpSpPr>
            <p:cNvPr id="41" name="组合 40"/>
            <p:cNvGrpSpPr/>
            <p:nvPr/>
          </p:nvGrpSpPr>
          <p:grpSpPr>
            <a:xfrm>
              <a:off x="4143062" y="5284471"/>
              <a:ext cx="1019697" cy="489227"/>
              <a:chOff x="4025280" y="3243134"/>
              <a:chExt cx="1019697" cy="489227"/>
            </a:xfrm>
          </p:grpSpPr>
          <p:cxnSp>
            <p:nvCxnSpPr>
              <p:cNvPr id="42" name="直接连接符 41"/>
              <p:cNvCxnSpPr/>
              <p:nvPr/>
            </p:nvCxnSpPr>
            <p:spPr bwMode="auto">
              <a:xfrm flipH="1">
                <a:off x="4025280" y="3477793"/>
                <a:ext cx="1014009" cy="0"/>
              </a:xfrm>
              <a:prstGeom prst="line">
                <a:avLst/>
              </a:prstGeom>
              <a:noFill/>
              <a:ln w="25400" cap="flat" cmpd="sng" algn="ctr">
                <a:solidFill>
                  <a:srgbClr val="A6D659"/>
                </a:solidFill>
                <a:prstDash val="solid"/>
                <a:miter lim="800000"/>
              </a:ln>
              <a:effectLst/>
            </p:spPr>
          </p:cxnSp>
          <p:cxnSp>
            <p:nvCxnSpPr>
              <p:cNvPr id="46" name="直接连接符 45"/>
              <p:cNvCxnSpPr/>
              <p:nvPr/>
            </p:nvCxnSpPr>
            <p:spPr bwMode="auto">
              <a:xfrm>
                <a:off x="5044977" y="3243134"/>
                <a:ext cx="0" cy="489227"/>
              </a:xfrm>
              <a:prstGeom prst="line">
                <a:avLst/>
              </a:prstGeom>
              <a:noFill/>
              <a:ln w="76200" cap="flat" cmpd="sng" algn="ctr">
                <a:solidFill>
                  <a:srgbClr val="A6D659"/>
                </a:solidFill>
                <a:prstDash val="solid"/>
                <a:miter lim="800000"/>
              </a:ln>
              <a:effectLst/>
            </p:spPr>
          </p:cxnSp>
        </p:grpSp>
      </p:grpSp>
      <p:grpSp>
        <p:nvGrpSpPr>
          <p:cNvPr id="50" name="组合 49"/>
          <p:cNvGrpSpPr/>
          <p:nvPr/>
        </p:nvGrpSpPr>
        <p:grpSpPr>
          <a:xfrm flipH="1">
            <a:off x="7490479" y="3031944"/>
            <a:ext cx="1018800" cy="489227"/>
            <a:chOff x="4025280" y="3243134"/>
            <a:chExt cx="1019697" cy="489227"/>
          </a:xfrm>
        </p:grpSpPr>
        <p:cxnSp>
          <p:nvCxnSpPr>
            <p:cNvPr id="51" name="直接连接符 50"/>
            <p:cNvCxnSpPr/>
            <p:nvPr/>
          </p:nvCxnSpPr>
          <p:spPr bwMode="auto">
            <a:xfrm flipH="1">
              <a:off x="4025280" y="3477793"/>
              <a:ext cx="1014009" cy="0"/>
            </a:xfrm>
            <a:prstGeom prst="line">
              <a:avLst/>
            </a:prstGeom>
            <a:noFill/>
            <a:ln w="25400" cap="flat" cmpd="sng" algn="ctr">
              <a:solidFill>
                <a:schemeClr val="accent2">
                  <a:lumMod val="75000"/>
                </a:schemeClr>
              </a:solidFill>
              <a:prstDash val="solid"/>
              <a:miter lim="800000"/>
            </a:ln>
            <a:effectLst/>
          </p:spPr>
        </p:cxnSp>
        <p:cxnSp>
          <p:nvCxnSpPr>
            <p:cNvPr id="61" name="直接连接符 60"/>
            <p:cNvCxnSpPr/>
            <p:nvPr/>
          </p:nvCxnSpPr>
          <p:spPr bwMode="auto">
            <a:xfrm>
              <a:off x="5044977" y="3243134"/>
              <a:ext cx="0" cy="489227"/>
            </a:xfrm>
            <a:prstGeom prst="line">
              <a:avLst/>
            </a:prstGeom>
            <a:noFill/>
            <a:ln w="76200" cap="flat" cmpd="sng" algn="ctr">
              <a:solidFill>
                <a:schemeClr val="accent2">
                  <a:lumMod val="75000"/>
                </a:schemeClr>
              </a:solidFill>
              <a:prstDash val="solid"/>
              <a:miter lim="800000"/>
            </a:ln>
            <a:effectLst/>
          </p:spPr>
        </p:cxnSp>
      </p:grpSp>
      <p:grpSp>
        <p:nvGrpSpPr>
          <p:cNvPr id="62" name="组合 61"/>
          <p:cNvGrpSpPr/>
          <p:nvPr/>
        </p:nvGrpSpPr>
        <p:grpSpPr>
          <a:xfrm flipH="1">
            <a:off x="7490486" y="4070666"/>
            <a:ext cx="577312" cy="489227"/>
            <a:chOff x="4683509" y="3243134"/>
            <a:chExt cx="361468" cy="489227"/>
          </a:xfrm>
        </p:grpSpPr>
        <p:cxnSp>
          <p:nvCxnSpPr>
            <p:cNvPr id="63" name="直接连接符 62"/>
            <p:cNvCxnSpPr/>
            <p:nvPr/>
          </p:nvCxnSpPr>
          <p:spPr bwMode="auto">
            <a:xfrm flipH="1">
              <a:off x="4683509" y="3477793"/>
              <a:ext cx="355781" cy="9954"/>
            </a:xfrm>
            <a:prstGeom prst="line">
              <a:avLst/>
            </a:prstGeom>
            <a:noFill/>
            <a:ln w="25400" cap="flat" cmpd="sng" algn="ctr">
              <a:solidFill>
                <a:srgbClr val="4472C4"/>
              </a:solidFill>
              <a:prstDash val="solid"/>
              <a:miter lim="800000"/>
            </a:ln>
            <a:effectLst/>
          </p:spPr>
        </p:cxnSp>
        <p:cxnSp>
          <p:nvCxnSpPr>
            <p:cNvPr id="64" name="直接连接符 63"/>
            <p:cNvCxnSpPr/>
            <p:nvPr/>
          </p:nvCxnSpPr>
          <p:spPr bwMode="auto">
            <a:xfrm>
              <a:off x="5044977" y="3243134"/>
              <a:ext cx="0" cy="489227"/>
            </a:xfrm>
            <a:prstGeom prst="line">
              <a:avLst/>
            </a:prstGeom>
            <a:noFill/>
            <a:ln w="76200" cap="flat" cmpd="sng" algn="ctr">
              <a:solidFill>
                <a:srgbClr val="4472C4"/>
              </a:solidFill>
              <a:prstDash val="solid"/>
              <a:miter lim="800000"/>
            </a:ln>
            <a:effectLst/>
          </p:spPr>
        </p:cxnSp>
      </p:grpSp>
      <p:grpSp>
        <p:nvGrpSpPr>
          <p:cNvPr id="65" name="组合 64"/>
          <p:cNvGrpSpPr/>
          <p:nvPr/>
        </p:nvGrpSpPr>
        <p:grpSpPr>
          <a:xfrm flipH="1">
            <a:off x="7490479" y="5109387"/>
            <a:ext cx="1018800" cy="489227"/>
            <a:chOff x="4025280" y="3243134"/>
            <a:chExt cx="1019697" cy="489227"/>
          </a:xfrm>
        </p:grpSpPr>
        <p:cxnSp>
          <p:nvCxnSpPr>
            <p:cNvPr id="66" name="直接连接符 65"/>
            <p:cNvCxnSpPr/>
            <p:nvPr/>
          </p:nvCxnSpPr>
          <p:spPr bwMode="auto">
            <a:xfrm flipH="1">
              <a:off x="4025280" y="3477793"/>
              <a:ext cx="1014009" cy="0"/>
            </a:xfrm>
            <a:prstGeom prst="line">
              <a:avLst/>
            </a:prstGeom>
            <a:noFill/>
            <a:ln w="25400" cap="flat" cmpd="sng" algn="ctr">
              <a:solidFill>
                <a:srgbClr val="FFC000"/>
              </a:solidFill>
              <a:prstDash val="solid"/>
              <a:miter lim="800000"/>
            </a:ln>
            <a:effectLst/>
          </p:spPr>
        </p:cxnSp>
        <p:cxnSp>
          <p:nvCxnSpPr>
            <p:cNvPr id="67" name="直接连接符 66"/>
            <p:cNvCxnSpPr/>
            <p:nvPr/>
          </p:nvCxnSpPr>
          <p:spPr bwMode="auto">
            <a:xfrm>
              <a:off x="5044977" y="3243134"/>
              <a:ext cx="0" cy="489227"/>
            </a:xfrm>
            <a:prstGeom prst="line">
              <a:avLst/>
            </a:prstGeom>
            <a:noFill/>
            <a:ln w="76200" cap="flat" cmpd="sng" algn="ctr">
              <a:solidFill>
                <a:srgbClr val="FFC000"/>
              </a:solidFill>
              <a:prstDash val="solid"/>
              <a:miter lim="800000"/>
            </a:ln>
            <a:effectLst/>
          </p:spPr>
        </p:cxnSp>
      </p:grpSp>
      <p:sp>
        <p:nvSpPr>
          <p:cNvPr id="68" name="文本框 49"/>
          <p:cNvSpPr txBox="1"/>
          <p:nvPr/>
        </p:nvSpPr>
        <p:spPr>
          <a:xfrm>
            <a:off x="6193534" y="3118821"/>
            <a:ext cx="1155578" cy="346249"/>
          </a:xfrm>
          <a:prstGeom prst="rect">
            <a:avLst/>
          </a:prstGeom>
          <a:noFill/>
        </p:spPr>
        <p:txBody>
          <a:bodyPr wrap="square" lIns="68580" tIns="34290" rIns="68580" bIns="34290" rtlCol="0">
            <a:spAutoFit/>
          </a:bodyPr>
          <a:p>
            <a:pPr algn="r">
              <a:spcBef>
                <a:spcPts val="450"/>
              </a:spcBef>
            </a:pPr>
            <a:r>
              <a:rPr lang="zh-CN" altLang="en-US" dirty="0">
                <a:latin typeface="微软雅黑" panose="020B0503020204020204" charset="-122"/>
                <a:ea typeface="微软雅黑" panose="020B0503020204020204" charset="-122"/>
              </a:rPr>
              <a:t>几何建模</a:t>
            </a:r>
            <a:endParaRPr lang="en-US" altLang="zh-CN" dirty="0">
              <a:latin typeface="微软雅黑" panose="020B0503020204020204" charset="-122"/>
              <a:ea typeface="微软雅黑" panose="020B0503020204020204" charset="-122"/>
            </a:endParaRPr>
          </a:p>
        </p:txBody>
      </p:sp>
      <p:sp>
        <p:nvSpPr>
          <p:cNvPr id="69" name="文本框 49"/>
          <p:cNvSpPr txBox="1"/>
          <p:nvPr/>
        </p:nvSpPr>
        <p:spPr>
          <a:xfrm>
            <a:off x="6193534" y="4142155"/>
            <a:ext cx="1155578" cy="346249"/>
          </a:xfrm>
          <a:prstGeom prst="rect">
            <a:avLst/>
          </a:prstGeom>
          <a:noFill/>
        </p:spPr>
        <p:txBody>
          <a:bodyPr wrap="square" lIns="68580" tIns="34290" rIns="68580" bIns="34290" rtlCol="0">
            <a:spAutoFit/>
          </a:bodyPr>
          <a:p>
            <a:pPr algn="r">
              <a:spcBef>
                <a:spcPts val="450"/>
              </a:spcBef>
            </a:pPr>
            <a:r>
              <a:rPr lang="zh-CN" altLang="en-US" dirty="0">
                <a:latin typeface="微软雅黑" panose="020B0503020204020204" charset="-122"/>
                <a:ea typeface="微软雅黑" panose="020B0503020204020204" charset="-122"/>
              </a:rPr>
              <a:t>后处理</a:t>
            </a:r>
            <a:endParaRPr lang="en-US" altLang="zh-CN" dirty="0">
              <a:latin typeface="微软雅黑" panose="020B0503020204020204" charset="-122"/>
              <a:ea typeface="微软雅黑" panose="020B0503020204020204" charset="-122"/>
            </a:endParaRPr>
          </a:p>
        </p:txBody>
      </p:sp>
      <p:sp>
        <p:nvSpPr>
          <p:cNvPr id="70" name="文本框 49"/>
          <p:cNvSpPr txBox="1"/>
          <p:nvPr/>
        </p:nvSpPr>
        <p:spPr>
          <a:xfrm>
            <a:off x="6193534" y="5180876"/>
            <a:ext cx="1155578" cy="346249"/>
          </a:xfrm>
          <a:prstGeom prst="rect">
            <a:avLst/>
          </a:prstGeom>
          <a:noFill/>
        </p:spPr>
        <p:txBody>
          <a:bodyPr wrap="square" lIns="68580" tIns="34290" rIns="68580" bIns="34290" rtlCol="0">
            <a:spAutoFit/>
          </a:bodyPr>
          <a:p>
            <a:pPr algn="r">
              <a:spcBef>
                <a:spcPts val="450"/>
              </a:spcBef>
            </a:pPr>
            <a:r>
              <a:rPr lang="zh-CN" altLang="en-US" dirty="0">
                <a:latin typeface="微软雅黑" panose="020B0503020204020204" charset="-122"/>
                <a:ea typeface="微软雅黑" panose="020B0503020204020204" charset="-122"/>
              </a:rPr>
              <a:t>其它插件</a:t>
            </a:r>
            <a:endParaRPr lang="en-US" altLang="zh-CN" dirty="0">
              <a:latin typeface="微软雅黑" panose="020B0503020204020204" charset="-122"/>
              <a:ea typeface="微软雅黑" panose="020B0503020204020204" charset="-122"/>
            </a:endParaRPr>
          </a:p>
        </p:txBody>
      </p:sp>
      <p:pic>
        <p:nvPicPr>
          <p:cNvPr id="71" name="图片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35031" y="3391841"/>
            <a:ext cx="432000" cy="432000"/>
          </a:xfrm>
          <a:prstGeom prst="rect">
            <a:avLst/>
          </a:prstGeom>
        </p:spPr>
      </p:pic>
      <p:pic>
        <p:nvPicPr>
          <p:cNvPr id="72" name="图片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9215" y="3102993"/>
            <a:ext cx="432000" cy="432000"/>
          </a:xfrm>
          <a:prstGeom prst="rect">
            <a:avLst/>
          </a:prstGeom>
        </p:spPr>
      </p:pic>
      <p:pic>
        <p:nvPicPr>
          <p:cNvPr id="73" name="图片 7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15036" y="3706864"/>
            <a:ext cx="360000" cy="360000"/>
          </a:xfrm>
          <a:prstGeom prst="rect">
            <a:avLst/>
          </a:prstGeom>
        </p:spPr>
      </p:pic>
      <p:pic>
        <p:nvPicPr>
          <p:cNvPr id="74" name="图片 7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55336" y="4606359"/>
            <a:ext cx="396000" cy="396000"/>
          </a:xfrm>
          <a:prstGeom prst="rect">
            <a:avLst/>
          </a:prstGeom>
        </p:spPr>
      </p:pic>
      <p:pic>
        <p:nvPicPr>
          <p:cNvPr id="75" name="图片 7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29071" y="4833235"/>
            <a:ext cx="324000" cy="324000"/>
          </a:xfrm>
          <a:prstGeom prst="rect">
            <a:avLst/>
          </a:prstGeom>
        </p:spPr>
      </p:pic>
      <p:pic>
        <p:nvPicPr>
          <p:cNvPr id="76" name="图片 7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9664" y="5171640"/>
            <a:ext cx="360000" cy="360000"/>
          </a:xfrm>
          <a:prstGeom prst="rect">
            <a:avLst/>
          </a:prstGeom>
        </p:spPr>
      </p:pic>
      <p:sp>
        <p:nvSpPr>
          <p:cNvPr id="5" name="文本框 4"/>
          <p:cNvSpPr txBox="1"/>
          <p:nvPr/>
        </p:nvSpPr>
        <p:spPr>
          <a:xfrm>
            <a:off x="671830" y="1217295"/>
            <a:ext cx="10782935" cy="1337945"/>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FastCAE</a:t>
            </a:r>
            <a:r>
              <a:rPr lang="zh-CN" altLang="en-US">
                <a:latin typeface="微软雅黑" panose="020B0503020204020204" charset="-122"/>
                <a:ea typeface="微软雅黑" panose="020B0503020204020204" charset="-122"/>
                <a:cs typeface="微软雅黑" panose="020B0503020204020204" charset="-122"/>
                <a:sym typeface="+mn-ea"/>
              </a:rPr>
              <a:t>生态版基础底座中提供了脚本记录与执行功能，</a:t>
            </a:r>
            <a:r>
              <a:rPr lang="zh-CN" altLang="en-US">
                <a:latin typeface="微软雅黑" panose="020B0503020204020204" charset="-122"/>
                <a:ea typeface="微软雅黑" panose="020B0503020204020204" charset="-122"/>
                <a:cs typeface="微软雅黑" panose="020B0503020204020204" charset="-122"/>
                <a:sym typeface="+mn-ea"/>
              </a:rPr>
              <a:t>脚本系统基于</a:t>
            </a:r>
            <a:r>
              <a:rPr lang="en-US" altLang="zh-CN">
                <a:latin typeface="微软雅黑" panose="020B0503020204020204" charset="-122"/>
                <a:ea typeface="微软雅黑" panose="020B0503020204020204" charset="-122"/>
                <a:cs typeface="微软雅黑" panose="020B0503020204020204" charset="-122"/>
                <a:sym typeface="+mn-ea"/>
              </a:rPr>
              <a:t>PythonQt</a:t>
            </a:r>
            <a:r>
              <a:rPr lang="zh-CN" altLang="en-US">
                <a:latin typeface="微软雅黑" panose="020B0503020204020204" charset="-122"/>
                <a:ea typeface="微软雅黑" panose="020B0503020204020204" charset="-122"/>
                <a:cs typeface="微软雅黑" panose="020B0503020204020204" charset="-122"/>
                <a:sym typeface="+mn-ea"/>
              </a:rPr>
              <a:t>开源库设计开发，</a:t>
            </a:r>
            <a:r>
              <a:rPr lang="zh-CN" altLang="en-US">
                <a:latin typeface="微软雅黑" panose="020B0503020204020204" charset="-122"/>
                <a:ea typeface="微软雅黑" panose="020B0503020204020204" charset="-122"/>
                <a:cs typeface="微软雅黑" panose="020B0503020204020204" charset="-122"/>
                <a:sym typeface="+mn-ea"/>
              </a:rPr>
              <a:t>可支持</a:t>
            </a:r>
            <a:r>
              <a:rPr lang="en-US" altLang="zh-CN">
                <a:latin typeface="微软雅黑" panose="020B0503020204020204" charset="-122"/>
                <a:ea typeface="微软雅黑" panose="020B0503020204020204" charset="-122"/>
                <a:cs typeface="微软雅黑" panose="020B0503020204020204" charset="-122"/>
                <a:sym typeface="+mn-ea"/>
              </a:rPr>
              <a:t>Python</a:t>
            </a:r>
            <a:r>
              <a:rPr lang="zh-CN" altLang="en-US">
                <a:latin typeface="微软雅黑" panose="020B0503020204020204" charset="-122"/>
                <a:ea typeface="微软雅黑" panose="020B0503020204020204" charset="-122"/>
                <a:cs typeface="微软雅黑" panose="020B0503020204020204" charset="-122"/>
                <a:sym typeface="+mn-ea"/>
              </a:rPr>
              <a:t>脚本执行，实现</a:t>
            </a:r>
            <a:r>
              <a:rPr lang="en-US" altLang="zh-CN">
                <a:latin typeface="微软雅黑" panose="020B0503020204020204" charset="-122"/>
                <a:ea typeface="微软雅黑" panose="020B0503020204020204" charset="-122"/>
                <a:cs typeface="微软雅黑" panose="020B0503020204020204" charset="-122"/>
                <a:sym typeface="+mn-ea"/>
              </a:rPr>
              <a:t>Python</a:t>
            </a:r>
            <a:r>
              <a:rPr lang="zh-CN" altLang="en-US">
                <a:latin typeface="微软雅黑" panose="020B0503020204020204" charset="-122"/>
                <a:ea typeface="微软雅黑" panose="020B0503020204020204" charset="-122"/>
                <a:cs typeface="微软雅黑" panose="020B0503020204020204" charset="-122"/>
                <a:sym typeface="+mn-ea"/>
              </a:rPr>
              <a:t>与</a:t>
            </a:r>
            <a:r>
              <a:rPr lang="en-US" altLang="zh-CN">
                <a:latin typeface="微软雅黑" panose="020B0503020204020204" charset="-122"/>
                <a:ea typeface="微软雅黑" panose="020B0503020204020204" charset="-122"/>
                <a:cs typeface="微软雅黑" panose="020B0503020204020204" charset="-122"/>
                <a:sym typeface="+mn-ea"/>
              </a:rPr>
              <a:t>C++</a:t>
            </a:r>
            <a:r>
              <a:rPr lang="zh-CN" altLang="en-US">
                <a:latin typeface="微软雅黑" panose="020B0503020204020204" charset="-122"/>
                <a:ea typeface="微软雅黑" panose="020B0503020204020204" charset="-122"/>
                <a:cs typeface="微软雅黑" panose="020B0503020204020204" charset="-122"/>
                <a:sym typeface="+mn-ea"/>
              </a:rPr>
              <a:t>内核程序之间的数据传递。当前部分学科应用软件已经支持不同粒度的脚本记录与重复执行功能。</a:t>
            </a:r>
            <a:endParaRPr lang="zh-CN" altLang="en-US">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8"/>
          <a:stretch>
            <a:fillRect/>
          </a:stretch>
        </p:blipFill>
        <p:spPr>
          <a:xfrm>
            <a:off x="1070610" y="2715895"/>
            <a:ext cx="4571365" cy="3315335"/>
          </a:xfrm>
          <a:prstGeom prst="rect">
            <a:avLst/>
          </a:prstGeom>
          <a:ln>
            <a:solidFill>
              <a:schemeClr val="bg2">
                <a:lumMod val="75000"/>
              </a:schemeClr>
            </a:solidFill>
          </a:ln>
        </p:spPr>
      </p:pic>
    </p:spTree>
  </p:cSld>
  <p:clrMapOvr>
    <a:masterClrMapping/>
  </p:clrMapOvr>
  <p:transition spd="slow"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299515" y="392057"/>
            <a:ext cx="3142321" cy="4707890"/>
          </a:xfrm>
          <a:prstGeom prst="rect">
            <a:avLst/>
          </a:prstGeom>
          <a:noFill/>
        </p:spPr>
        <p:txBody>
          <a:bodyPr wrap="square" rtlCol="0">
            <a:spAutoFit/>
          </a:bodyPr>
          <a:lstStyle/>
          <a:p>
            <a:r>
              <a:rPr lang="en-US" altLang="zh-CN" sz="30000" dirty="0">
                <a:latin typeface="Segoe UI Light" panose="020B0502040204020203" pitchFamily="34" charset="0"/>
              </a:rPr>
              <a:t>2</a:t>
            </a:r>
            <a:endParaRPr lang="en-US" altLang="zh-CN" sz="30000" dirty="0">
              <a:latin typeface="Segoe UI Light" panose="020B0502040204020203" pitchFamily="34" charset="0"/>
            </a:endParaRPr>
          </a:p>
        </p:txBody>
      </p:sp>
      <p:sp>
        <p:nvSpPr>
          <p:cNvPr id="14" name="文本框 58"/>
          <p:cNvSpPr txBox="1"/>
          <p:nvPr/>
        </p:nvSpPr>
        <p:spPr>
          <a:xfrm>
            <a:off x="2578100" y="1697355"/>
            <a:ext cx="4423410" cy="2306955"/>
          </a:xfrm>
          <a:prstGeom prst="rect">
            <a:avLst/>
          </a:prstGeom>
          <a:noFill/>
        </p:spPr>
        <p:txBody>
          <a:bodyPr wrap="square" rtlCol="0">
            <a:spAutoFit/>
          </a:bodyPr>
          <a:lstStyle/>
          <a:p>
            <a:r>
              <a:rPr lang="en-US" altLang="zh-CN" sz="7200" b="1" dirty="0">
                <a:latin typeface="Segoe UI Light" panose="020B0502040204020203" pitchFamily="34" charset="0"/>
              </a:rPr>
              <a:t>CHAPTER  </a:t>
            </a:r>
            <a:endParaRPr lang="en-US" altLang="zh-CN" sz="7200" b="1" dirty="0">
              <a:latin typeface="Segoe UI Light" panose="020B0502040204020203" pitchFamily="34" charset="0"/>
            </a:endParaRPr>
          </a:p>
          <a:p>
            <a:r>
              <a:rPr lang="en-US" altLang="zh-CN" sz="7200" b="1" dirty="0">
                <a:latin typeface="Segoe UI Light" panose="020B0502040204020203" pitchFamily="34" charset="0"/>
                <a:ea typeface="微软雅黑 Light" panose="020B0502040204020203" pitchFamily="34" charset="-122"/>
                <a:cs typeface="Segoe UI Light" panose="020B0502040204020203" pitchFamily="34" charset="0"/>
              </a:rPr>
              <a:t>TWO</a:t>
            </a:r>
            <a:endParaRPr lang="zh-CN" altLang="en-US" sz="7200" b="1" dirty="0">
              <a:latin typeface="Segoe UI Light" panose="020B0502040204020203" pitchFamily="34" charset="0"/>
              <a:ea typeface="微软雅黑 Light" panose="020B0502040204020203" pitchFamily="34" charset="-122"/>
              <a:cs typeface="Segoe UI Light" panose="020B0502040204020203" pitchFamily="34" charset="0"/>
            </a:endParaRPr>
          </a:p>
        </p:txBody>
      </p:sp>
      <p:grpSp>
        <p:nvGrpSpPr>
          <p:cNvPr id="2" name="Group 12"/>
          <p:cNvGrpSpPr/>
          <p:nvPr/>
        </p:nvGrpSpPr>
        <p:grpSpPr>
          <a:xfrm>
            <a:off x="5997524" y="4581047"/>
            <a:ext cx="216000" cy="2295454"/>
            <a:chOff x="5997524" y="4571522"/>
            <a:chExt cx="216000" cy="2295454"/>
          </a:xfrm>
          <a:solidFill>
            <a:srgbClr val="002060"/>
          </a:solidFill>
        </p:grpSpPr>
        <p:cxnSp>
          <p:nvCxnSpPr>
            <p:cNvPr id="4" name="Straight Connector 7"/>
            <p:cNvCxnSpPr/>
            <p:nvPr/>
          </p:nvCxnSpPr>
          <p:spPr>
            <a:xfrm>
              <a:off x="6097936" y="4706976"/>
              <a:ext cx="0" cy="2160000"/>
            </a:xfrm>
            <a:prstGeom prst="line">
              <a:avLst/>
            </a:prstGeom>
            <a:grpFill/>
            <a:ln w="25400" cmpd="sng">
              <a:solidFill>
                <a:schemeClr val="accent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Group 11"/>
            <p:cNvGrpSpPr/>
            <p:nvPr/>
          </p:nvGrpSpPr>
          <p:grpSpPr>
            <a:xfrm>
              <a:off x="5997524" y="4571522"/>
              <a:ext cx="216000" cy="212400"/>
              <a:chOff x="9702774" y="956603"/>
              <a:chExt cx="216000" cy="212400"/>
            </a:xfrm>
            <a:grpFill/>
          </p:grpSpPr>
          <p:sp>
            <p:nvSpPr>
              <p:cNvPr id="19" name="Oval 9"/>
              <p:cNvSpPr/>
              <p:nvPr/>
            </p:nvSpPr>
            <p:spPr>
              <a:xfrm>
                <a:off x="9702774" y="956603"/>
                <a:ext cx="216000" cy="2124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sp>
            <p:nvSpPr>
              <p:cNvPr id="20" name="Oval 8"/>
              <p:cNvSpPr/>
              <p:nvPr/>
            </p:nvSpPr>
            <p:spPr>
              <a:xfrm>
                <a:off x="9738774" y="1007117"/>
                <a:ext cx="144000" cy="144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grpSp>
      </p:grpSp>
      <p:sp>
        <p:nvSpPr>
          <p:cNvPr id="21" name="文本框 16"/>
          <p:cNvSpPr txBox="1"/>
          <p:nvPr/>
        </p:nvSpPr>
        <p:spPr>
          <a:xfrm>
            <a:off x="2578735" y="3957955"/>
            <a:ext cx="4422775" cy="583565"/>
          </a:xfrm>
          <a:prstGeom prst="rect">
            <a:avLst/>
          </a:prstGeom>
          <a:noFill/>
        </p:spPr>
        <p:txBody>
          <a:bodyPr wrap="square" rtlCol="0">
            <a:spAutoFit/>
          </a:bodyPr>
          <a:lstStyle/>
          <a:p>
            <a:pPr>
              <a:buClr>
                <a:srgbClr val="00517C"/>
              </a:buClr>
              <a:buSzPct val="80000"/>
            </a:pPr>
            <a:r>
              <a:rPr lang="en-US" altLang="zh-CN" sz="3200" b="1" dirty="0">
                <a:solidFill>
                  <a:srgbClr val="FF0000"/>
                </a:solidFill>
                <a:latin typeface="微软雅黑" panose="020B0503020204020204" charset="-122"/>
                <a:ea typeface="微软雅黑" panose="020B0503020204020204" charset="-122"/>
                <a:sym typeface="微软雅黑" panose="020B0503020204020204" charset="-122"/>
              </a:rPr>
              <a:t>软件介绍</a:t>
            </a:r>
            <a:endParaRPr lang="en-US" altLang="zh-CN" sz="3200" b="1" dirty="0">
              <a:solidFill>
                <a:srgbClr val="FF0000"/>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advTm="0">
        <p:fade/>
      </p:transition>
    </mc:Choice>
    <mc:Fallback>
      <p:transition spd="med"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介绍</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1" name="矩形 11"/>
          <p:cNvSpPr>
            <a:spLocks noChangeArrowheads="1"/>
          </p:cNvSpPr>
          <p:nvPr/>
        </p:nvSpPr>
        <p:spPr bwMode="auto">
          <a:xfrm>
            <a:off x="740410" y="5133340"/>
            <a:ext cx="10695940"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just">
              <a:lnSpc>
                <a:spcPct val="150000"/>
              </a:lnSpc>
              <a:spcBef>
                <a:spcPts val="20"/>
              </a:spcBef>
              <a:spcAft>
                <a:spcPts val="0"/>
              </a:spcAft>
            </a:pPr>
            <a:r>
              <a:rPr lang="en-US" altLang="zh-CN" dirty="0">
                <a:latin typeface="微软雅黑" panose="020B0503020204020204" charset="-122"/>
                <a:ea typeface="微软雅黑" panose="020B0503020204020204" charset="-122"/>
                <a:sym typeface="Arial" panose="020B0604020202020204" pitchFamily="34" charset="0"/>
              </a:rPr>
              <a:t>       </a:t>
            </a:r>
            <a:r>
              <a:rPr lang="zh-CN" altLang="en-US" dirty="0">
                <a:latin typeface="微软雅黑" panose="020B0503020204020204" charset="-122"/>
                <a:ea typeface="微软雅黑" panose="020B0503020204020204" charset="-122"/>
                <a:sym typeface="Arial" panose="020B0604020202020204" pitchFamily="34" charset="0"/>
              </a:rPr>
              <a:t>结构分析软件能够模拟复杂的固体力学问题，特别是非线性问题，支持静力、模态、瞬态、屈曲等分析类型，</a:t>
            </a:r>
            <a:r>
              <a:rPr lang="zh-CN" altLang="en-US" b="1" dirty="0">
                <a:latin typeface="微软雅黑" panose="020B0503020204020204" charset="-122"/>
                <a:ea typeface="微软雅黑" panose="020B0503020204020204" charset="-122"/>
                <a:sym typeface="Arial" panose="020B0604020202020204" pitchFamily="34" charset="0"/>
              </a:rPr>
              <a:t>拥有完整的前后处理功能</a:t>
            </a:r>
            <a:r>
              <a:rPr lang="zh-CN" altLang="en-US" dirty="0">
                <a:latin typeface="微软雅黑" panose="020B0503020204020204" charset="-122"/>
                <a:ea typeface="微软雅黑" panose="020B0503020204020204" charset="-122"/>
                <a:sym typeface="Arial" panose="020B0604020202020204" pitchFamily="34" charset="0"/>
              </a:rPr>
              <a:t>，</a:t>
            </a:r>
            <a:r>
              <a:rPr lang="zh-CN" altLang="en-US" b="1" dirty="0">
                <a:latin typeface="微软雅黑" panose="020B0503020204020204" charset="-122"/>
                <a:ea typeface="微软雅黑" panose="020B0503020204020204" charset="-122"/>
                <a:sym typeface="Arial" panose="020B0604020202020204" pitchFamily="34" charset="0"/>
              </a:rPr>
              <a:t>集成了</a:t>
            </a:r>
            <a:r>
              <a:rPr lang="en-US" altLang="zh-CN" b="1" dirty="0">
                <a:latin typeface="微软雅黑" panose="020B0503020204020204" charset="-122"/>
                <a:ea typeface="微软雅黑" panose="020B0503020204020204" charset="-122"/>
                <a:sym typeface="Arial" panose="020B0604020202020204" pitchFamily="34" charset="0"/>
              </a:rPr>
              <a:t>Abaqus</a:t>
            </a:r>
            <a:r>
              <a:rPr lang="zh-CN" altLang="en-US" b="1" dirty="0">
                <a:latin typeface="微软雅黑" panose="020B0503020204020204" charset="-122"/>
                <a:ea typeface="微软雅黑" panose="020B0503020204020204" charset="-122"/>
                <a:sym typeface="Arial" panose="020B0604020202020204" pitchFamily="34" charset="0"/>
              </a:rPr>
              <a:t>和</a:t>
            </a:r>
            <a:r>
              <a:rPr lang="en-US" altLang="zh-CN" b="1" dirty="0">
                <a:latin typeface="微软雅黑" panose="020B0503020204020204" charset="-122"/>
                <a:ea typeface="微软雅黑" panose="020B0503020204020204" charset="-122"/>
                <a:sym typeface="Arial" panose="020B0604020202020204" pitchFamily="34" charset="0"/>
              </a:rPr>
              <a:t>Calculix</a:t>
            </a:r>
            <a:r>
              <a:rPr lang="zh-CN" altLang="en-US" b="1" dirty="0">
                <a:latin typeface="微软雅黑" panose="020B0503020204020204" charset="-122"/>
                <a:ea typeface="微软雅黑" panose="020B0503020204020204" charset="-122"/>
                <a:sym typeface="Arial" panose="020B0604020202020204" pitchFamily="34" charset="0"/>
              </a:rPr>
              <a:t>求解器进行求解</a:t>
            </a:r>
            <a:r>
              <a:rPr lang="zh-CN" altLang="en-US" dirty="0">
                <a:latin typeface="微软雅黑" panose="020B0503020204020204" charset="-122"/>
                <a:ea typeface="微软雅黑" panose="020B0503020204020204" charset="-122"/>
                <a:sym typeface="Arial" panose="020B0604020202020204" pitchFamily="34" charset="0"/>
              </a:rPr>
              <a:t>。</a:t>
            </a:r>
            <a:endParaRPr lang="zh-CN" altLang="en-US" dirty="0">
              <a:latin typeface="微软雅黑" panose="020B0503020204020204" charset="-122"/>
              <a:ea typeface="微软雅黑" panose="020B0503020204020204" charset="-122"/>
              <a:sym typeface="Arial" panose="020B0604020202020204" pitchFamily="34" charset="0"/>
            </a:endParaRPr>
          </a:p>
        </p:txBody>
      </p:sp>
      <p:sp>
        <p:nvSpPr>
          <p:cNvPr id="12" name="圆角矩形 11"/>
          <p:cNvSpPr/>
          <p:nvPr>
            <p:custDataLst>
              <p:tags r:id="rId2"/>
            </p:custDataLst>
          </p:nvPr>
        </p:nvSpPr>
        <p:spPr>
          <a:xfrm rot="10800000" flipV="1">
            <a:off x="5750133" y="1697990"/>
            <a:ext cx="2232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VTK</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渲染组件</a:t>
            </a:r>
            <a:endPar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3" name="圆角矩形 12"/>
          <p:cNvSpPr/>
          <p:nvPr>
            <p:custDataLst>
              <p:tags r:id="rId3"/>
            </p:custDataLst>
          </p:nvPr>
        </p:nvSpPr>
        <p:spPr>
          <a:xfrm rot="10800000" flipV="1">
            <a:off x="8292428" y="1697990"/>
            <a:ext cx="2304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400">
                <a:solidFill>
                  <a:schemeClr val="bg1"/>
                </a:solidFill>
                <a:effectLst/>
                <a:uFillTx/>
                <a:latin typeface="微软雅黑" panose="020B0503020204020204" charset="-122"/>
                <a:ea typeface="微软雅黑" panose="020B0503020204020204" charset="-122"/>
                <a:cs typeface="+mn-ea"/>
                <a:sym typeface="+mn-ea"/>
              </a:rPr>
              <a:t>结构分析数据结构组件</a:t>
            </a:r>
            <a:endParaRPr lang="zh-CN" altLang="en-US" sz="1400">
              <a:solidFill>
                <a:schemeClr val="bg1"/>
              </a:solidFill>
              <a:effectLst/>
              <a:uFillTx/>
              <a:latin typeface="微软雅黑" panose="020B0503020204020204" charset="-122"/>
              <a:ea typeface="微软雅黑" panose="020B0503020204020204" charset="-122"/>
              <a:cs typeface="+mn-ea"/>
              <a:sym typeface="+mn-ea"/>
            </a:endParaRPr>
          </a:p>
        </p:txBody>
      </p:sp>
      <p:sp>
        <p:nvSpPr>
          <p:cNvPr id="14" name="圆角矩形 13"/>
          <p:cNvSpPr/>
          <p:nvPr>
            <p:custDataLst>
              <p:tags r:id="rId4"/>
            </p:custDataLst>
          </p:nvPr>
        </p:nvSpPr>
        <p:spPr>
          <a:xfrm rot="10800000" flipV="1">
            <a:off x="5750133" y="2506345"/>
            <a:ext cx="2232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Abaqus</a:t>
            </a:r>
            <a:endPar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a:p>
            <a:pPr lvl="0" algn="ctr">
              <a:spcBef>
                <a:spcPct val="0"/>
              </a:spcBef>
              <a:spcAft>
                <a:spcPct val="0"/>
              </a:spcAft>
              <a:buClrTx/>
              <a:buSzTx/>
              <a:buFontTx/>
            </a:pP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INP IO</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组件</a:t>
            </a:r>
            <a:endPar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custDataLst>
              <p:tags r:id="rId5"/>
            </p:custDataLst>
          </p:nvPr>
        </p:nvSpPr>
        <p:spPr>
          <a:xfrm rot="10800000" flipV="1">
            <a:off x="8351483" y="2513965"/>
            <a:ext cx="2304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CalculiX</a:t>
            </a:r>
            <a:endPar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a:p>
            <a:pPr lvl="0" algn="ctr">
              <a:spcBef>
                <a:spcPct val="0"/>
              </a:spcBef>
              <a:spcAft>
                <a:spcPct val="0"/>
              </a:spcAft>
              <a:buClrTx/>
              <a:buSzTx/>
              <a:buFontTx/>
            </a:pP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INP IO</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组件</a:t>
            </a:r>
            <a:endPar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7" name="圆角矩形 16"/>
          <p:cNvSpPr/>
          <p:nvPr>
            <p:custDataLst>
              <p:tags r:id="rId6"/>
            </p:custDataLst>
          </p:nvPr>
        </p:nvSpPr>
        <p:spPr>
          <a:xfrm rot="10800000" flipV="1">
            <a:off x="5809188" y="3380105"/>
            <a:ext cx="2232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HDF5</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工程文件</a:t>
            </a: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IO</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组件</a:t>
            </a:r>
            <a:endPar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8" name="圆角矩形 17"/>
          <p:cNvSpPr/>
          <p:nvPr>
            <p:custDataLst>
              <p:tags r:id="rId7"/>
            </p:custDataLst>
          </p:nvPr>
        </p:nvSpPr>
        <p:spPr>
          <a:xfrm rot="10800000" flipV="1">
            <a:off x="8351483" y="3380105"/>
            <a:ext cx="2304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常用</a:t>
            </a:r>
            <a:r>
              <a:rPr lang="en-US" altLang="zh-CN"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UI</a:t>
            </a:r>
            <a:r>
              <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rPr>
              <a:t>组件</a:t>
            </a:r>
            <a:endParaRPr lang="zh-CN" altLang="en-US" sz="1400">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9" name="圆角矩形 18"/>
          <p:cNvSpPr/>
          <p:nvPr>
            <p:custDataLst>
              <p:tags r:id="rId8"/>
            </p:custDataLst>
          </p:nvPr>
        </p:nvSpPr>
        <p:spPr>
          <a:xfrm rot="10800000" flipV="1">
            <a:off x="5809188" y="4177665"/>
            <a:ext cx="2232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400">
                <a:solidFill>
                  <a:schemeClr val="bg1"/>
                </a:solidFill>
                <a:effectLst/>
                <a:uFillTx/>
                <a:latin typeface="微软雅黑" panose="020B0503020204020204" charset="-122"/>
                <a:ea typeface="微软雅黑" panose="020B0503020204020204" charset="-122"/>
                <a:cs typeface="+mn-ea"/>
                <a:sym typeface="+mn-ea"/>
              </a:rPr>
              <a:t>信息输出</a:t>
            </a:r>
            <a:endParaRPr lang="zh-CN" altLang="en-US" sz="1400">
              <a:solidFill>
                <a:schemeClr val="bg1"/>
              </a:solidFill>
              <a:effectLst/>
              <a:uFillTx/>
              <a:latin typeface="微软雅黑" panose="020B0503020204020204" charset="-122"/>
              <a:ea typeface="微软雅黑" panose="020B0503020204020204" charset="-122"/>
              <a:cs typeface="+mn-ea"/>
              <a:sym typeface="+mn-ea"/>
            </a:endParaRPr>
          </a:p>
        </p:txBody>
      </p:sp>
      <p:sp>
        <p:nvSpPr>
          <p:cNvPr id="20" name="圆角矩形 19"/>
          <p:cNvSpPr/>
          <p:nvPr>
            <p:custDataLst>
              <p:tags r:id="rId9"/>
            </p:custDataLst>
          </p:nvPr>
        </p:nvSpPr>
        <p:spPr>
          <a:xfrm rot="10800000" flipV="1">
            <a:off x="8351483" y="4170045"/>
            <a:ext cx="2304000" cy="467948"/>
          </a:xfrm>
          <a:prstGeom prst="roundRect">
            <a:avLst>
              <a:gd name="adj" fmla="val 50000"/>
            </a:avLst>
          </a:prstGeom>
          <a:solidFill>
            <a:schemeClr val="accent1"/>
          </a:solidFill>
        </p:spPr>
        <p:style>
          <a:lnRef idx="0">
            <a:srgbClr val="FFFFFF"/>
          </a:lnRef>
          <a:fillRef idx="3">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zh-CN" altLang="en-US" sz="1400">
                <a:solidFill>
                  <a:schemeClr val="bg1"/>
                </a:solidFill>
                <a:effectLst/>
                <a:uFillTx/>
                <a:latin typeface="微软雅黑" panose="020B0503020204020204" charset="-122"/>
                <a:ea typeface="微软雅黑" panose="020B0503020204020204" charset="-122"/>
                <a:cs typeface="+mn-ea"/>
                <a:sym typeface="+mn-ea"/>
              </a:rPr>
              <a:t>可视化对象适配</a:t>
            </a:r>
            <a:endParaRPr lang="zh-CN" altLang="en-US" sz="1400">
              <a:solidFill>
                <a:schemeClr val="bg1"/>
              </a:solidFill>
              <a:effectLst/>
              <a:uFillTx/>
              <a:latin typeface="微软雅黑" panose="020B0503020204020204" charset="-122"/>
              <a:ea typeface="微软雅黑" panose="020B0503020204020204" charset="-122"/>
              <a:cs typeface="+mn-ea"/>
              <a:sym typeface="+mn-ea"/>
            </a:endParaRPr>
          </a:p>
        </p:txBody>
      </p:sp>
      <p:pic>
        <p:nvPicPr>
          <p:cNvPr id="4" name="图片 3"/>
          <p:cNvPicPr>
            <a:picLocks noChangeAspect="1"/>
          </p:cNvPicPr>
          <p:nvPr/>
        </p:nvPicPr>
        <p:blipFill>
          <a:blip r:embed="rId10"/>
          <a:stretch>
            <a:fillRect/>
          </a:stretch>
        </p:blipFill>
        <p:spPr>
          <a:xfrm>
            <a:off x="846455" y="1685290"/>
            <a:ext cx="4756150" cy="3126740"/>
          </a:xfrm>
          <a:prstGeom prst="rect">
            <a:avLst/>
          </a:prstGeom>
        </p:spPr>
      </p:pic>
    </p:spTree>
  </p:cSld>
  <p:clrMapOvr>
    <a:masterClrMapping/>
  </p:clrMapOvr>
  <p:transition spd="slow"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532130" y="1108710"/>
            <a:ext cx="2762885" cy="1353185"/>
          </a:xfrm>
          <a:prstGeom prst="rect">
            <a:avLst/>
          </a:prstGeom>
          <a:noFill/>
        </p:spPr>
        <p:txBody>
          <a:bodyPr wrap="square" rtlCol="0">
            <a:spAutoFit/>
          </a:bodyPr>
          <a:p>
            <a:r>
              <a:rPr lang="zh-CN" altLang="en-US" b="1"/>
              <a:t>分析类型：</a:t>
            </a:r>
            <a:endParaRPr lang="zh-CN" altLang="en-US" b="1"/>
          </a:p>
          <a:p>
            <a:pPr marL="285750" indent="-285750">
              <a:buFont typeface="Arial" panose="020B0604020202020204" pitchFamily="34" charset="0"/>
              <a:buChar char="•"/>
            </a:pPr>
            <a:r>
              <a:rPr lang="zh-CN" altLang="en-US" sz="1600"/>
              <a:t>稳态分析</a:t>
            </a:r>
            <a:endParaRPr lang="zh-CN" altLang="en-US" sz="1600"/>
          </a:p>
          <a:p>
            <a:pPr marL="285750" indent="-285750">
              <a:buFont typeface="Arial" panose="020B0604020202020204" pitchFamily="34" charset="0"/>
              <a:buChar char="•"/>
            </a:pPr>
            <a:r>
              <a:rPr lang="zh-CN" altLang="en-US" sz="1600"/>
              <a:t>显式动力学分析</a:t>
            </a:r>
            <a:endParaRPr lang="zh-CN" altLang="en-US" sz="1600"/>
          </a:p>
          <a:p>
            <a:pPr marL="285750" indent="-285750">
              <a:buFont typeface="Arial" panose="020B0604020202020204" pitchFamily="34" charset="0"/>
              <a:buChar char="•"/>
            </a:pPr>
            <a:r>
              <a:rPr lang="zh-CN" altLang="en-US" sz="1600"/>
              <a:t>模态分析</a:t>
            </a:r>
            <a:endParaRPr lang="zh-CN" altLang="en-US" sz="1600"/>
          </a:p>
          <a:p>
            <a:pPr marL="285750" indent="-285750">
              <a:buFont typeface="Arial" panose="020B0604020202020204" pitchFamily="34" charset="0"/>
              <a:buChar char="•"/>
            </a:pPr>
            <a:r>
              <a:rPr lang="zh-CN" altLang="en-US" sz="1600"/>
              <a:t>屈曲分析</a:t>
            </a:r>
            <a:endParaRPr lang="zh-CN" altLang="en-US" sz="1600"/>
          </a:p>
        </p:txBody>
      </p:sp>
      <p:sp>
        <p:nvSpPr>
          <p:cNvPr id="5" name="文本框 4"/>
          <p:cNvSpPr txBox="1"/>
          <p:nvPr/>
        </p:nvSpPr>
        <p:spPr>
          <a:xfrm>
            <a:off x="2813685" y="1092200"/>
            <a:ext cx="4261485" cy="1106805"/>
          </a:xfrm>
          <a:prstGeom prst="rect">
            <a:avLst/>
          </a:prstGeom>
          <a:noFill/>
        </p:spPr>
        <p:txBody>
          <a:bodyPr wrap="square" rtlCol="0">
            <a:spAutoFit/>
          </a:bodyPr>
          <a:p>
            <a:r>
              <a:rPr lang="zh-CN" altLang="en-US" b="1"/>
              <a:t>单元类型：</a:t>
            </a:r>
            <a:endParaRPr lang="zh-CN" altLang="en-US" b="1"/>
          </a:p>
          <a:p>
            <a:pPr marL="285750" indent="-285750">
              <a:buFont typeface="Arial" panose="020B0604020202020204" pitchFamily="34" charset="0"/>
              <a:buChar char="•"/>
            </a:pPr>
            <a:r>
              <a:rPr lang="zh-CN" altLang="en-US" sz="1600"/>
              <a:t>低阶高阶梁单元、板壳单元、实体单元</a:t>
            </a:r>
            <a:endParaRPr lang="zh-CN" altLang="en-US" sz="1600"/>
          </a:p>
          <a:p>
            <a:pPr marL="285750" indent="-285750">
              <a:buFont typeface="Arial" panose="020B0604020202020204" pitchFamily="34" charset="0"/>
              <a:buChar char="•"/>
            </a:pPr>
            <a:r>
              <a:rPr lang="zh-CN" altLang="en-US" sz="1600"/>
              <a:t>质量点单元、弹簧单元</a:t>
            </a:r>
            <a:endParaRPr lang="zh-CN" altLang="en-US" sz="1600"/>
          </a:p>
          <a:p>
            <a:pPr marL="285750" indent="-285750">
              <a:buFont typeface="Arial" panose="020B0604020202020204" pitchFamily="34" charset="0"/>
              <a:buChar char="•"/>
            </a:pPr>
            <a:r>
              <a:rPr lang="zh-CN" altLang="en-US" sz="1600"/>
              <a:t>连接单元</a:t>
            </a:r>
            <a:endParaRPr lang="zh-CN" altLang="en-US" sz="1600"/>
          </a:p>
        </p:txBody>
      </p:sp>
      <p:sp>
        <p:nvSpPr>
          <p:cNvPr id="6" name="文本框 5"/>
          <p:cNvSpPr txBox="1"/>
          <p:nvPr/>
        </p:nvSpPr>
        <p:spPr>
          <a:xfrm>
            <a:off x="450215" y="2461260"/>
            <a:ext cx="5806440" cy="1599565"/>
          </a:xfrm>
          <a:prstGeom prst="rect">
            <a:avLst/>
          </a:prstGeom>
          <a:noFill/>
        </p:spPr>
        <p:txBody>
          <a:bodyPr wrap="square" rtlCol="0">
            <a:spAutoFit/>
          </a:bodyPr>
          <a:p>
            <a:pPr indent="0">
              <a:buFont typeface="Arial" panose="020B0604020202020204" pitchFamily="34" charset="0"/>
              <a:buNone/>
            </a:pPr>
            <a:r>
              <a:rPr lang="zh-CN" altLang="en-US" b="1"/>
              <a:t>材料属性：</a:t>
            </a:r>
            <a:endParaRPr lang="zh-CN" altLang="en-US" b="1"/>
          </a:p>
          <a:p>
            <a:pPr marL="285750" indent="-285750">
              <a:buFont typeface="Arial" panose="020B0604020202020204" pitchFamily="34" charset="0"/>
              <a:buChar char="•"/>
            </a:pPr>
            <a:r>
              <a:rPr lang="zh-CN" altLang="en-US" sz="1600"/>
              <a:t>线弹性材料：各向同性、正交各向异性、单层板、工程常数</a:t>
            </a:r>
            <a:endParaRPr lang="zh-CN" altLang="en-US" sz="1600"/>
          </a:p>
          <a:p>
            <a:pPr marL="285750" indent="-285750">
              <a:buFont typeface="Arial" panose="020B0604020202020204" pitchFamily="34" charset="0"/>
              <a:buChar char="•"/>
            </a:pPr>
            <a:r>
              <a:rPr lang="zh-CN" altLang="en-US" sz="1600"/>
              <a:t>超弹性材料：各向同性</a:t>
            </a:r>
            <a:r>
              <a:rPr lang="en-US" altLang="zh-CN" sz="1600"/>
              <a:t>Mooney-Rivlin</a:t>
            </a:r>
            <a:endParaRPr lang="en-US" altLang="zh-CN" sz="1600"/>
          </a:p>
          <a:p>
            <a:pPr marL="285750" indent="-285750">
              <a:buFont typeface="Arial" panose="020B0604020202020204" pitchFamily="34" charset="0"/>
              <a:buChar char="•"/>
            </a:pPr>
            <a:r>
              <a:rPr lang="zh-CN" altLang="en-US" sz="1600"/>
              <a:t>弹塑性材料：各向同性（依赖温度和应力</a:t>
            </a:r>
            <a:r>
              <a:rPr lang="en-US" altLang="zh-CN" sz="1600"/>
              <a:t>-</a:t>
            </a:r>
            <a:r>
              <a:rPr lang="zh-CN" altLang="en-US" sz="1600"/>
              <a:t>应变）</a:t>
            </a:r>
            <a:endParaRPr lang="zh-CN" altLang="en-US" sz="1600"/>
          </a:p>
          <a:p>
            <a:pPr marL="285750" indent="-285750">
              <a:buFont typeface="Arial" panose="020B0604020202020204" pitchFamily="34" charset="0"/>
              <a:buChar char="•"/>
            </a:pPr>
            <a:r>
              <a:rPr lang="zh-CN" altLang="en-US" sz="1600"/>
              <a:t>金属损伤：</a:t>
            </a:r>
            <a:r>
              <a:rPr lang="en-US" altLang="zh-CN" sz="1600"/>
              <a:t>Johson-cook</a:t>
            </a:r>
            <a:r>
              <a:rPr lang="zh-CN" altLang="en-US" sz="1600"/>
              <a:t>损伤</a:t>
            </a:r>
            <a:endParaRPr lang="zh-CN" altLang="en-US" sz="1600"/>
          </a:p>
          <a:p>
            <a:pPr marL="285750" indent="-285750">
              <a:buFont typeface="Arial" panose="020B0604020202020204" pitchFamily="34" charset="0"/>
              <a:buChar char="•"/>
            </a:pPr>
            <a:r>
              <a:rPr lang="zh-CN" altLang="en-US" sz="1600"/>
              <a:t>阻尼与各向同性膨胀系数</a:t>
            </a:r>
            <a:endParaRPr lang="zh-CN" altLang="en-US" sz="1600"/>
          </a:p>
        </p:txBody>
      </p:sp>
      <p:sp>
        <p:nvSpPr>
          <p:cNvPr id="7" name="文本框 6"/>
          <p:cNvSpPr txBox="1"/>
          <p:nvPr/>
        </p:nvSpPr>
        <p:spPr>
          <a:xfrm>
            <a:off x="450215" y="4112260"/>
            <a:ext cx="5806440" cy="614045"/>
          </a:xfrm>
          <a:prstGeom prst="rect">
            <a:avLst/>
          </a:prstGeom>
          <a:noFill/>
        </p:spPr>
        <p:txBody>
          <a:bodyPr wrap="square" rtlCol="0">
            <a:spAutoFit/>
          </a:bodyPr>
          <a:p>
            <a:r>
              <a:rPr lang="zh-CN" altLang="en-US" b="1"/>
              <a:t>边界条件与载荷：</a:t>
            </a:r>
            <a:endParaRPr lang="zh-CN" altLang="en-US" b="1"/>
          </a:p>
          <a:p>
            <a:r>
              <a:rPr lang="en-US" altLang="zh-CN" sz="1600"/>
              <a:t> </a:t>
            </a:r>
            <a:endParaRPr lang="en-US" altLang="zh-CN" sz="1600"/>
          </a:p>
        </p:txBody>
      </p:sp>
      <p:graphicFrame>
        <p:nvGraphicFramePr>
          <p:cNvPr id="8" name="表格 7"/>
          <p:cNvGraphicFramePr/>
          <p:nvPr>
            <p:custDataLst>
              <p:tags r:id="rId1"/>
            </p:custDataLst>
          </p:nvPr>
        </p:nvGraphicFramePr>
        <p:xfrm>
          <a:off x="531495" y="4495800"/>
          <a:ext cx="5629275" cy="1341120"/>
        </p:xfrm>
        <a:graphic>
          <a:graphicData uri="http://schemas.openxmlformats.org/drawingml/2006/table">
            <a:tbl>
              <a:tblPr firstRow="1" bandRow="1">
                <a:tableStyleId>{2D5ABB26-0587-4C30-8999-92F81FD0307C}</a:tableStyleId>
              </a:tblPr>
              <a:tblGrid>
                <a:gridCol w="1876425"/>
                <a:gridCol w="1876425"/>
                <a:gridCol w="1876425"/>
              </a:tblGrid>
              <a:tr h="335280">
                <a:tc>
                  <a:txBody>
                    <a:bodyPr/>
                    <a:p>
                      <a:pPr marL="285750" indent="-285750">
                        <a:buFont typeface="Arial" panose="020B0604020202020204" pitchFamily="34" charset="0"/>
                        <a:buChar char="•"/>
                      </a:pPr>
                      <a:r>
                        <a:rPr lang="zh-CN" altLang="en-US" sz="1600"/>
                        <a:t>固定支撑</a:t>
                      </a:r>
                      <a:endParaRPr lang="zh-CN" altLang="en-US" sz="1600"/>
                    </a:p>
                  </a:txBody>
                  <a:tcPr/>
                </a:tc>
                <a:tc>
                  <a:txBody>
                    <a:bodyPr/>
                    <a:p>
                      <a:pPr marL="285750" indent="-285750">
                        <a:buFont typeface="Arial" panose="020B0604020202020204" pitchFamily="34" charset="0"/>
                        <a:buChar char="•"/>
                      </a:pPr>
                      <a:r>
                        <a:rPr lang="zh-CN" altLang="en-US" sz="1600"/>
                        <a:t>对称与反对称</a:t>
                      </a:r>
                      <a:endParaRPr lang="zh-CN" altLang="en-US" sz="1600"/>
                    </a:p>
                  </a:txBody>
                  <a:tcPr/>
                </a:tc>
                <a:tc>
                  <a:txBody>
                    <a:bodyPr/>
                    <a:p>
                      <a:pPr marL="285750" indent="-285750">
                        <a:buFont typeface="Arial" panose="020B0604020202020204" pitchFamily="34" charset="0"/>
                        <a:buChar char="•"/>
                      </a:pPr>
                      <a:r>
                        <a:rPr lang="zh-CN" altLang="en-US" sz="1600"/>
                        <a:t>位移约束</a:t>
                      </a:r>
                      <a:endParaRPr lang="zh-CN" altLang="en-US" sz="1600"/>
                    </a:p>
                  </a:txBody>
                  <a:tcPr/>
                </a:tc>
              </a:tr>
              <a:tr h="335280">
                <a:tc>
                  <a:txBody>
                    <a:bodyPr/>
                    <a:p>
                      <a:pPr marL="285750" indent="-285750">
                        <a:buFont typeface="Arial" panose="020B0604020202020204" pitchFamily="34" charset="0"/>
                        <a:buChar char="•"/>
                      </a:pPr>
                      <a:r>
                        <a:rPr lang="zh-CN" altLang="en-US" sz="1600"/>
                        <a:t>转动约束</a:t>
                      </a:r>
                      <a:endParaRPr lang="zh-CN" altLang="en-US" sz="1600"/>
                    </a:p>
                  </a:txBody>
                  <a:tcPr/>
                </a:tc>
                <a:tc>
                  <a:txBody>
                    <a:bodyPr/>
                    <a:p>
                      <a:pPr marL="285750" indent="-285750">
                        <a:buFont typeface="Arial" panose="020B0604020202020204" pitchFamily="34" charset="0"/>
                        <a:buChar char="•"/>
                      </a:pPr>
                      <a:r>
                        <a:rPr lang="zh-CN" altLang="en-US" sz="1600"/>
                        <a:t>集中力</a:t>
                      </a:r>
                      <a:endParaRPr lang="zh-CN" altLang="en-US" sz="1600"/>
                    </a:p>
                  </a:txBody>
                  <a:tcPr/>
                </a:tc>
                <a:tc>
                  <a:txBody>
                    <a:bodyPr/>
                    <a:p>
                      <a:pPr marL="285750" indent="-285750">
                        <a:buFont typeface="Arial" panose="020B0604020202020204" pitchFamily="34" charset="0"/>
                        <a:buChar char="•"/>
                      </a:pPr>
                      <a:r>
                        <a:rPr lang="zh-CN" altLang="en-US" sz="1600"/>
                        <a:t>集中力矩</a:t>
                      </a:r>
                      <a:endParaRPr lang="zh-CN" altLang="en-US" sz="1600"/>
                    </a:p>
                  </a:txBody>
                  <a:tcPr/>
                </a:tc>
              </a:tr>
              <a:tr h="335280">
                <a:tc>
                  <a:txBody>
                    <a:bodyPr/>
                    <a:p>
                      <a:pPr marL="285750" indent="-285750">
                        <a:buFont typeface="Arial" panose="020B0604020202020204" pitchFamily="34" charset="0"/>
                        <a:buChar char="•"/>
                      </a:pPr>
                      <a:r>
                        <a:rPr lang="zh-CN" altLang="en-US" sz="1600"/>
                        <a:t>压力</a:t>
                      </a:r>
                      <a:endParaRPr lang="zh-CN" altLang="en-US" sz="1600"/>
                    </a:p>
                  </a:txBody>
                  <a:tcPr/>
                </a:tc>
                <a:tc>
                  <a:txBody>
                    <a:bodyPr/>
                    <a:p>
                      <a:pPr marL="285750" indent="-285750">
                        <a:buFont typeface="Arial" panose="020B0604020202020204" pitchFamily="34" charset="0"/>
                        <a:buChar char="•"/>
                      </a:pPr>
                      <a:r>
                        <a:rPr lang="zh-CN" altLang="en-US" sz="1600"/>
                        <a:t>加速度</a:t>
                      </a:r>
                      <a:endParaRPr lang="zh-CN" altLang="en-US" sz="1600"/>
                    </a:p>
                  </a:txBody>
                  <a:tcPr/>
                </a:tc>
                <a:tc>
                  <a:txBody>
                    <a:bodyPr/>
                    <a:p>
                      <a:pPr marL="285750" indent="-285750">
                        <a:buFont typeface="Arial" panose="020B0604020202020204" pitchFamily="34" charset="0"/>
                        <a:buChar char="•"/>
                      </a:pPr>
                      <a:r>
                        <a:rPr lang="zh-CN" altLang="en-US" sz="1600"/>
                        <a:t>角速度</a:t>
                      </a:r>
                      <a:endParaRPr lang="zh-CN" altLang="en-US" sz="1600"/>
                    </a:p>
                  </a:txBody>
                  <a:tcPr/>
                </a:tc>
              </a:tr>
              <a:tr h="335280">
                <a:tc>
                  <a:txBody>
                    <a:bodyPr/>
                    <a:p>
                      <a:pPr marL="285750" indent="-285750">
                        <a:buFont typeface="Arial" panose="020B0604020202020204" pitchFamily="34" charset="0"/>
                        <a:buChar char="•"/>
                      </a:pPr>
                      <a:r>
                        <a:rPr lang="zh-CN" altLang="en-US" sz="1600"/>
                        <a:t>幅值</a:t>
                      </a:r>
                      <a:endParaRPr lang="zh-CN" altLang="en-US" sz="1600"/>
                    </a:p>
                  </a:txBody>
                  <a:tcPr/>
                </a:tc>
                <a:tc>
                  <a:txBody>
                    <a:bodyPr/>
                    <a:p>
                      <a:pPr marL="285750" indent="-285750">
                        <a:buFont typeface="Arial" panose="020B0604020202020204" pitchFamily="34" charset="0"/>
                        <a:buChar char="•"/>
                      </a:pPr>
                      <a:r>
                        <a:rPr lang="zh-CN" altLang="en-US" sz="1600"/>
                        <a:t>局部坐标系</a:t>
                      </a:r>
                      <a:endParaRPr lang="zh-CN" altLang="en-US" sz="1600"/>
                    </a:p>
                  </a:txBody>
                  <a:tcPr/>
                </a:tc>
                <a:tc>
                  <a:txBody>
                    <a:bodyPr/>
                    <a:p>
                      <a:pPr marL="285750" indent="-285750">
                        <a:buFont typeface="Arial" panose="020B0604020202020204" pitchFamily="34" charset="0"/>
                        <a:buChar char="•"/>
                      </a:pPr>
                      <a:endParaRPr lang="zh-CN" altLang="en-US" sz="1600"/>
                    </a:p>
                  </a:txBody>
                  <a:tcPr/>
                </a:tc>
              </a:tr>
            </a:tbl>
          </a:graphicData>
        </a:graphic>
      </p:graphicFrame>
      <p:sp>
        <p:nvSpPr>
          <p:cNvPr id="10" name="文本框 9"/>
          <p:cNvSpPr txBox="1"/>
          <p:nvPr/>
        </p:nvSpPr>
        <p:spPr>
          <a:xfrm>
            <a:off x="544195" y="5845810"/>
            <a:ext cx="6530975" cy="1026160"/>
          </a:xfrm>
          <a:prstGeom prst="rect">
            <a:avLst/>
          </a:prstGeom>
          <a:noFill/>
        </p:spPr>
        <p:txBody>
          <a:bodyPr wrap="square" rtlCol="0">
            <a:noAutofit/>
          </a:bodyPr>
          <a:p>
            <a:r>
              <a:rPr lang="zh-CN" altLang="en-US" b="1"/>
              <a:t>相互作用：</a:t>
            </a:r>
            <a:endParaRPr lang="zh-CN" altLang="en-US" b="1"/>
          </a:p>
          <a:p>
            <a:pPr indent="0">
              <a:buFont typeface="Arial" panose="020B0604020202020204" pitchFamily="34" charset="0"/>
              <a:buNone/>
            </a:pPr>
            <a:endParaRPr lang="zh-CN" altLang="en-US" sz="1600"/>
          </a:p>
        </p:txBody>
      </p:sp>
      <p:graphicFrame>
        <p:nvGraphicFramePr>
          <p:cNvPr id="11" name="表格 10"/>
          <p:cNvGraphicFramePr/>
          <p:nvPr>
            <p:custDataLst>
              <p:tags r:id="rId2"/>
            </p:custDataLst>
          </p:nvPr>
        </p:nvGraphicFramePr>
        <p:xfrm>
          <a:off x="531495" y="6187440"/>
          <a:ext cx="6530340" cy="670560"/>
        </p:xfrm>
        <a:graphic>
          <a:graphicData uri="http://schemas.openxmlformats.org/drawingml/2006/table">
            <a:tbl>
              <a:tblPr firstRow="1" bandRow="1">
                <a:tableStyleId>{2D5ABB26-0587-4C30-8999-92F81FD0307C}</a:tableStyleId>
              </a:tblPr>
              <a:tblGrid>
                <a:gridCol w="2176780"/>
                <a:gridCol w="2176780"/>
                <a:gridCol w="2176780"/>
              </a:tblGrid>
              <a:tr h="335280">
                <a:tc>
                  <a:txBody>
                    <a:bodyPr/>
                    <a:p>
                      <a:pPr marL="285750" indent="-285750">
                        <a:buFont typeface="Arial" panose="020B0604020202020204" pitchFamily="34" charset="0"/>
                        <a:buChar char="•"/>
                      </a:pPr>
                      <a:r>
                        <a:rPr lang="zh-CN" altLang="en-US" sz="1600"/>
                        <a:t>通用接触（显式）</a:t>
                      </a:r>
                      <a:endParaRPr lang="en-US" altLang="zh-CN" sz="1600"/>
                    </a:p>
                  </a:txBody>
                  <a:tcPr/>
                </a:tc>
                <a:tc>
                  <a:txBody>
                    <a:bodyPr/>
                    <a:p>
                      <a:pPr marL="285750" indent="-285750">
                        <a:buFont typeface="Arial" panose="020B0604020202020204" pitchFamily="34" charset="0"/>
                        <a:buChar char="•"/>
                      </a:pPr>
                      <a:r>
                        <a:rPr lang="zh-CN" altLang="en-US" sz="1600"/>
                        <a:t>面面接触（显式）</a:t>
                      </a:r>
                      <a:endParaRPr lang="en-US" altLang="zh-CN" sz="1600"/>
                    </a:p>
                  </a:txBody>
                  <a:tcPr/>
                </a:tc>
                <a:tc>
                  <a:txBody>
                    <a:bodyPr/>
                    <a:p>
                      <a:pPr marL="285750" indent="-285750">
                        <a:buFont typeface="Arial" panose="020B0604020202020204" pitchFamily="34" charset="0"/>
                        <a:buChar char="•"/>
                      </a:pPr>
                      <a:r>
                        <a:rPr lang="zh-CN" altLang="en-US" sz="1600"/>
                        <a:t>耦合</a:t>
                      </a:r>
                      <a:endParaRPr lang="zh-CN" altLang="en-US" sz="1600"/>
                    </a:p>
                  </a:txBody>
                  <a:tcPr/>
                </a:tc>
              </a:tr>
              <a:tr h="335280">
                <a:tc>
                  <a:txBody>
                    <a:bodyPr/>
                    <a:p>
                      <a:pPr marL="285750" indent="-285750">
                        <a:buFont typeface="Arial" panose="020B0604020202020204" pitchFamily="34" charset="0"/>
                        <a:buChar char="•"/>
                      </a:pPr>
                      <a:r>
                        <a:rPr lang="zh-CN" altLang="en-US" sz="1600"/>
                        <a:t>绑定</a:t>
                      </a:r>
                      <a:endParaRPr lang="zh-CN" altLang="en-US" sz="1600"/>
                    </a:p>
                  </a:txBody>
                  <a:tcPr/>
                </a:tc>
                <a:tc>
                  <a:txBody>
                    <a:bodyPr/>
                    <a:p>
                      <a:pPr marL="285750" indent="-285750">
                        <a:buFont typeface="Arial" panose="020B0604020202020204" pitchFamily="34" charset="0"/>
                        <a:buChar char="•"/>
                      </a:pPr>
                      <a:r>
                        <a:rPr lang="zh-CN" altLang="en-US" sz="1600"/>
                        <a:t>刚体</a:t>
                      </a:r>
                      <a:endParaRPr lang="zh-CN" altLang="en-US" sz="1600"/>
                    </a:p>
                  </a:txBody>
                  <a:tcPr/>
                </a:tc>
                <a:tc>
                  <a:txBody>
                    <a:bodyPr/>
                    <a:p>
                      <a:pPr indent="0">
                        <a:buFont typeface="Arial" panose="020B0604020202020204" pitchFamily="34" charset="0"/>
                        <a:buNone/>
                      </a:pPr>
                      <a:endParaRPr lang="zh-CN" altLang="en-US" sz="1600"/>
                    </a:p>
                  </a:txBody>
                  <a:tcPr/>
                </a:tc>
              </a:tr>
            </a:tbl>
          </a:graphicData>
        </a:graphic>
      </p:graphicFrame>
      <p:pic>
        <p:nvPicPr>
          <p:cNvPr id="2" name="图片 1"/>
          <p:cNvPicPr>
            <a:picLocks noChangeAspect="1"/>
          </p:cNvPicPr>
          <p:nvPr/>
        </p:nvPicPr>
        <p:blipFill>
          <a:blip r:embed="rId3"/>
          <a:stretch>
            <a:fillRect/>
          </a:stretch>
        </p:blipFill>
        <p:spPr>
          <a:xfrm>
            <a:off x="6862445" y="1304290"/>
            <a:ext cx="5046345" cy="2756535"/>
          </a:xfrm>
          <a:prstGeom prst="rect">
            <a:avLst/>
          </a:prstGeom>
          <a:ln>
            <a:solidFill>
              <a:schemeClr val="bg2">
                <a:lumMod val="75000"/>
              </a:schemeClr>
            </a:solidFill>
          </a:ln>
        </p:spPr>
      </p:pic>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结构软件</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19" name="文本框 18"/>
          <p:cNvSpPr txBox="1"/>
          <p:nvPr/>
        </p:nvSpPr>
        <p:spPr>
          <a:xfrm>
            <a:off x="7104380" y="4194810"/>
            <a:ext cx="4352290" cy="1026160"/>
          </a:xfrm>
          <a:prstGeom prst="rect">
            <a:avLst/>
          </a:prstGeom>
          <a:noFill/>
        </p:spPr>
        <p:txBody>
          <a:bodyPr wrap="square" rtlCol="0">
            <a:noAutofit/>
          </a:bodyPr>
          <a:p>
            <a:r>
              <a:rPr lang="zh-CN" altLang="en-US" b="1"/>
              <a:t>后处理</a:t>
            </a:r>
            <a:r>
              <a:rPr lang="zh-CN" altLang="en-US" b="1">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pPr indent="0">
              <a:buFont typeface="Arial" panose="020B0604020202020204" pitchFamily="34" charset="0"/>
              <a:buNone/>
            </a:pPr>
            <a:endParaRPr lang="zh-CN" altLang="en-US" sz="1600">
              <a:latin typeface="微软雅黑" panose="020B0503020204020204" charset="-122"/>
              <a:ea typeface="微软雅黑" panose="020B0503020204020204" charset="-122"/>
            </a:endParaRPr>
          </a:p>
        </p:txBody>
      </p:sp>
      <p:graphicFrame>
        <p:nvGraphicFramePr>
          <p:cNvPr id="20" name="表格 19"/>
          <p:cNvGraphicFramePr/>
          <p:nvPr>
            <p:custDataLst>
              <p:tags r:id="rId5"/>
            </p:custDataLst>
          </p:nvPr>
        </p:nvGraphicFramePr>
        <p:xfrm>
          <a:off x="7106285" y="4667250"/>
          <a:ext cx="3630295" cy="1782445"/>
        </p:xfrm>
        <a:graphic>
          <a:graphicData uri="http://schemas.openxmlformats.org/drawingml/2006/table">
            <a:tbl>
              <a:tblPr firstRow="1" bandRow="1">
                <a:tableStyleId>{2D5ABB26-0587-4C30-8999-92F81FD0307C}</a:tableStyleId>
              </a:tblPr>
              <a:tblGrid>
                <a:gridCol w="1717040"/>
                <a:gridCol w="1913255"/>
              </a:tblGrid>
              <a:tr h="344805">
                <a:tc>
                  <a:txBody>
                    <a:bodyPr/>
                    <a:p>
                      <a:pPr marL="285750" indent="-285750">
                        <a:buFont typeface="Arial" panose="020B0604020202020204" pitchFamily="34" charset="0"/>
                        <a:buChar char="•"/>
                      </a:pPr>
                      <a:r>
                        <a:rPr lang="zh-CN" altLang="en-US" sz="1600">
                          <a:latin typeface="+mn-ea"/>
                        </a:rPr>
                        <a:t>云图</a:t>
                      </a:r>
                      <a:endParaRPr lang="zh-CN" altLang="en-US" sz="1600">
                        <a:latin typeface="+mn-ea"/>
                      </a:endParaRPr>
                    </a:p>
                  </a:txBody>
                  <a:tcPr/>
                </a:tc>
                <a:tc>
                  <a:txBody>
                    <a:bodyPr/>
                    <a:p>
                      <a:pPr marL="285750" indent="-285750">
                        <a:buFont typeface="Arial" panose="020B0604020202020204" pitchFamily="34" charset="0"/>
                        <a:buChar char="•"/>
                      </a:pPr>
                      <a:r>
                        <a:rPr lang="zh-CN" altLang="en-US" sz="1600">
                          <a:latin typeface="+mn-ea"/>
                        </a:rPr>
                        <a:t>极</a:t>
                      </a:r>
                      <a:r>
                        <a:rPr lang="zh-CN" altLang="en-US" sz="1600">
                          <a:latin typeface="+mn-ea"/>
                        </a:rPr>
                        <a:t>值标注</a:t>
                      </a:r>
                      <a:endParaRPr lang="zh-CN" altLang="en-US" sz="1600">
                        <a:latin typeface="+mn-ea"/>
                      </a:endParaRPr>
                    </a:p>
                  </a:txBody>
                  <a:tcPr/>
                </a:tc>
              </a:tr>
              <a:tr h="359410">
                <a:tc>
                  <a:txBody>
                    <a:bodyPr/>
                    <a:p>
                      <a:pPr marL="285750" indent="-285750" algn="l">
                        <a:buClrTx/>
                        <a:buSzTx/>
                        <a:buFont typeface="Arial" panose="020B0604020202020204" pitchFamily="34" charset="0"/>
                        <a:buChar char="•"/>
                      </a:pPr>
                      <a:r>
                        <a:rPr lang="zh-CN" altLang="en-US" sz="1600">
                          <a:latin typeface="+mn-ea"/>
                          <a:cs typeface="+mn-ea"/>
                        </a:rPr>
                        <a:t>变形</a:t>
                      </a:r>
                      <a:r>
                        <a:rPr lang="en-US" altLang="zh-CN" sz="1600">
                          <a:latin typeface="+mn-ea"/>
                          <a:cs typeface="+mn-ea"/>
                        </a:rPr>
                        <a:t>/</a:t>
                      </a:r>
                      <a:r>
                        <a:rPr lang="zh-CN" altLang="en-US" sz="1600">
                          <a:latin typeface="+mn-ea"/>
                          <a:cs typeface="+mn-ea"/>
                        </a:rPr>
                        <a:t>不变形</a:t>
                      </a:r>
                      <a:endParaRPr lang="zh-CN" altLang="en-US" sz="1600">
                        <a:latin typeface="+mn-ea"/>
                        <a:cs typeface="+mn-ea"/>
                      </a:endParaRPr>
                    </a:p>
                  </a:txBody>
                  <a:tcPr/>
                </a:tc>
                <a:tc>
                  <a:txBody>
                    <a:bodyPr/>
                    <a:p>
                      <a:pPr marL="285750" indent="-285750" algn="l">
                        <a:buClrTx/>
                        <a:buSzTx/>
                        <a:buFont typeface="Arial" panose="020B0604020202020204" pitchFamily="34" charset="0"/>
                        <a:buChar char="•"/>
                      </a:pPr>
                      <a:r>
                        <a:rPr lang="zh-CN" altLang="en-US" sz="1600">
                          <a:latin typeface="+mn-ea"/>
                        </a:rPr>
                        <a:t>动画（显式分析）</a:t>
                      </a:r>
                      <a:endParaRPr lang="zh-CN" altLang="en-US" sz="1600">
                        <a:latin typeface="+mn-ea"/>
                      </a:endParaRPr>
                    </a:p>
                  </a:txBody>
                  <a:tcPr/>
                </a:tc>
              </a:tr>
              <a:tr h="359410">
                <a:tc>
                  <a:txBody>
                    <a:bodyPr/>
                    <a:p>
                      <a:pPr marL="285750" indent="-285750" algn="l">
                        <a:buClrTx/>
                        <a:buSzTx/>
                        <a:buFont typeface="Arial" panose="020B0604020202020204" pitchFamily="34" charset="0"/>
                        <a:buChar char="•"/>
                      </a:pPr>
                      <a:r>
                        <a:rPr lang="zh-CN" altLang="en-US" sz="1600">
                          <a:latin typeface="+mn-ea"/>
                        </a:rPr>
                        <a:t>切片</a:t>
                      </a:r>
                      <a:endParaRPr lang="zh-CN" altLang="en-US" sz="1600">
                        <a:latin typeface="+mn-ea"/>
                      </a:endParaRPr>
                    </a:p>
                  </a:txBody>
                  <a:tcPr/>
                </a:tc>
                <a:tc>
                  <a:txBody>
                    <a:bodyPr/>
                    <a:p>
                      <a:pPr marL="285750" indent="-285750" algn="l">
                        <a:buClrTx/>
                        <a:buSzTx/>
                        <a:buFont typeface="Arial" panose="020B0604020202020204" pitchFamily="34" charset="0"/>
                        <a:buChar char="•"/>
                      </a:pPr>
                      <a:r>
                        <a:rPr lang="zh-CN" altLang="en-US" sz="1600">
                          <a:latin typeface="+mn-ea"/>
                        </a:rPr>
                        <a:t>裁切</a:t>
                      </a:r>
                      <a:endParaRPr lang="zh-CN" altLang="en-US" sz="1600">
                        <a:latin typeface="+mn-ea"/>
                      </a:endParaRPr>
                    </a:p>
                  </a:txBody>
                  <a:tcPr/>
                </a:tc>
              </a:tr>
              <a:tr h="359410">
                <a:tc>
                  <a:txBody>
                    <a:bodyPr/>
                    <a:p>
                      <a:pPr marL="285750" indent="-285750" algn="l">
                        <a:buClrTx/>
                        <a:buSzTx/>
                        <a:buFont typeface="Arial" panose="020B0604020202020204" pitchFamily="34" charset="0"/>
                        <a:buChar char="•"/>
                      </a:pPr>
                      <a:r>
                        <a:rPr lang="zh-CN" altLang="en-US" sz="1600">
                          <a:latin typeface="+mn-ea"/>
                        </a:rPr>
                        <a:t>时间步显示</a:t>
                      </a:r>
                      <a:endParaRPr lang="zh-CN" altLang="en-US" sz="1600">
                        <a:latin typeface="+mn-ea"/>
                      </a:endParaRPr>
                    </a:p>
                  </a:txBody>
                  <a:tcPr/>
                </a:tc>
                <a:tc>
                  <a:txBody>
                    <a:bodyPr/>
                    <a:p>
                      <a:pPr marL="285750" indent="-285750" algn="l">
                        <a:buClrTx/>
                        <a:buSzTx/>
                        <a:buFont typeface="Arial" panose="020B0604020202020204" pitchFamily="34" charset="0"/>
                        <a:buChar char="•"/>
                      </a:pPr>
                      <a:r>
                        <a:rPr lang="zh-CN" altLang="en-US" sz="1600">
                          <a:latin typeface="+mn-ea"/>
                        </a:rPr>
                        <a:t>曲线显示</a:t>
                      </a:r>
                      <a:endParaRPr lang="zh-CN" altLang="en-US" sz="1600">
                        <a:latin typeface="+mn-ea"/>
                      </a:endParaRPr>
                    </a:p>
                  </a:txBody>
                  <a:tcPr/>
                </a:tc>
              </a:tr>
              <a:tr h="359410">
                <a:tc>
                  <a:txBody>
                    <a:bodyPr/>
                    <a:p>
                      <a:pPr marL="285750" indent="-285750" algn="l">
                        <a:buClrTx/>
                        <a:buSzTx/>
                        <a:buFont typeface="Arial" panose="020B0604020202020204" pitchFamily="34" charset="0"/>
                        <a:buChar char="•"/>
                      </a:pPr>
                      <a:r>
                        <a:rPr lang="zh-CN" altLang="en-US" sz="1600">
                          <a:latin typeface="+mn-ea"/>
                        </a:rPr>
                        <a:t>多视口显示</a:t>
                      </a:r>
                      <a:endParaRPr lang="zh-CN" altLang="en-US" sz="1600">
                        <a:latin typeface="+mn-ea"/>
                      </a:endParaRPr>
                    </a:p>
                  </a:txBody>
                  <a:tcPr/>
                </a:tc>
                <a:tc>
                  <a:txBody>
                    <a:bodyPr/>
                    <a:p>
                      <a:pPr marL="285750" indent="-285750" algn="l">
                        <a:buClrTx/>
                        <a:buSzTx/>
                        <a:buFont typeface="Arial" panose="020B0604020202020204" pitchFamily="34" charset="0"/>
                        <a:buChar char="•"/>
                      </a:pPr>
                      <a:endParaRPr lang="zh-CN" altLang="en-US" sz="1600">
                        <a:latin typeface="+mn-ea"/>
                      </a:endParaRPr>
                    </a:p>
                  </a:txBody>
                  <a:tcPr/>
                </a:tc>
              </a:tr>
            </a:tbl>
          </a:graphicData>
        </a:graphic>
      </p:graphicFrame>
    </p:spTree>
  </p:cSld>
  <p:clrMapOvr>
    <a:masterClrMapping/>
  </p:clrMapOvr>
  <p:transition spd="slow" advClick="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软件开发</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整体</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部署</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3" name="文本框 2"/>
          <p:cNvSpPr txBox="1"/>
          <p:nvPr/>
        </p:nvSpPr>
        <p:spPr>
          <a:xfrm>
            <a:off x="740410" y="1060450"/>
            <a:ext cx="10159365" cy="922020"/>
          </a:xfrm>
          <a:prstGeom prst="rect">
            <a:avLst/>
          </a:prstGeom>
          <a:noFill/>
        </p:spPr>
        <p:txBody>
          <a:bodyPr wrap="square" rtlCol="0">
            <a:spAutoFit/>
          </a:bodyPr>
          <a:p>
            <a:pPr>
              <a:lnSpc>
                <a:spcPct val="150000"/>
              </a:lnSpc>
            </a:pPr>
            <a:r>
              <a:rPr lang="en-US" altLang="zh-CN"/>
              <a:t>       </a:t>
            </a:r>
            <a:r>
              <a:rPr lang="zh-CN" altLang="en-US">
                <a:latin typeface="微软雅黑" panose="020B0503020204020204" charset="-122"/>
                <a:ea typeface="微软雅黑" panose="020B0503020204020204" charset="-122"/>
                <a:cs typeface="微软雅黑" panose="020B0503020204020204" charset="-122"/>
              </a:rPr>
              <a:t>软件工程文件可分为5个部分：代码、编译过程中的中间文件、动态库与可执行程序、第三方库，资源文件。</a:t>
            </a: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338580" y="2080260"/>
            <a:ext cx="1844675" cy="552450"/>
          </a:xfrm>
          <a:prstGeom prst="rect">
            <a:avLst/>
          </a:prstGeom>
          <a:solidFill>
            <a:srgbClr val="00B0F0"/>
          </a:solidFill>
          <a:ln>
            <a:solidFill>
              <a:schemeClr val="tx1"/>
            </a:solidFill>
          </a:ln>
        </p:spPr>
        <p:txBody>
          <a:bodyPr wrap="square" rtlCol="0" anchor="ctr" anchorCtr="0">
            <a:noAutofit/>
          </a:bodyPr>
          <a:p>
            <a:pPr algn="ctr"/>
            <a:r>
              <a:rPr lang="en-US" altLang="zh-CN"/>
              <a:t>generate</a:t>
            </a:r>
            <a:endParaRPr lang="en-US" altLang="zh-CN"/>
          </a:p>
        </p:txBody>
      </p:sp>
      <p:sp>
        <p:nvSpPr>
          <p:cNvPr id="6" name="文本框 5"/>
          <p:cNvSpPr txBox="1"/>
          <p:nvPr/>
        </p:nvSpPr>
        <p:spPr>
          <a:xfrm>
            <a:off x="3676650" y="2143760"/>
            <a:ext cx="4064000" cy="368300"/>
          </a:xfrm>
          <a:prstGeom prst="rect">
            <a:avLst/>
          </a:prstGeom>
          <a:noFill/>
        </p:spPr>
        <p:txBody>
          <a:bodyPr wrap="square" rtlCol="0">
            <a:spAutoFit/>
          </a:bodyPr>
          <a:p>
            <a:r>
              <a:rPr lang="zh-CN" altLang="en-US">
                <a:sym typeface="+mn-ea"/>
              </a:rPr>
              <a:t>存放编译过程中的中间文件</a:t>
            </a:r>
            <a:endParaRPr lang="zh-CN" altLang="en-US"/>
          </a:p>
        </p:txBody>
      </p:sp>
      <p:sp>
        <p:nvSpPr>
          <p:cNvPr id="7" name="文本框 6"/>
          <p:cNvSpPr txBox="1"/>
          <p:nvPr/>
        </p:nvSpPr>
        <p:spPr>
          <a:xfrm>
            <a:off x="1338580" y="2729230"/>
            <a:ext cx="1844675" cy="552450"/>
          </a:xfrm>
          <a:prstGeom prst="rect">
            <a:avLst/>
          </a:prstGeom>
          <a:solidFill>
            <a:srgbClr val="00B0F0"/>
          </a:solidFill>
          <a:ln>
            <a:solidFill>
              <a:schemeClr val="tx1"/>
            </a:solidFill>
          </a:ln>
        </p:spPr>
        <p:txBody>
          <a:bodyPr wrap="square" rtlCol="0" anchor="ctr" anchorCtr="0">
            <a:noAutofit/>
          </a:bodyPr>
          <a:p>
            <a:pPr algn="ctr"/>
            <a:r>
              <a:rPr lang="en-US" altLang="zh-CN"/>
              <a:t>output</a:t>
            </a:r>
            <a:endParaRPr lang="en-US" altLang="zh-CN"/>
          </a:p>
        </p:txBody>
      </p:sp>
      <p:sp>
        <p:nvSpPr>
          <p:cNvPr id="8" name="文本框 7"/>
          <p:cNvSpPr txBox="1"/>
          <p:nvPr/>
        </p:nvSpPr>
        <p:spPr>
          <a:xfrm>
            <a:off x="1338580" y="3381375"/>
            <a:ext cx="1844675" cy="552450"/>
          </a:xfrm>
          <a:prstGeom prst="rect">
            <a:avLst/>
          </a:prstGeom>
          <a:solidFill>
            <a:srgbClr val="00B0F0"/>
          </a:solidFill>
          <a:ln>
            <a:solidFill>
              <a:schemeClr val="tx1"/>
            </a:solidFill>
          </a:ln>
        </p:spPr>
        <p:txBody>
          <a:bodyPr wrap="square" rtlCol="0" anchor="ctr" anchorCtr="0">
            <a:noAutofit/>
          </a:bodyPr>
          <a:p>
            <a:pPr algn="ctr"/>
            <a:r>
              <a:rPr lang="en-US" altLang="zh-CN"/>
              <a:t>Tools</a:t>
            </a:r>
            <a:endParaRPr lang="en-US" altLang="zh-CN"/>
          </a:p>
        </p:txBody>
      </p:sp>
      <p:sp>
        <p:nvSpPr>
          <p:cNvPr id="9" name="文本框 8"/>
          <p:cNvSpPr txBox="1"/>
          <p:nvPr/>
        </p:nvSpPr>
        <p:spPr>
          <a:xfrm>
            <a:off x="1338580" y="4053205"/>
            <a:ext cx="1844675" cy="552450"/>
          </a:xfrm>
          <a:prstGeom prst="rect">
            <a:avLst/>
          </a:prstGeom>
          <a:solidFill>
            <a:srgbClr val="00B0F0"/>
          </a:solidFill>
          <a:ln>
            <a:solidFill>
              <a:schemeClr val="tx1"/>
            </a:solidFill>
          </a:ln>
        </p:spPr>
        <p:txBody>
          <a:bodyPr wrap="square" rtlCol="0" anchor="ctr" anchorCtr="0">
            <a:noAutofit/>
          </a:bodyPr>
          <a:p>
            <a:pPr algn="ctr"/>
            <a:r>
              <a:rPr lang="en-US" altLang="zh-CN">
                <a:sym typeface="+mn-ea"/>
              </a:rPr>
              <a:t>Resources</a:t>
            </a:r>
            <a:endParaRPr lang="en-US" altLang="zh-CN"/>
          </a:p>
        </p:txBody>
      </p:sp>
      <p:sp>
        <p:nvSpPr>
          <p:cNvPr id="16" name="文本框 15"/>
          <p:cNvSpPr txBox="1"/>
          <p:nvPr/>
        </p:nvSpPr>
        <p:spPr>
          <a:xfrm>
            <a:off x="3676650" y="2807335"/>
            <a:ext cx="4064000" cy="368300"/>
          </a:xfrm>
          <a:prstGeom prst="rect">
            <a:avLst/>
          </a:prstGeom>
          <a:noFill/>
        </p:spPr>
        <p:txBody>
          <a:bodyPr wrap="square" rtlCol="0">
            <a:spAutoFit/>
          </a:bodyPr>
          <a:p>
            <a:r>
              <a:rPr lang="zh-CN" altLang="en-US">
                <a:sym typeface="+mn-ea"/>
              </a:rPr>
              <a:t>存放</a:t>
            </a:r>
            <a:r>
              <a:rPr lang="zh-CN" altLang="en-US">
                <a:sym typeface="+mn-ea"/>
              </a:rPr>
              <a:t>动态库与可执行程序</a:t>
            </a:r>
            <a:endParaRPr lang="zh-CN" altLang="en-US"/>
          </a:p>
        </p:txBody>
      </p:sp>
      <p:sp>
        <p:nvSpPr>
          <p:cNvPr id="21" name="文本框 20"/>
          <p:cNvSpPr txBox="1"/>
          <p:nvPr/>
        </p:nvSpPr>
        <p:spPr>
          <a:xfrm>
            <a:off x="3676650" y="3475355"/>
            <a:ext cx="4064000" cy="368300"/>
          </a:xfrm>
          <a:prstGeom prst="rect">
            <a:avLst/>
          </a:prstGeom>
          <a:noFill/>
        </p:spPr>
        <p:txBody>
          <a:bodyPr wrap="square" rtlCol="0">
            <a:spAutoFit/>
          </a:bodyPr>
          <a:p>
            <a:r>
              <a:rPr lang="zh-CN" altLang="en-US"/>
              <a:t>存放</a:t>
            </a:r>
            <a:r>
              <a:rPr lang="zh-CN" altLang="en-US">
                <a:sym typeface="+mn-ea"/>
              </a:rPr>
              <a:t>第三方库，如</a:t>
            </a:r>
            <a:r>
              <a:rPr lang="en-US" altLang="zh-CN">
                <a:sym typeface="+mn-ea"/>
              </a:rPr>
              <a:t>vtk</a:t>
            </a:r>
            <a:r>
              <a:rPr lang="zh-CN" altLang="en-US">
                <a:sym typeface="+mn-ea"/>
              </a:rPr>
              <a:t>、</a:t>
            </a:r>
            <a:r>
              <a:rPr lang="en-US" altLang="zh-CN">
                <a:sym typeface="+mn-ea"/>
              </a:rPr>
              <a:t>OCC</a:t>
            </a:r>
            <a:r>
              <a:rPr lang="zh-CN" altLang="en-US">
                <a:sym typeface="+mn-ea"/>
              </a:rPr>
              <a:t>、</a:t>
            </a:r>
            <a:r>
              <a:rPr lang="en-US" altLang="zh-CN">
                <a:sym typeface="+mn-ea"/>
              </a:rPr>
              <a:t>hdf5</a:t>
            </a:r>
            <a:r>
              <a:rPr lang="zh-CN" altLang="en-US">
                <a:sym typeface="+mn-ea"/>
              </a:rPr>
              <a:t>等</a:t>
            </a:r>
            <a:endParaRPr lang="zh-CN" altLang="en-US">
              <a:sym typeface="+mn-ea"/>
            </a:endParaRPr>
          </a:p>
        </p:txBody>
      </p:sp>
      <p:sp>
        <p:nvSpPr>
          <p:cNvPr id="22" name="文本框 21"/>
          <p:cNvSpPr txBox="1"/>
          <p:nvPr/>
        </p:nvSpPr>
        <p:spPr>
          <a:xfrm>
            <a:off x="3676650" y="4143375"/>
            <a:ext cx="4064000" cy="368300"/>
          </a:xfrm>
          <a:prstGeom prst="rect">
            <a:avLst/>
          </a:prstGeom>
          <a:noFill/>
        </p:spPr>
        <p:txBody>
          <a:bodyPr wrap="square" rtlCol="0">
            <a:spAutoFit/>
          </a:bodyPr>
          <a:p>
            <a:r>
              <a:rPr lang="zh-CN" altLang="en-US"/>
              <a:t>存放</a:t>
            </a:r>
            <a:r>
              <a:rPr lang="zh-CN" altLang="en-US">
                <a:sym typeface="+mn-ea"/>
              </a:rPr>
              <a:t>资源文件，如翻译、图标</a:t>
            </a:r>
            <a:r>
              <a:rPr lang="zh-CN" altLang="en-US">
                <a:sym typeface="+mn-ea"/>
              </a:rPr>
              <a:t>等</a:t>
            </a:r>
            <a:endParaRPr lang="zh-CN" altLang="en-US">
              <a:sym typeface="+mn-ea"/>
            </a:endParaRPr>
          </a:p>
        </p:txBody>
      </p:sp>
      <p:sp>
        <p:nvSpPr>
          <p:cNvPr id="24" name="文本框 23"/>
          <p:cNvSpPr txBox="1"/>
          <p:nvPr/>
        </p:nvSpPr>
        <p:spPr>
          <a:xfrm>
            <a:off x="1338580" y="4715510"/>
            <a:ext cx="1844675" cy="552450"/>
          </a:xfrm>
          <a:prstGeom prst="rect">
            <a:avLst/>
          </a:prstGeom>
          <a:solidFill>
            <a:srgbClr val="00B0F0"/>
          </a:solidFill>
          <a:ln>
            <a:solidFill>
              <a:schemeClr val="tx1"/>
            </a:solidFill>
          </a:ln>
        </p:spPr>
        <p:txBody>
          <a:bodyPr wrap="square" rtlCol="0" anchor="ctr" anchorCtr="0">
            <a:noAutofit/>
          </a:bodyPr>
          <a:p>
            <a:pPr algn="ctr"/>
            <a:r>
              <a:rPr lang="zh-CN" altLang="en-US">
                <a:sym typeface="+mn-ea"/>
              </a:rPr>
              <a:t>其余文件</a:t>
            </a:r>
            <a:r>
              <a:rPr lang="zh-CN" altLang="en-US">
                <a:sym typeface="+mn-ea"/>
              </a:rPr>
              <a:t>夹</a:t>
            </a:r>
            <a:endParaRPr lang="zh-CN" altLang="en-US">
              <a:sym typeface="+mn-ea"/>
            </a:endParaRPr>
          </a:p>
        </p:txBody>
      </p:sp>
      <p:sp>
        <p:nvSpPr>
          <p:cNvPr id="25" name="文本框 24"/>
          <p:cNvSpPr txBox="1"/>
          <p:nvPr/>
        </p:nvSpPr>
        <p:spPr>
          <a:xfrm>
            <a:off x="3787775" y="4806950"/>
            <a:ext cx="4064000" cy="368300"/>
          </a:xfrm>
          <a:prstGeom prst="rect">
            <a:avLst/>
          </a:prstGeom>
          <a:noFill/>
        </p:spPr>
        <p:txBody>
          <a:bodyPr wrap="square" rtlCol="0">
            <a:spAutoFit/>
          </a:bodyPr>
          <a:p>
            <a:r>
              <a:rPr lang="zh-CN" altLang="en-US"/>
              <a:t>存放</a:t>
            </a:r>
            <a:r>
              <a:rPr lang="zh-CN" altLang="en-US"/>
              <a:t>代码</a:t>
            </a:r>
            <a:endParaRPr lang="zh-CN" altLang="en-US"/>
          </a:p>
        </p:txBody>
      </p:sp>
      <p:sp>
        <p:nvSpPr>
          <p:cNvPr id="26" name="文本框 25"/>
          <p:cNvSpPr txBox="1"/>
          <p:nvPr/>
        </p:nvSpPr>
        <p:spPr>
          <a:xfrm>
            <a:off x="741045" y="5352415"/>
            <a:ext cx="10334625" cy="1337945"/>
          </a:xfrm>
          <a:prstGeom prst="rect">
            <a:avLst/>
          </a:prstGeom>
          <a:noFill/>
        </p:spPr>
        <p:txBody>
          <a:bodyPr wrap="square" rtlCol="0">
            <a:spAutoFit/>
          </a:bodyPr>
          <a:p>
            <a:pPr>
              <a:lnSpc>
                <a:spcPct val="150000"/>
              </a:lnSpc>
            </a:pPr>
            <a:r>
              <a:rPr lang="en-US" altLang="zh-CN"/>
              <a:t>     </a:t>
            </a:r>
            <a:r>
              <a:rPr lang="zh-CN" altLang="en-US" b="1"/>
              <a:t>  </a:t>
            </a:r>
            <a:r>
              <a:rPr lang="zh-CN" altLang="en-US">
                <a:latin typeface="微软雅黑" panose="020B0503020204020204" charset="-122"/>
                <a:ea typeface="微软雅黑" panose="020B0503020204020204" charset="-122"/>
                <a:cs typeface="微软雅黑" panose="020B0503020204020204" charset="-122"/>
              </a:rPr>
              <a:t>代码层级分隔开避免多人协同开发；编译中间文件的单独存放隔离开发环境、避免污染源文件目录；第三方库的独立管理避免重复开发、简化依赖维护；资源文件的单独管理提升资源复用性和可维护性、支持灵活定制。</a:t>
            </a:r>
            <a:endParaRPr lang="zh-CN" altLang="en-US" b="1"/>
          </a:p>
        </p:txBody>
      </p:sp>
    </p:spTree>
  </p:cSld>
  <p:clrMapOvr>
    <a:masterClrMapping/>
  </p:clrMapOvr>
  <p:transition spd="slow"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软件开发</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代码层级</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管理</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dirty="0">
                  <a:latin typeface="微软雅黑 Light" panose="020B0502040204020203" pitchFamily="34" charset="-122"/>
                  <a:ea typeface="微软雅黑 Light" panose="020B0502040204020203" pitchFamily="34" charset="-122"/>
                </a:rPr>
                <a:t>Part 04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60" name="图片 5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108710"/>
            <a:ext cx="10189210" cy="922020"/>
          </a:xfrm>
          <a:prstGeom prst="rect">
            <a:avLst/>
          </a:prstGeom>
          <a:noFill/>
        </p:spPr>
        <p:txBody>
          <a:bodyPr wrap="square" rtlCol="0">
            <a:spAutoFit/>
          </a:bodyPr>
          <a:p>
            <a:pPr>
              <a:lnSpc>
                <a:spcPct val="150000"/>
              </a:lnSpc>
            </a:pPr>
            <a:r>
              <a:rPr lang="en-US" altLang="zh-CN"/>
              <a:t>       </a:t>
            </a:r>
            <a:r>
              <a:rPr lang="zh-CN" altLang="en-US"/>
              <a:t>自主开发代码层级分为四部分：分别存储核心底座、数据与功能接口、组件模块、个性化代码、检查</a:t>
            </a:r>
            <a:r>
              <a:rPr lang="zh-CN" altLang="en-US"/>
              <a:t>工具。</a:t>
            </a:r>
            <a:endParaRPr lang="zh-CN" altLang="en-US"/>
          </a:p>
        </p:txBody>
      </p:sp>
      <p:sp>
        <p:nvSpPr>
          <p:cNvPr id="13" name="文本框 12"/>
          <p:cNvSpPr txBox="1"/>
          <p:nvPr/>
        </p:nvSpPr>
        <p:spPr>
          <a:xfrm>
            <a:off x="1252220" y="2151380"/>
            <a:ext cx="3834130" cy="716280"/>
          </a:xfrm>
          <a:prstGeom prst="rect">
            <a:avLst/>
          </a:prstGeom>
          <a:solidFill>
            <a:srgbClr val="FF0000"/>
          </a:solidFill>
          <a:ln>
            <a:solidFill>
              <a:schemeClr val="tx1"/>
            </a:solidFill>
          </a:ln>
        </p:spPr>
        <p:txBody>
          <a:bodyPr wrap="square" rtlCol="0" anchor="ctr" anchorCtr="0">
            <a:noAutofit/>
          </a:bodyPr>
          <a:p>
            <a:pPr algn="ctr"/>
            <a:r>
              <a:rPr lang="en-US" altLang="zh-CN">
                <a:sym typeface="+mn-ea"/>
              </a:rPr>
              <a:t>FITK_Kernel</a:t>
            </a:r>
            <a:endParaRPr lang="en-US" altLang="zh-CN"/>
          </a:p>
        </p:txBody>
      </p:sp>
      <p:sp>
        <p:nvSpPr>
          <p:cNvPr id="14" name="文本框 13"/>
          <p:cNvSpPr txBox="1"/>
          <p:nvPr/>
        </p:nvSpPr>
        <p:spPr>
          <a:xfrm>
            <a:off x="1252220" y="3037205"/>
            <a:ext cx="3834130" cy="714375"/>
          </a:xfrm>
          <a:prstGeom prst="rect">
            <a:avLst/>
          </a:prstGeom>
          <a:solidFill>
            <a:srgbClr val="92D050"/>
          </a:solidFill>
          <a:ln>
            <a:solidFill>
              <a:schemeClr val="tx1"/>
            </a:solidFill>
          </a:ln>
        </p:spPr>
        <p:txBody>
          <a:bodyPr wrap="square" rtlCol="0" anchor="ctr" anchorCtr="0">
            <a:noAutofit/>
          </a:bodyPr>
          <a:p>
            <a:pPr algn="ctr"/>
            <a:r>
              <a:rPr lang="en-US" altLang="zh-CN">
                <a:sym typeface="+mn-ea"/>
              </a:rPr>
              <a:t>FITK_Interface</a:t>
            </a:r>
            <a:endParaRPr lang="en-US" altLang="zh-CN"/>
          </a:p>
        </p:txBody>
      </p:sp>
      <p:sp>
        <p:nvSpPr>
          <p:cNvPr id="15" name="文本框 14"/>
          <p:cNvSpPr txBox="1"/>
          <p:nvPr/>
        </p:nvSpPr>
        <p:spPr>
          <a:xfrm>
            <a:off x="1252220" y="3906520"/>
            <a:ext cx="3833495" cy="708660"/>
          </a:xfrm>
          <a:prstGeom prst="rect">
            <a:avLst/>
          </a:prstGeom>
          <a:solidFill>
            <a:schemeClr val="accent2"/>
          </a:solidFill>
          <a:ln>
            <a:solidFill>
              <a:schemeClr val="tx1"/>
            </a:solidFill>
          </a:ln>
        </p:spPr>
        <p:txBody>
          <a:bodyPr wrap="square" rtlCol="0" anchor="ctr" anchorCtr="0">
            <a:noAutofit/>
          </a:bodyPr>
          <a:p>
            <a:pPr algn="ctr"/>
            <a:r>
              <a:rPr lang="en-US" altLang="zh-CN">
                <a:sym typeface="+mn-ea"/>
              </a:rPr>
              <a:t>FITK_Component</a:t>
            </a:r>
            <a:endParaRPr lang="en-US" altLang="zh-CN"/>
          </a:p>
        </p:txBody>
      </p:sp>
      <p:sp>
        <p:nvSpPr>
          <p:cNvPr id="17" name="文本框 16"/>
          <p:cNvSpPr txBox="1"/>
          <p:nvPr/>
        </p:nvSpPr>
        <p:spPr>
          <a:xfrm>
            <a:off x="1252855" y="5690235"/>
            <a:ext cx="3833495" cy="714375"/>
          </a:xfrm>
          <a:prstGeom prst="rect">
            <a:avLst/>
          </a:prstGeom>
          <a:solidFill>
            <a:srgbClr val="00B0F0"/>
          </a:solidFill>
          <a:ln>
            <a:solidFill>
              <a:schemeClr val="tx1"/>
            </a:solidFill>
          </a:ln>
        </p:spPr>
        <p:txBody>
          <a:bodyPr wrap="square" rtlCol="0" anchor="ctr" anchorCtr="0">
            <a:noAutofit/>
          </a:bodyPr>
          <a:p>
            <a:pPr algn="ctr"/>
            <a:r>
              <a:rPr lang="en-US" altLang="zh-CN">
                <a:sym typeface="+mn-ea"/>
              </a:rPr>
              <a:t>APPTestModelDataComparisonTool</a:t>
            </a:r>
            <a:endParaRPr lang="en-US" altLang="zh-CN"/>
          </a:p>
        </p:txBody>
      </p:sp>
      <p:sp>
        <p:nvSpPr>
          <p:cNvPr id="18" name="文本框 17"/>
          <p:cNvSpPr txBox="1"/>
          <p:nvPr/>
        </p:nvSpPr>
        <p:spPr>
          <a:xfrm>
            <a:off x="5276850" y="3037205"/>
            <a:ext cx="6511925" cy="645160"/>
          </a:xfrm>
          <a:prstGeom prst="rect">
            <a:avLst/>
          </a:prstGeom>
          <a:noFill/>
        </p:spPr>
        <p:txBody>
          <a:bodyPr wrap="square" rtlCol="0">
            <a:spAutoFit/>
          </a:bodyPr>
          <a:p>
            <a:r>
              <a:rPr lang="zh-CN" altLang="en-US"/>
              <a:t>接口层封装数据获取方式（如从数据库、缓存或第三方</a:t>
            </a:r>
            <a:r>
              <a:rPr lang="en-US" altLang="zh-CN"/>
              <a:t> API</a:t>
            </a:r>
            <a:r>
              <a:rPr lang="zh-CN" altLang="en-US"/>
              <a:t>），业务层只需调用接口，无需关心数据来源。</a:t>
            </a:r>
            <a:endParaRPr lang="zh-CN" altLang="en-US"/>
          </a:p>
        </p:txBody>
      </p:sp>
      <p:sp>
        <p:nvSpPr>
          <p:cNvPr id="19" name="文本框 18"/>
          <p:cNvSpPr txBox="1"/>
          <p:nvPr/>
        </p:nvSpPr>
        <p:spPr>
          <a:xfrm>
            <a:off x="5276850" y="2151380"/>
            <a:ext cx="6511925" cy="645160"/>
          </a:xfrm>
          <a:prstGeom prst="rect">
            <a:avLst/>
          </a:prstGeom>
          <a:noFill/>
        </p:spPr>
        <p:txBody>
          <a:bodyPr wrap="square" rtlCol="0">
            <a:spAutoFit/>
          </a:bodyPr>
          <a:p>
            <a:r>
              <a:rPr lang="zh-CN" altLang="en-US"/>
              <a:t>包含操作系统适配层、基础服务组件（如线程池、内存管理）、公共依赖库等。</a:t>
            </a:r>
            <a:endParaRPr lang="zh-CN" altLang="en-US"/>
          </a:p>
        </p:txBody>
      </p:sp>
      <p:sp>
        <p:nvSpPr>
          <p:cNvPr id="20" name="文本框 19"/>
          <p:cNvSpPr txBox="1"/>
          <p:nvPr/>
        </p:nvSpPr>
        <p:spPr>
          <a:xfrm>
            <a:off x="5276850" y="3908425"/>
            <a:ext cx="6512560" cy="645160"/>
          </a:xfrm>
          <a:prstGeom prst="rect">
            <a:avLst/>
          </a:prstGeom>
          <a:noFill/>
        </p:spPr>
        <p:txBody>
          <a:bodyPr wrap="square" rtlCol="0">
            <a:spAutoFit/>
          </a:bodyPr>
          <a:p>
            <a:r>
              <a:rPr lang="zh-CN" altLang="en-US"/>
              <a:t>具有独立功能的业务单元。提升复用性，支持并行开发，隔离故障影响。</a:t>
            </a:r>
            <a:endParaRPr lang="zh-CN" altLang="en-US"/>
          </a:p>
        </p:txBody>
      </p:sp>
      <p:sp>
        <p:nvSpPr>
          <p:cNvPr id="23" name="文本框 22"/>
          <p:cNvSpPr txBox="1"/>
          <p:nvPr/>
        </p:nvSpPr>
        <p:spPr>
          <a:xfrm>
            <a:off x="5276850" y="5699760"/>
            <a:ext cx="4064000" cy="368300"/>
          </a:xfrm>
          <a:prstGeom prst="rect">
            <a:avLst/>
          </a:prstGeom>
          <a:noFill/>
        </p:spPr>
        <p:txBody>
          <a:bodyPr wrap="square" rtlCol="0">
            <a:spAutoFit/>
          </a:bodyPr>
          <a:p>
            <a:r>
              <a:rPr lang="zh-CN" altLang="en-US"/>
              <a:t>实现自动检测软件功能逻辑的准确</a:t>
            </a:r>
            <a:r>
              <a:rPr lang="zh-CN" altLang="en-US"/>
              <a:t>性。</a:t>
            </a:r>
            <a:endParaRPr lang="zh-CN" altLang="en-US"/>
          </a:p>
        </p:txBody>
      </p:sp>
      <p:sp>
        <p:nvSpPr>
          <p:cNvPr id="27" name="文本框 26"/>
          <p:cNvSpPr txBox="1"/>
          <p:nvPr/>
        </p:nvSpPr>
        <p:spPr>
          <a:xfrm>
            <a:off x="1252855" y="4799330"/>
            <a:ext cx="3833495" cy="714375"/>
          </a:xfrm>
          <a:prstGeom prst="rect">
            <a:avLst/>
          </a:prstGeom>
          <a:solidFill>
            <a:srgbClr val="7030A0"/>
          </a:solidFill>
          <a:ln>
            <a:solidFill>
              <a:schemeClr val="tx1"/>
            </a:solidFill>
          </a:ln>
        </p:spPr>
        <p:txBody>
          <a:bodyPr wrap="square" rtlCol="0" anchor="ctr" anchorCtr="0">
            <a:noAutofit/>
          </a:bodyPr>
          <a:p>
            <a:pPr algn="ctr"/>
            <a:r>
              <a:rPr lang="zh-CN" altLang="en-US"/>
              <a:t>个性化</a:t>
            </a:r>
            <a:r>
              <a:rPr lang="zh-CN" altLang="en-US"/>
              <a:t>代码</a:t>
            </a:r>
            <a:endParaRPr lang="zh-CN" altLang="en-US"/>
          </a:p>
        </p:txBody>
      </p:sp>
      <p:sp>
        <p:nvSpPr>
          <p:cNvPr id="28" name="文本框 27"/>
          <p:cNvSpPr txBox="1"/>
          <p:nvPr/>
        </p:nvSpPr>
        <p:spPr>
          <a:xfrm>
            <a:off x="5276850" y="4808855"/>
            <a:ext cx="6120130" cy="645160"/>
          </a:xfrm>
          <a:prstGeom prst="rect">
            <a:avLst/>
          </a:prstGeom>
          <a:noFill/>
        </p:spPr>
        <p:txBody>
          <a:bodyPr wrap="square" rtlCol="0">
            <a:spAutoFit/>
          </a:bodyPr>
          <a:p>
            <a:r>
              <a:rPr lang="zh-CN" altLang="en-US"/>
              <a:t>个性化代码是针对特定客户、场景或环境的定制逻辑（如特定业务规则、</a:t>
            </a:r>
            <a:r>
              <a:rPr lang="en-US" altLang="zh-CN"/>
              <a:t>UI </a:t>
            </a:r>
            <a:r>
              <a:rPr lang="zh-CN" altLang="en-US"/>
              <a:t>主题）</a:t>
            </a:r>
            <a:r>
              <a:rPr lang="zh-CN" altLang="en-US"/>
              <a:t>。</a:t>
            </a:r>
            <a:endParaRPr lang="zh-CN" altLang="en-US"/>
          </a:p>
        </p:txBody>
      </p:sp>
    </p:spTree>
  </p:cSld>
  <p:clrMapOvr>
    <a:masterClrMapping/>
  </p:clrMapOvr>
  <p:transition spd="slow"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软件开发</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软件工程管理与</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脚本</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Part05</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1" name="文本框 20"/>
          <p:cNvSpPr txBox="1"/>
          <p:nvPr/>
        </p:nvSpPr>
        <p:spPr>
          <a:xfrm>
            <a:off x="741045" y="990600"/>
            <a:ext cx="10291445" cy="1753235"/>
          </a:xfrm>
          <a:prstGeom prst="rect">
            <a:avLst/>
          </a:prstGeom>
          <a:noFill/>
        </p:spPr>
        <p:txBody>
          <a:bodyPr wrap="square" rtlCol="0">
            <a:spAutoFit/>
          </a:bodyPr>
          <a:p>
            <a:pPr>
              <a:lnSpc>
                <a:spcPct val="150000"/>
              </a:lnSpc>
            </a:pPr>
            <a:r>
              <a:rPr lang="en-US" altLang="zh-CN" b="1"/>
              <a:t>       </a:t>
            </a:r>
            <a:r>
              <a:rPr lang="zh-CN" altLang="en-US">
                <a:latin typeface="微软雅黑" panose="020B0503020204020204" charset="-122"/>
                <a:ea typeface="微软雅黑" panose="020B0503020204020204" charset="-122"/>
                <a:cs typeface="微软雅黑" panose="020B0503020204020204" charset="-122"/>
              </a:rPr>
              <a:t>应用软件的工程管理通过qmake进行管理，可实现跨平台编译，其中pro文件为工程文件，指定编译输出文件名称与路径等，还包含了其依赖的动态库；pri文件指定工程中的文件，包括代码文件与资源文件等。pro工程文件可直接通过Qt Creator打开进行编译，或者使用Qt提供的qmake转换工具转化为编译器能够识别的工程文件进行编译操作。</a:t>
            </a:r>
            <a:endParaRPr lang="zh-CN" altLang="en-US"/>
          </a:p>
        </p:txBody>
      </p:sp>
      <p:sp>
        <p:nvSpPr>
          <p:cNvPr id="22" name="文本框 21"/>
          <p:cNvSpPr txBox="1"/>
          <p:nvPr/>
        </p:nvSpPr>
        <p:spPr>
          <a:xfrm>
            <a:off x="740410" y="4838700"/>
            <a:ext cx="10292080" cy="1753235"/>
          </a:xfrm>
          <a:prstGeom prst="rect">
            <a:avLst/>
          </a:prstGeom>
          <a:noFill/>
        </p:spPr>
        <p:txBody>
          <a:bodyPr wrap="square" rtlCol="0">
            <a:spAutoFit/>
          </a:bodyPr>
          <a:p>
            <a:pPr>
              <a:lnSpc>
                <a:spcPct val="150000"/>
              </a:lnSpc>
            </a:pPr>
            <a:r>
              <a:rPr lang="en-US" altLang="zh-CN" b="1"/>
              <a:t>       </a:t>
            </a:r>
            <a:r>
              <a:rPr lang="zh-CN" altLang="en-US">
                <a:latin typeface="微软雅黑" panose="020B0503020204020204" charset="-122"/>
                <a:ea typeface="微软雅黑" panose="020B0503020204020204" charset="-122"/>
                <a:cs typeface="微软雅黑" panose="020B0503020204020204" charset="-122"/>
              </a:rPr>
              <a:t>在代码目录下通常会包含一些批处理脚本（bat或者sh文件），这些文件通常是用来执行自动化操作，提高操作效率，避免不必要的错误。</a:t>
            </a:r>
            <a:endParaRPr lang="zh-CN" altLang="en-US">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a:latin typeface="微软雅黑" panose="020B0503020204020204" charset="-122"/>
                <a:ea typeface="微软雅黑" panose="020B0503020204020204" charset="-122"/>
                <a:cs typeface="微软雅黑" panose="020B0503020204020204" charset="-122"/>
              </a:rPr>
              <a:t>       InitSubmodules用于初始化子模块，PullSubmodules用于拉取代码，PushSubmodules用于推送代码，Create_AppAcoustics_sln执行qmake生成工程文件。</a:t>
            </a:r>
            <a:endParaRPr lang="zh-CN" altLang="en-US" b="1"/>
          </a:p>
        </p:txBody>
      </p:sp>
      <p:pic>
        <p:nvPicPr>
          <p:cNvPr id="25" name="图片 24"/>
          <p:cNvPicPr>
            <a:picLocks noChangeAspect="1"/>
          </p:cNvPicPr>
          <p:nvPr/>
        </p:nvPicPr>
        <p:blipFill>
          <a:blip r:embed="rId2"/>
          <a:stretch>
            <a:fillRect/>
          </a:stretch>
        </p:blipFill>
        <p:spPr>
          <a:xfrm>
            <a:off x="1731010" y="2743835"/>
            <a:ext cx="7893685" cy="2094865"/>
          </a:xfrm>
          <a:prstGeom prst="rect">
            <a:avLst/>
          </a:prstGeom>
        </p:spPr>
      </p:pic>
    </p:spTree>
  </p:cSld>
  <p:clrMapOvr>
    <a:masterClrMapping/>
  </p:clrMapOvr>
  <p:transition spd="slow" advClick="0"/>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5393" y="6842094"/>
            <a:ext cx="12202786" cy="15906"/>
            <a:chOff x="0" y="6829262"/>
            <a:chExt cx="12202786" cy="15906"/>
          </a:xfrm>
        </p:grpSpPr>
        <p:cxnSp>
          <p:nvCxnSpPr>
            <p:cNvPr id="21"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54"/>
          <p:cNvGrpSpPr/>
          <p:nvPr/>
        </p:nvGrpSpPr>
        <p:grpSpPr>
          <a:xfrm>
            <a:off x="2400580" y="478732"/>
            <a:ext cx="8100000" cy="398780"/>
            <a:chOff x="3329659" y="684634"/>
            <a:chExt cx="6942353" cy="398780"/>
          </a:xfrm>
        </p:grpSpPr>
        <p:cxnSp>
          <p:nvCxnSpPr>
            <p:cNvPr id="16" name="直接连接符 15"/>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主界面生成器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20" name="组合 19"/>
          <p:cNvGrpSpPr/>
          <p:nvPr/>
        </p:nvGrpSpPr>
        <p:grpSpPr>
          <a:xfrm>
            <a:off x="531813" y="438512"/>
            <a:ext cx="1990507" cy="460800"/>
            <a:chOff x="531813" y="438512"/>
            <a:chExt cx="1990507" cy="460800"/>
          </a:xfrm>
        </p:grpSpPr>
        <p:grpSp>
          <p:nvGrpSpPr>
            <p:cNvPr id="26" name="组合 69"/>
            <p:cNvGrpSpPr/>
            <p:nvPr/>
          </p:nvGrpSpPr>
          <p:grpSpPr>
            <a:xfrm>
              <a:off x="531813" y="438512"/>
              <a:ext cx="1781401" cy="460800"/>
              <a:chOff x="2305585" y="1928066"/>
              <a:chExt cx="2104868" cy="521276"/>
            </a:xfrm>
          </p:grpSpPr>
          <p:sp>
            <p:nvSpPr>
              <p:cNvPr id="32" name="圆角矩形 31"/>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27" name="文本框 71"/>
            <p:cNvSpPr txBox="1"/>
            <p:nvPr/>
          </p:nvSpPr>
          <p:spPr>
            <a:xfrm>
              <a:off x="740395" y="511712"/>
              <a:ext cx="1781925" cy="337185"/>
            </a:xfrm>
            <a:prstGeom prst="rect">
              <a:avLst/>
            </a:prstGeom>
            <a:noFill/>
          </p:spPr>
          <p:txBody>
            <a:bodyPr wrap="square" rtlCol="0">
              <a:spAutoFit/>
            </a:bodyPr>
            <a:lstStyle/>
            <a:p>
              <a:pPr algn="ctr"/>
              <a:r>
                <a:rPr lang="en-US" altLang="zh-CN" sz="1600">
                  <a:latin typeface="微软雅黑 Light" panose="020B0502040204020203" pitchFamily="34" charset="-122"/>
                  <a:ea typeface="微软雅黑 Light" panose="020B0502040204020203" pitchFamily="34" charset="-122"/>
                </a:rPr>
                <a:t>Part 06</a:t>
              </a:r>
              <a:endParaRPr lang="zh-CN" altLang="en-US" sz="1600" dirty="0">
                <a:latin typeface="微软雅黑 Light" panose="020B0502040204020203" pitchFamily="34" charset="-122"/>
                <a:ea typeface="微软雅黑 Light" panose="020B0502040204020203" pitchFamily="34" charset="-122"/>
              </a:endParaRPr>
            </a:p>
          </p:txBody>
        </p:sp>
      </p:grpSp>
      <p:sp>
        <p:nvSpPr>
          <p:cNvPr id="6" name="文本框 5"/>
          <p:cNvSpPr txBox="1"/>
          <p:nvPr/>
        </p:nvSpPr>
        <p:spPr>
          <a:xfrm>
            <a:off x="740410" y="1064260"/>
            <a:ext cx="10519410" cy="922020"/>
          </a:xfrm>
          <a:prstGeom prst="rect">
            <a:avLst/>
          </a:prstGeom>
          <a:noFill/>
        </p:spPr>
        <p:txBody>
          <a:bodyPr wrap="square">
            <a:spAutoFit/>
          </a:bodyPr>
          <a:lstStyle/>
          <a:p>
            <a:pPr indent="266700" algn="just">
              <a:lnSpc>
                <a:spcPct val="150000"/>
              </a:lnSpc>
            </a:pPr>
            <a:r>
              <a:rPr lang="en-US" altLang="zh-CN" sz="1800" b="1" dirty="0">
                <a:solidFill>
                  <a:srgbClr val="000000"/>
                </a:solidFill>
                <a:latin typeface="微软雅黑" panose="020B0503020204020204" charset="-122"/>
                <a:ea typeface="微软雅黑" panose="020B0503020204020204" charset="-122"/>
              </a:rPr>
              <a:t>   </a:t>
            </a:r>
            <a:r>
              <a:rPr lang="zh-CN" altLang="en-US" sz="1800">
                <a:latin typeface="微软雅黑" panose="020B0503020204020204" charset="-122"/>
                <a:ea typeface="微软雅黑" panose="020B0503020204020204" charset="-122"/>
                <a:cs typeface="微软雅黑" panose="020B0503020204020204" charset="-122"/>
              </a:rPr>
              <a:t>主界面生成器的主要作用是生成主界面，并且指定需要加载的qss样式文件与语言包文件。另外，通过操作器将界面层和数据层进行隔离。可根据具体业务场景需要，开发自定义定制化的界面布局。</a:t>
            </a:r>
            <a:endParaRPr lang="zh-CN" altLang="en-US"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5156200" y="2294255"/>
            <a:ext cx="6252210" cy="4113530"/>
          </a:xfrm>
          <a:prstGeom prst="rect">
            <a:avLst/>
          </a:prstGeom>
        </p:spPr>
      </p:pic>
      <p:pic>
        <p:nvPicPr>
          <p:cNvPr id="5" name="图片 4"/>
          <p:cNvPicPr>
            <a:picLocks noChangeAspect="1"/>
          </p:cNvPicPr>
          <p:nvPr/>
        </p:nvPicPr>
        <p:blipFill>
          <a:blip r:embed="rId2"/>
          <a:stretch>
            <a:fillRect/>
          </a:stretch>
        </p:blipFill>
        <p:spPr>
          <a:xfrm>
            <a:off x="595630" y="2047240"/>
            <a:ext cx="4451350" cy="4491355"/>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p:transition spd="slow"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激活软件</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检查</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Part07</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039495"/>
            <a:ext cx="10497820" cy="1301750"/>
          </a:xfrm>
          <a:prstGeom prst="rect">
            <a:avLst/>
          </a:prstGeom>
          <a:noFill/>
        </p:spPr>
        <p:txBody>
          <a:bodyPr wrap="square" rtlCol="0">
            <a:no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rPr>
              <a:t>FITKLicensecc许可证检查，用于验证软件许可证。FITKLicenseccChecker许可证验证接口类，具有三种功能：获取系统标识符、检查许可证有效性、验证特定功能特性。</a:t>
            </a:r>
            <a:r>
              <a:rPr lang="zh-CN" altLang="en-US">
                <a:latin typeface="微软雅黑" panose="020B0503020204020204" charset="-122"/>
                <a:ea typeface="微软雅黑" panose="020B0503020204020204" charset="-122"/>
                <a:cs typeface="微软雅黑" panose="020B0503020204020204" charset="-122"/>
                <a:sym typeface="+mn-ea"/>
              </a:rPr>
              <a:t>通过集成该类重写checkLicense与checkFeatureLicense接口实现。</a:t>
            </a:r>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a:p>
            <a:endParaRPr lang="zh-CN" altLang="en-US" b="1" dirty="0">
              <a:solidFill>
                <a:srgbClr val="000000"/>
              </a:solidFill>
              <a:latin typeface="微软雅黑" panose="020B0503020204020204" charset="-122"/>
              <a:ea typeface="微软雅黑" panose="020B0503020204020204" charset="-122"/>
              <a:sym typeface="微软雅黑" panose="020B0503020204020204" charset="-122"/>
            </a:endParaRPr>
          </a:p>
        </p:txBody>
      </p:sp>
      <p:pic>
        <p:nvPicPr>
          <p:cNvPr id="6" name="图片 5"/>
          <p:cNvPicPr>
            <a:picLocks noChangeAspect="1"/>
          </p:cNvPicPr>
          <p:nvPr/>
        </p:nvPicPr>
        <p:blipFill>
          <a:blip r:embed="rId2"/>
          <a:stretch>
            <a:fillRect/>
          </a:stretch>
        </p:blipFill>
        <p:spPr>
          <a:xfrm>
            <a:off x="595630" y="2484120"/>
            <a:ext cx="4471670" cy="4050030"/>
          </a:xfrm>
          <a:prstGeom prst="rect">
            <a:avLst/>
          </a:prstGeom>
        </p:spPr>
      </p:pic>
      <p:pic>
        <p:nvPicPr>
          <p:cNvPr id="7" name="图片 6"/>
          <p:cNvPicPr>
            <a:picLocks noChangeAspect="1"/>
          </p:cNvPicPr>
          <p:nvPr/>
        </p:nvPicPr>
        <p:blipFill>
          <a:blip r:embed="rId3"/>
          <a:stretch>
            <a:fillRect/>
          </a:stretch>
        </p:blipFill>
        <p:spPr>
          <a:xfrm>
            <a:off x="5114925" y="2382520"/>
            <a:ext cx="4128135" cy="4329430"/>
          </a:xfrm>
          <a:prstGeom prst="rect">
            <a:avLst/>
          </a:prstGeom>
        </p:spPr>
      </p:pic>
      <p:pic>
        <p:nvPicPr>
          <p:cNvPr id="8" name="图片 7"/>
          <p:cNvPicPr>
            <a:picLocks noChangeAspect="1"/>
          </p:cNvPicPr>
          <p:nvPr/>
        </p:nvPicPr>
        <p:blipFill>
          <a:blip r:embed="rId4"/>
          <a:stretch>
            <a:fillRect/>
          </a:stretch>
        </p:blipFill>
        <p:spPr>
          <a:xfrm>
            <a:off x="8776335" y="2382520"/>
            <a:ext cx="3286125" cy="1162050"/>
          </a:xfrm>
          <a:prstGeom prst="rect">
            <a:avLst/>
          </a:prstGeom>
        </p:spPr>
      </p:pic>
      <p:pic>
        <p:nvPicPr>
          <p:cNvPr id="11" name="图片 10"/>
          <p:cNvPicPr>
            <a:picLocks noChangeAspect="1"/>
          </p:cNvPicPr>
          <p:nvPr/>
        </p:nvPicPr>
        <p:blipFill>
          <a:blip r:embed="rId5"/>
          <a:stretch>
            <a:fillRect/>
          </a:stretch>
        </p:blipFill>
        <p:spPr>
          <a:xfrm>
            <a:off x="8706485" y="3651250"/>
            <a:ext cx="3485515" cy="700405"/>
          </a:xfrm>
          <a:prstGeom prst="rect">
            <a:avLst/>
          </a:prstGeom>
        </p:spPr>
      </p:pic>
    </p:spTree>
  </p:cSld>
  <p:clrMapOvr>
    <a:masterClrMapping/>
  </p:clrMapOvr>
  <p:transition spd="slow" advClick="0"/>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740410" y="2023110"/>
            <a:ext cx="5437505" cy="4540250"/>
          </a:xfrm>
          <a:prstGeom prst="rect">
            <a:avLst/>
          </a:prstGeom>
        </p:spPr>
      </p:pic>
      <p:grpSp>
        <p:nvGrpSpPr>
          <p:cNvPr id="19" name="组合 18"/>
          <p:cNvGrpSpPr/>
          <p:nvPr/>
        </p:nvGrpSpPr>
        <p:grpSpPr>
          <a:xfrm>
            <a:off x="-5393" y="6842094"/>
            <a:ext cx="12202786" cy="15906"/>
            <a:chOff x="0" y="6829262"/>
            <a:chExt cx="12202786" cy="15906"/>
          </a:xfrm>
        </p:grpSpPr>
        <p:cxnSp>
          <p:nvCxnSpPr>
            <p:cNvPr id="21"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54"/>
          <p:cNvGrpSpPr/>
          <p:nvPr/>
        </p:nvGrpSpPr>
        <p:grpSpPr>
          <a:xfrm>
            <a:off x="2400580" y="478732"/>
            <a:ext cx="8100000" cy="398780"/>
            <a:chOff x="3329659" y="684634"/>
            <a:chExt cx="6942353" cy="398780"/>
          </a:xfrm>
        </p:grpSpPr>
        <p:cxnSp>
          <p:nvCxnSpPr>
            <p:cNvPr id="16" name="直接连接符 15"/>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全局数据生成器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20" name="组合 19"/>
          <p:cNvGrpSpPr/>
          <p:nvPr/>
        </p:nvGrpSpPr>
        <p:grpSpPr>
          <a:xfrm>
            <a:off x="531813" y="438512"/>
            <a:ext cx="1990507" cy="460800"/>
            <a:chOff x="531813" y="438512"/>
            <a:chExt cx="1990507" cy="460800"/>
          </a:xfrm>
        </p:grpSpPr>
        <p:grpSp>
          <p:nvGrpSpPr>
            <p:cNvPr id="26" name="组合 69"/>
            <p:cNvGrpSpPr/>
            <p:nvPr/>
          </p:nvGrpSpPr>
          <p:grpSpPr>
            <a:xfrm>
              <a:off x="531813" y="438512"/>
              <a:ext cx="1781401" cy="460800"/>
              <a:chOff x="2305585" y="1928066"/>
              <a:chExt cx="2104868" cy="521276"/>
            </a:xfrm>
          </p:grpSpPr>
          <p:sp>
            <p:nvSpPr>
              <p:cNvPr id="32" name="圆角矩形 31"/>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27" name="文本框 71"/>
            <p:cNvSpPr txBox="1"/>
            <p:nvPr/>
          </p:nvSpPr>
          <p:spPr>
            <a:xfrm>
              <a:off x="740395" y="511712"/>
              <a:ext cx="1781925" cy="337185"/>
            </a:xfrm>
            <a:prstGeom prst="rect">
              <a:avLst/>
            </a:prstGeom>
            <a:noFill/>
          </p:spPr>
          <p:txBody>
            <a:bodyPr wrap="square" rtlCol="0">
              <a:spAutoFit/>
            </a:bodyPr>
            <a:lstStyle/>
            <a:p>
              <a:pPr algn="ctr"/>
              <a:r>
                <a:rPr lang="en-US" altLang="zh-CN" sz="1600">
                  <a:latin typeface="微软雅黑 Light" panose="020B0502040204020203" pitchFamily="34" charset="-122"/>
                  <a:ea typeface="微软雅黑 Light" panose="020B0502040204020203" pitchFamily="34" charset="-122"/>
                </a:rPr>
                <a:t>Part 08</a:t>
              </a:r>
              <a:endParaRPr lang="zh-CN" altLang="en-US" sz="1600" dirty="0">
                <a:latin typeface="微软雅黑 Light" panose="020B0502040204020203" pitchFamily="34" charset="-122"/>
                <a:ea typeface="微软雅黑 Light" panose="020B0502040204020203" pitchFamily="34" charset="-122"/>
              </a:endParaRPr>
            </a:p>
          </p:txBody>
        </p:sp>
      </p:grpSp>
      <p:sp>
        <p:nvSpPr>
          <p:cNvPr id="2" name="文本框 1"/>
          <p:cNvSpPr txBox="1"/>
          <p:nvPr/>
        </p:nvSpPr>
        <p:spPr>
          <a:xfrm>
            <a:off x="740410" y="1059815"/>
            <a:ext cx="10535285" cy="922020"/>
          </a:xfrm>
          <a:prstGeom prst="rect">
            <a:avLst/>
          </a:prstGeom>
          <a:noFill/>
        </p:spPr>
        <p:txBody>
          <a:bodyPr wrap="square">
            <a:spAutoFit/>
          </a:bodyPr>
          <a:lstStyle/>
          <a:p>
            <a:pPr indent="266700" algn="just">
              <a:lnSpc>
                <a:spcPct val="150000"/>
              </a:lnSpc>
            </a:pPr>
            <a:r>
              <a:rPr lang="en-US" altLang="zh-CN" sz="1800" b="1" dirty="0">
                <a:solidFill>
                  <a:srgbClr val="000000"/>
                </a:solidFill>
                <a:latin typeface="微软雅黑" panose="020B0503020204020204" charset="-122"/>
                <a:ea typeface="微软雅黑" panose="020B0503020204020204" charset="-122"/>
              </a:rPr>
              <a:t>   </a:t>
            </a:r>
            <a:r>
              <a:rPr lang="zh-CN" altLang="en-US" sz="1800">
                <a:latin typeface="微软雅黑" panose="020B0503020204020204" charset="-122"/>
                <a:ea typeface="微软雅黑" panose="020B0503020204020204" charset="-122"/>
                <a:cs typeface="微软雅黑" panose="020B0503020204020204" charset="-122"/>
              </a:rPr>
              <a:t>全局数据生成器用于生成与仿真流程相关的全局数据，大部分是数据管理类，例如几何数据、网格数据、物理模型数据、后处理数据或者自定义数据等。</a:t>
            </a:r>
            <a:endParaRPr lang="zh-CN" altLang="en-US"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4" name="组合 3"/>
          <p:cNvGrpSpPr/>
          <p:nvPr/>
        </p:nvGrpSpPr>
        <p:grpSpPr>
          <a:xfrm>
            <a:off x="5846542" y="1869379"/>
            <a:ext cx="5615940" cy="4678674"/>
            <a:chOff x="5993830" y="1951542"/>
            <a:chExt cx="5615940" cy="4678674"/>
          </a:xfrm>
        </p:grpSpPr>
        <p:sp>
          <p:nvSpPr>
            <p:cNvPr id="6" name="椭圆 5"/>
            <p:cNvSpPr/>
            <p:nvPr/>
          </p:nvSpPr>
          <p:spPr>
            <a:xfrm>
              <a:off x="6142420" y="2064287"/>
              <a:ext cx="5410200" cy="4425635"/>
            </a:xfrm>
            <a:prstGeom prst="ellipse">
              <a:avLst/>
            </a:prstGeom>
            <a:solidFill>
              <a:srgbClr val="ECF1F9">
                <a:alpha val="49804"/>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grpSp>
          <p:nvGrpSpPr>
            <p:cNvPr id="9" name="组合 8"/>
            <p:cNvGrpSpPr/>
            <p:nvPr/>
          </p:nvGrpSpPr>
          <p:grpSpPr>
            <a:xfrm>
              <a:off x="6906751" y="2492621"/>
              <a:ext cx="4018164" cy="3579383"/>
              <a:chOff x="6698350" y="2338640"/>
              <a:chExt cx="4018164" cy="3579383"/>
            </a:xfrm>
          </p:grpSpPr>
          <p:cxnSp>
            <p:nvCxnSpPr>
              <p:cNvPr id="10" name="直接连接符 9"/>
              <p:cNvCxnSpPr>
                <a:stCxn id="31" idx="4"/>
                <a:endCxn id="11" idx="0"/>
              </p:cNvCxnSpPr>
              <p:nvPr/>
            </p:nvCxnSpPr>
            <p:spPr>
              <a:xfrm>
                <a:off x="8652725" y="3058640"/>
                <a:ext cx="0" cy="3175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7932725" y="3376152"/>
                <a:ext cx="1440000" cy="1440000"/>
              </a:xfrm>
              <a:prstGeom prst="ellipse">
                <a:avLst/>
              </a:prstGeom>
              <a:gradFill flip="none" rotWithShape="1">
                <a:gsLst>
                  <a:gs pos="0">
                    <a:srgbClr val="00F1B6">
                      <a:alpha val="50000"/>
                    </a:srgbClr>
                  </a:gs>
                  <a:gs pos="50000">
                    <a:srgbClr val="13AFD6"/>
                  </a:gs>
                  <a:gs pos="100000">
                    <a:srgbClr val="256DF5"/>
                  </a:gs>
                </a:gsLst>
                <a:path path="circle">
                  <a:fillToRect r="100000" b="100000"/>
                </a:path>
                <a:tileRect l="-100000" t="-100000"/>
              </a:gra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en-US" altLang="zh-CN" sz="3600" b="1" dirty="0">
                    <a:solidFill>
                      <a:schemeClr val="bg1"/>
                    </a:solidFill>
                    <a:latin typeface="Consolas" panose="020B0609020204030204" pitchFamily="49" charset="0"/>
                    <a:ea typeface="微软雅黑" panose="020B0503020204020204" charset="-122"/>
                    <a:cs typeface="Times New Roman" panose="02020603050405020304" pitchFamily="18" charset="0"/>
                  </a:rPr>
                  <a:t>DATA</a:t>
                </a: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cxnSp>
            <p:nvCxnSpPr>
              <p:cNvPr id="13" name="直接连接符 12"/>
              <p:cNvCxnSpPr>
                <a:stCxn id="11" idx="4"/>
                <a:endCxn id="35" idx="0"/>
              </p:cNvCxnSpPr>
              <p:nvPr/>
            </p:nvCxnSpPr>
            <p:spPr>
              <a:xfrm>
                <a:off x="8652725" y="4816152"/>
                <a:ext cx="0" cy="3818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1"/>
                <a:endCxn id="38" idx="5"/>
              </p:cNvCxnSpPr>
              <p:nvPr/>
            </p:nvCxnSpPr>
            <p:spPr>
              <a:xfrm flipH="1" flipV="1">
                <a:off x="7882867" y="3309170"/>
                <a:ext cx="260741" cy="2778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2" idx="3"/>
                <a:endCxn id="11" idx="7"/>
              </p:cNvCxnSpPr>
              <p:nvPr/>
            </p:nvCxnSpPr>
            <p:spPr>
              <a:xfrm flipH="1">
                <a:off x="9161842" y="3309170"/>
                <a:ext cx="316325" cy="2778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8292725" y="2338640"/>
                <a:ext cx="720000" cy="720000"/>
                <a:chOff x="8286375" y="2160840"/>
                <a:chExt cx="720000" cy="720000"/>
              </a:xfrm>
            </p:grpSpPr>
            <p:sp>
              <p:nvSpPr>
                <p:cNvPr id="31" name="椭圆 30"/>
                <p:cNvSpPr/>
                <p:nvPr/>
              </p:nvSpPr>
              <p:spPr>
                <a:xfrm>
                  <a:off x="8286375" y="2160840"/>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pic>
              <p:nvPicPr>
                <p:cNvPr id="34" name="图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375" y="2229596"/>
                  <a:ext cx="540000" cy="540000"/>
                </a:xfrm>
                <a:prstGeom prst="rect">
                  <a:avLst/>
                </a:prstGeom>
              </p:spPr>
            </p:pic>
          </p:grpSp>
          <p:sp>
            <p:nvSpPr>
              <p:cNvPr id="35" name="椭圆 34"/>
              <p:cNvSpPr/>
              <p:nvPr/>
            </p:nvSpPr>
            <p:spPr>
              <a:xfrm>
                <a:off x="8292725" y="5198023"/>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grpSp>
            <p:nvGrpSpPr>
              <p:cNvPr id="37" name="组合 36"/>
              <p:cNvGrpSpPr/>
              <p:nvPr/>
            </p:nvGrpSpPr>
            <p:grpSpPr>
              <a:xfrm>
                <a:off x="7268309" y="2694612"/>
                <a:ext cx="720000" cy="720000"/>
                <a:chOff x="7261959" y="2516812"/>
                <a:chExt cx="720000" cy="720000"/>
              </a:xfrm>
            </p:grpSpPr>
            <p:sp>
              <p:nvSpPr>
                <p:cNvPr id="38" name="椭圆 37"/>
                <p:cNvSpPr/>
                <p:nvPr/>
              </p:nvSpPr>
              <p:spPr>
                <a:xfrm>
                  <a:off x="7261959" y="2516812"/>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pic>
              <p:nvPicPr>
                <p:cNvPr id="39" name="图片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3510" y="2606812"/>
                  <a:ext cx="540000" cy="540000"/>
                </a:xfrm>
                <a:prstGeom prst="rect">
                  <a:avLst/>
                </a:prstGeom>
              </p:spPr>
            </p:pic>
          </p:grpSp>
          <p:grpSp>
            <p:nvGrpSpPr>
              <p:cNvPr id="41" name="组合 40"/>
              <p:cNvGrpSpPr/>
              <p:nvPr/>
            </p:nvGrpSpPr>
            <p:grpSpPr>
              <a:xfrm>
                <a:off x="9372725" y="2694612"/>
                <a:ext cx="720000" cy="720000"/>
                <a:chOff x="9366375" y="2516812"/>
                <a:chExt cx="720000" cy="720000"/>
              </a:xfrm>
            </p:grpSpPr>
            <p:sp>
              <p:nvSpPr>
                <p:cNvPr id="42" name="椭圆 41"/>
                <p:cNvSpPr/>
                <p:nvPr/>
              </p:nvSpPr>
              <p:spPr>
                <a:xfrm>
                  <a:off x="9366375" y="2516812"/>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pic>
              <p:nvPicPr>
                <p:cNvPr id="43" name="图片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6374" y="2611836"/>
                  <a:ext cx="540000" cy="540000"/>
                </a:xfrm>
                <a:prstGeom prst="rect">
                  <a:avLst/>
                </a:prstGeom>
              </p:spPr>
            </p:pic>
          </p:grpSp>
          <p:pic>
            <p:nvPicPr>
              <p:cNvPr id="45" name="图片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725" y="5288023"/>
                <a:ext cx="540000" cy="540000"/>
              </a:xfrm>
              <a:prstGeom prst="rect">
                <a:avLst/>
              </a:prstGeom>
            </p:spPr>
          </p:pic>
          <p:sp>
            <p:nvSpPr>
              <p:cNvPr id="46" name="椭圆 45"/>
              <p:cNvSpPr/>
              <p:nvPr/>
            </p:nvSpPr>
            <p:spPr>
              <a:xfrm>
                <a:off x="7269092" y="4773664"/>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sp>
            <p:nvSpPr>
              <p:cNvPr id="51" name="椭圆 50"/>
              <p:cNvSpPr/>
              <p:nvPr/>
            </p:nvSpPr>
            <p:spPr>
              <a:xfrm>
                <a:off x="6698350" y="3736152"/>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sp>
            <p:nvSpPr>
              <p:cNvPr id="52" name="椭圆 51"/>
              <p:cNvSpPr/>
              <p:nvPr/>
            </p:nvSpPr>
            <p:spPr>
              <a:xfrm>
                <a:off x="9996514" y="3722460"/>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sp>
            <p:nvSpPr>
              <p:cNvPr id="53" name="椭圆 52"/>
              <p:cNvSpPr/>
              <p:nvPr/>
            </p:nvSpPr>
            <p:spPr>
              <a:xfrm>
                <a:off x="9372724" y="4750308"/>
                <a:ext cx="720000" cy="720000"/>
              </a:xfrm>
              <a:prstGeom prst="ellipse">
                <a:avLst/>
              </a:prstGeom>
              <a:solidFill>
                <a:srgbClr val="558A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endParaRPr lang="zh-CN" altLang="en-US" sz="3600" b="1" dirty="0">
                  <a:solidFill>
                    <a:schemeClr val="bg1"/>
                  </a:solidFill>
                  <a:latin typeface="Consolas" panose="020B0609020204030204" pitchFamily="49" charset="0"/>
                  <a:ea typeface="微软雅黑" panose="020B0503020204020204" charset="-122"/>
                  <a:cs typeface="Times New Roman" panose="02020603050405020304" pitchFamily="18" charset="0"/>
                </a:endParaRPr>
              </a:p>
            </p:txBody>
          </p:sp>
          <p:cxnSp>
            <p:nvCxnSpPr>
              <p:cNvPr id="54" name="直接连接符 53"/>
              <p:cNvCxnSpPr>
                <a:stCxn id="11" idx="2"/>
                <a:endCxn id="51" idx="6"/>
              </p:cNvCxnSpPr>
              <p:nvPr/>
            </p:nvCxnSpPr>
            <p:spPr>
              <a:xfrm flipH="1">
                <a:off x="7418350" y="4096152"/>
                <a:ext cx="5143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2" idx="2"/>
                <a:endCxn id="11" idx="6"/>
              </p:cNvCxnSpPr>
              <p:nvPr/>
            </p:nvCxnSpPr>
            <p:spPr>
              <a:xfrm flipH="1">
                <a:off x="9372725" y="4082460"/>
                <a:ext cx="623789" cy="136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11" idx="3"/>
                <a:endCxn id="46" idx="7"/>
              </p:cNvCxnSpPr>
              <p:nvPr/>
            </p:nvCxnSpPr>
            <p:spPr>
              <a:xfrm flipH="1">
                <a:off x="7883650" y="4605269"/>
                <a:ext cx="259958" cy="2738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3" idx="1"/>
                <a:endCxn id="11" idx="5"/>
              </p:cNvCxnSpPr>
              <p:nvPr/>
            </p:nvCxnSpPr>
            <p:spPr>
              <a:xfrm flipH="1" flipV="1">
                <a:off x="9161842" y="4605269"/>
                <a:ext cx="316324" cy="2504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5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44401" y="3829449"/>
                <a:ext cx="594844" cy="540000"/>
              </a:xfrm>
              <a:prstGeom prst="rect">
                <a:avLst/>
              </a:prstGeom>
            </p:spPr>
          </p:pic>
          <p:pic>
            <p:nvPicPr>
              <p:cNvPr id="59" name="图片 5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80303" y="3809197"/>
                <a:ext cx="540000" cy="540000"/>
              </a:xfrm>
              <a:prstGeom prst="rect">
                <a:avLst/>
              </a:prstGeom>
            </p:spPr>
          </p:pic>
          <p:pic>
            <p:nvPicPr>
              <p:cNvPr id="60" name="图片 5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18350" y="4917663"/>
                <a:ext cx="432000" cy="432000"/>
              </a:xfrm>
              <a:prstGeom prst="rect">
                <a:avLst/>
              </a:prstGeom>
            </p:spPr>
          </p:pic>
          <p:pic>
            <p:nvPicPr>
              <p:cNvPr id="61" name="图片 60"/>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462723" y="4838442"/>
                <a:ext cx="540000" cy="540000"/>
              </a:xfrm>
              <a:prstGeom prst="rect">
                <a:avLst/>
              </a:prstGeom>
            </p:spPr>
          </p:pic>
        </p:grpSp>
        <p:sp>
          <p:nvSpPr>
            <p:cNvPr id="66" name="文本框 65"/>
            <p:cNvSpPr txBox="1"/>
            <p:nvPr/>
          </p:nvSpPr>
          <p:spPr>
            <a:xfrm>
              <a:off x="8260773" y="1951542"/>
              <a:ext cx="1079926" cy="338554"/>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网格数据</a:t>
              </a:r>
              <a:endParaRPr lang="zh-CN" altLang="en-US" sz="1600" dirty="0">
                <a:latin typeface="微软雅黑" panose="020B0503020204020204" charset="-122"/>
                <a:ea typeface="微软雅黑" panose="020B0503020204020204" charset="-122"/>
              </a:endParaRPr>
            </a:p>
          </p:txBody>
        </p:sp>
        <p:sp>
          <p:nvSpPr>
            <p:cNvPr id="68" name="文本框 67"/>
            <p:cNvSpPr txBox="1"/>
            <p:nvPr/>
          </p:nvSpPr>
          <p:spPr>
            <a:xfrm>
              <a:off x="6540500" y="2484489"/>
              <a:ext cx="1007316" cy="338554"/>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几何数据</a:t>
              </a:r>
              <a:endParaRPr lang="zh-CN" altLang="en-US" sz="1600" dirty="0">
                <a:latin typeface="微软雅黑" panose="020B0503020204020204" charset="-122"/>
                <a:ea typeface="微软雅黑" panose="020B0503020204020204" charset="-122"/>
              </a:endParaRPr>
            </a:p>
          </p:txBody>
        </p:sp>
        <p:sp>
          <p:nvSpPr>
            <p:cNvPr id="74" name="文本框 73"/>
            <p:cNvSpPr txBox="1"/>
            <p:nvPr/>
          </p:nvSpPr>
          <p:spPr>
            <a:xfrm>
              <a:off x="10058036" y="2486202"/>
              <a:ext cx="1441164" cy="338554"/>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物理模型数据</a:t>
              </a:r>
              <a:endParaRPr lang="zh-CN" altLang="en-US" sz="1600" dirty="0">
                <a:latin typeface="微软雅黑" panose="020B0503020204020204" charset="-122"/>
                <a:ea typeface="微软雅黑" panose="020B0503020204020204" charset="-122"/>
              </a:endParaRPr>
            </a:p>
          </p:txBody>
        </p:sp>
        <p:sp>
          <p:nvSpPr>
            <p:cNvPr id="75" name="文本框 74"/>
            <p:cNvSpPr txBox="1"/>
            <p:nvPr/>
          </p:nvSpPr>
          <p:spPr>
            <a:xfrm>
              <a:off x="8142790" y="6291662"/>
              <a:ext cx="1409461" cy="338554"/>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后处理数据</a:t>
              </a:r>
              <a:endParaRPr lang="zh-CN" altLang="en-US" sz="1600" dirty="0">
                <a:latin typeface="微软雅黑" panose="020B0503020204020204" charset="-122"/>
                <a:ea typeface="微软雅黑" panose="020B0503020204020204" charset="-122"/>
              </a:endParaRPr>
            </a:p>
          </p:txBody>
        </p:sp>
        <p:sp>
          <p:nvSpPr>
            <p:cNvPr id="76" name="文本框 75"/>
            <p:cNvSpPr txBox="1"/>
            <p:nvPr/>
          </p:nvSpPr>
          <p:spPr>
            <a:xfrm>
              <a:off x="5993830" y="5400862"/>
              <a:ext cx="1863090" cy="337185"/>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自定义数据</a:t>
              </a:r>
              <a:r>
                <a:rPr lang="en-US" altLang="zh-CN" sz="1600" dirty="0">
                  <a:latin typeface="微软雅黑" panose="020B0503020204020204" charset="-122"/>
                  <a:ea typeface="微软雅黑" panose="020B0503020204020204" charset="-122"/>
                </a:rPr>
                <a:t>1</a:t>
              </a:r>
              <a:endParaRPr lang="en-US" altLang="zh-CN" sz="1600" dirty="0">
                <a:latin typeface="微软雅黑" panose="020B0503020204020204" charset="-122"/>
                <a:ea typeface="微软雅黑" panose="020B0503020204020204" charset="-122"/>
              </a:endParaRPr>
            </a:p>
          </p:txBody>
        </p:sp>
        <p:sp>
          <p:nvSpPr>
            <p:cNvPr id="78" name="文本框 77"/>
            <p:cNvSpPr txBox="1"/>
            <p:nvPr/>
          </p:nvSpPr>
          <p:spPr>
            <a:xfrm>
              <a:off x="10093390" y="5400862"/>
              <a:ext cx="1516380" cy="337185"/>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自定义数据</a:t>
              </a:r>
              <a:r>
                <a:rPr lang="en-US" altLang="zh-CN" sz="1600" dirty="0">
                  <a:latin typeface="微软雅黑" panose="020B0503020204020204" charset="-122"/>
                  <a:ea typeface="微软雅黑" panose="020B0503020204020204" charset="-122"/>
                </a:rPr>
                <a:t>2</a:t>
              </a:r>
              <a:endParaRPr lang="en-US" altLang="zh-CN" sz="1600" dirty="0">
                <a:latin typeface="微软雅黑" panose="020B0503020204020204" charset="-122"/>
                <a:ea typeface="微软雅黑" panose="020B0503020204020204" charset="-122"/>
              </a:endParaRPr>
            </a:p>
          </p:txBody>
        </p:sp>
      </p:grpSp>
      <p:sp>
        <p:nvSpPr>
          <p:cNvPr id="79" name="文本框 78"/>
          <p:cNvSpPr txBox="1"/>
          <p:nvPr/>
        </p:nvSpPr>
        <p:spPr>
          <a:xfrm>
            <a:off x="11048494" y="3914272"/>
            <a:ext cx="1115686" cy="523220"/>
          </a:xfrm>
          <a:prstGeom prst="rect">
            <a:avLst/>
          </a:prstGeom>
          <a:noFill/>
        </p:spPr>
        <p:txBody>
          <a:bodyPr wrap="square" rtlCol="0">
            <a:spAutoFit/>
          </a:bodyPr>
          <a:p>
            <a:pPr algn="ctr"/>
            <a:r>
              <a:rPr lang="zh-CN" altLang="en-US" sz="2800" dirty="0">
                <a:latin typeface="微软雅黑" panose="020B0503020204020204" charset="-122"/>
                <a:ea typeface="微软雅黑" panose="020B0503020204020204" charset="-122"/>
              </a:rPr>
              <a:t>获取</a:t>
            </a:r>
            <a:endParaRPr lang="zh-CN" altLang="en-US" sz="2800" dirty="0">
              <a:latin typeface="微软雅黑" panose="020B0503020204020204" charset="-122"/>
              <a:ea typeface="微软雅黑" panose="020B0503020204020204" charset="-122"/>
            </a:endParaRPr>
          </a:p>
        </p:txBody>
      </p:sp>
      <p:sp>
        <p:nvSpPr>
          <p:cNvPr id="80" name="文本框 79"/>
          <p:cNvSpPr txBox="1"/>
          <p:nvPr/>
        </p:nvSpPr>
        <p:spPr>
          <a:xfrm>
            <a:off x="5319463" y="3897795"/>
            <a:ext cx="1115686" cy="523220"/>
          </a:xfrm>
          <a:prstGeom prst="rect">
            <a:avLst/>
          </a:prstGeom>
          <a:noFill/>
        </p:spPr>
        <p:txBody>
          <a:bodyPr wrap="square" rtlCol="0">
            <a:spAutoFit/>
          </a:bodyPr>
          <a:p>
            <a:pPr algn="ctr"/>
            <a:r>
              <a:rPr lang="zh-CN" altLang="en-US" sz="2800" dirty="0">
                <a:latin typeface="微软雅黑" panose="020B0503020204020204" charset="-122"/>
                <a:ea typeface="微软雅黑" panose="020B0503020204020204" charset="-122"/>
              </a:rPr>
              <a:t>注册</a:t>
            </a:r>
            <a:endParaRPr lang="zh-CN" altLang="en-US" sz="2800" dirty="0">
              <a:latin typeface="微软雅黑" panose="020B0503020204020204" charset="-122"/>
              <a:ea typeface="微软雅黑" panose="020B0503020204020204" charset="-122"/>
            </a:endParaRPr>
          </a:p>
        </p:txBody>
      </p:sp>
    </p:spTree>
  </p:cSld>
  <p:clrMapOvr>
    <a:masterClrMapping/>
  </p:clrMapOvr>
  <p:transition spd="slow"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组件生成器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Part09</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pic>
        <p:nvPicPr>
          <p:cNvPr id="7" name="图片 6"/>
          <p:cNvPicPr>
            <a:picLocks noChangeAspect="1"/>
          </p:cNvPicPr>
          <p:nvPr/>
        </p:nvPicPr>
        <p:blipFill>
          <a:blip r:embed="rId2"/>
          <a:stretch>
            <a:fillRect/>
          </a:stretch>
        </p:blipFill>
        <p:spPr>
          <a:xfrm>
            <a:off x="657860" y="2470785"/>
            <a:ext cx="6161405" cy="3515360"/>
          </a:xfrm>
          <a:prstGeom prst="rect">
            <a:avLst/>
          </a:prstGeom>
        </p:spPr>
      </p:pic>
      <p:sp>
        <p:nvSpPr>
          <p:cNvPr id="8" name="文本框 7"/>
          <p:cNvSpPr txBox="1"/>
          <p:nvPr/>
        </p:nvSpPr>
        <p:spPr>
          <a:xfrm>
            <a:off x="741045" y="1026795"/>
            <a:ext cx="10400030" cy="1337945"/>
          </a:xfrm>
          <a:prstGeom prst="rect">
            <a:avLst/>
          </a:prstGeom>
          <a:noFill/>
        </p:spPr>
        <p:txBody>
          <a:bodyPr wrap="square">
            <a:spAutoFit/>
          </a:bodyPr>
          <a:p>
            <a:pPr indent="266700" algn="just">
              <a:lnSpc>
                <a:spcPct val="150000"/>
              </a:lnSpc>
            </a:pPr>
            <a:r>
              <a:rPr lang="en-US" altLang="zh-CN" sz="1800" b="1" dirty="0">
                <a:solidFill>
                  <a:srgbClr val="000000"/>
                </a:solidFill>
                <a:latin typeface="微软雅黑" panose="020B0503020204020204" charset="-122"/>
                <a:ea typeface="微软雅黑" panose="020B0503020204020204" charset="-122"/>
              </a:rPr>
              <a:t>  </a:t>
            </a:r>
            <a:r>
              <a:rPr lang="zh-CN" altLang="en-US" sz="1800">
                <a:latin typeface="微软雅黑" panose="020B0503020204020204" charset="-122"/>
                <a:ea typeface="微软雅黑" panose="020B0503020204020204" charset="-122"/>
                <a:cs typeface="微软雅黑" panose="020B0503020204020204" charset="-122"/>
              </a:rPr>
              <a:t> 组件是FastCAE的重要组成部分，封装了一些具体的业务功能，基于组件进行软件开发能够实现功能的复用，提高软件的开发集成效率。组件生成器的作用是指定在本应用中的使用的组件，并创建软件句柄。</a:t>
            </a:r>
            <a:endParaRPr lang="zh-CN" altLang="en-US" sz="1800">
              <a:latin typeface="微软雅黑" panose="020B0503020204020204" charset="-122"/>
              <a:ea typeface="微软雅黑" panose="020B0503020204020204" charset="-122"/>
              <a:cs typeface="微软雅黑" panose="020B0503020204020204" charset="-122"/>
            </a:endParaRPr>
          </a:p>
        </p:txBody>
      </p:sp>
      <p:grpSp>
        <p:nvGrpSpPr>
          <p:cNvPr id="70" name="组合 69"/>
          <p:cNvGrpSpPr/>
          <p:nvPr/>
        </p:nvGrpSpPr>
        <p:grpSpPr>
          <a:xfrm>
            <a:off x="6641541" y="2220930"/>
            <a:ext cx="5400000" cy="4575292"/>
            <a:chOff x="6708875" y="1958705"/>
            <a:chExt cx="5400000" cy="4575292"/>
          </a:xfrm>
        </p:grpSpPr>
        <p:grpSp>
          <p:nvGrpSpPr>
            <p:cNvPr id="69" name="组合 68"/>
            <p:cNvGrpSpPr/>
            <p:nvPr/>
          </p:nvGrpSpPr>
          <p:grpSpPr>
            <a:xfrm>
              <a:off x="6708875" y="1958705"/>
              <a:ext cx="4860000" cy="4575292"/>
              <a:chOff x="6708875" y="1958705"/>
              <a:chExt cx="4860000" cy="4575292"/>
            </a:xfrm>
          </p:grpSpPr>
          <p:sp>
            <p:nvSpPr>
              <p:cNvPr id="39" name="椭圆 38"/>
              <p:cNvSpPr/>
              <p:nvPr/>
            </p:nvSpPr>
            <p:spPr>
              <a:xfrm>
                <a:off x="7248875" y="2058249"/>
                <a:ext cx="4320000" cy="4320000"/>
              </a:xfrm>
              <a:prstGeom prst="ellipse">
                <a:avLst/>
              </a:prstGeom>
              <a:solidFill>
                <a:schemeClr val="accent1">
                  <a:lumMod val="20000"/>
                  <a:lumOff val="80000"/>
                </a:schemeClr>
              </a:solidFill>
              <a:ln w="1270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8" name="椭圆 27"/>
              <p:cNvSpPr/>
              <p:nvPr/>
            </p:nvSpPr>
            <p:spPr>
              <a:xfrm>
                <a:off x="8173745" y="2958249"/>
                <a:ext cx="2520000" cy="252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0" name="椭圆 9"/>
              <p:cNvSpPr/>
              <p:nvPr/>
            </p:nvSpPr>
            <p:spPr>
              <a:xfrm>
                <a:off x="8688875" y="3498249"/>
                <a:ext cx="1440000" cy="144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1270" algn="ctr">
                  <a:buClr>
                    <a:schemeClr val="tx1"/>
                  </a:buClr>
                  <a:buSzPct val="80000"/>
                </a:pPr>
                <a:r>
                  <a:rPr lang="zh-CN" altLang="en-US" sz="2000" b="1" dirty="0">
                    <a:solidFill>
                      <a:schemeClr val="tx1"/>
                    </a:solidFill>
                    <a:latin typeface="微软雅黑" panose="020B0503020204020204" charset="-122"/>
                    <a:ea typeface="微软雅黑" panose="020B0503020204020204" charset="-122"/>
                    <a:cs typeface="宋体" panose="02010600030101010101" pitchFamily="2" charset="-122"/>
                  </a:rPr>
                  <a:t>组件池</a:t>
                </a:r>
                <a:endParaRPr lang="zh-CN" altLang="en-US" sz="2000" b="1"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11" name="椭圆 10"/>
              <p:cNvSpPr/>
              <p:nvPr/>
            </p:nvSpPr>
            <p:spPr>
              <a:xfrm>
                <a:off x="7177186" y="2281106"/>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en-US" altLang="zh-CN" dirty="0">
                    <a:solidFill>
                      <a:schemeClr val="tx1"/>
                    </a:solidFill>
                    <a:latin typeface="微软雅黑" panose="020B0503020204020204" charset="-122"/>
                    <a:ea typeface="微软雅黑" panose="020B0503020204020204" charset="-122"/>
                    <a:cs typeface="宋体" panose="02010600030101010101" pitchFamily="2" charset="-122"/>
                  </a:rPr>
                  <a:t>VTK</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可视化</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适配器</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8205" y="4128249"/>
                <a:ext cx="939375" cy="720000"/>
              </a:xfrm>
              <a:prstGeom prst="rect">
                <a:avLst/>
              </a:prstGeom>
            </p:spPr>
          </p:pic>
          <p:sp>
            <p:nvSpPr>
              <p:cNvPr id="20" name="矩形 19"/>
              <p:cNvSpPr/>
              <p:nvPr/>
            </p:nvSpPr>
            <p:spPr>
              <a:xfrm>
                <a:off x="8855554" y="3301392"/>
                <a:ext cx="1156381" cy="4191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rstTxWarp prst="textArchUp">
                  <a:avLst/>
                </a:prstTxWarp>
              </a:bodyPr>
              <a:p>
                <a:pPr marL="1270" algn="ctr">
                  <a:buClr>
                    <a:schemeClr val="tx1"/>
                  </a:buClr>
                  <a:buSzPct val="80000"/>
                </a:pPr>
                <a:r>
                  <a:rPr lang="zh-CN" altLang="en-US" sz="2400" b="1" dirty="0">
                    <a:solidFill>
                      <a:schemeClr val="accent2">
                        <a:lumMod val="75000"/>
                      </a:schemeClr>
                    </a:solidFill>
                    <a:latin typeface="微软雅黑" panose="020B0503020204020204" charset="-122"/>
                    <a:ea typeface="微软雅黑" panose="020B0503020204020204" charset="-122"/>
                    <a:cs typeface="宋体" panose="02010600030101010101" pitchFamily="2" charset="-122"/>
                  </a:rPr>
                  <a:t>注    册</a:t>
                </a:r>
                <a:endParaRPr lang="zh-CN" altLang="en-US" sz="2400" b="1" dirty="0">
                  <a:solidFill>
                    <a:schemeClr val="accent2">
                      <a:lumMod val="75000"/>
                    </a:schemeClr>
                  </a:solidFill>
                  <a:latin typeface="微软雅黑" panose="020B0503020204020204" charset="-122"/>
                  <a:ea typeface="微软雅黑" panose="020B0503020204020204" charset="-122"/>
                  <a:cs typeface="宋体" panose="02010600030101010101" pitchFamily="2" charset="-122"/>
                </a:endParaRPr>
              </a:p>
            </p:txBody>
          </p:sp>
          <p:sp>
            <p:nvSpPr>
              <p:cNvPr id="38" name="矩形 37"/>
              <p:cNvSpPr/>
              <p:nvPr/>
            </p:nvSpPr>
            <p:spPr>
              <a:xfrm>
                <a:off x="8855554" y="4849749"/>
                <a:ext cx="1156381" cy="4191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rstTxWarp prst="textArchDown">
                  <a:avLst/>
                </a:prstTxWarp>
              </a:bodyPr>
              <a:p>
                <a:pPr marL="1270" algn="ctr">
                  <a:buClr>
                    <a:schemeClr val="tx1"/>
                  </a:buClr>
                  <a:buSzPct val="80000"/>
                </a:pPr>
                <a:r>
                  <a:rPr lang="zh-CN" altLang="en-US" sz="2400" b="1" dirty="0">
                    <a:solidFill>
                      <a:schemeClr val="accent6">
                        <a:lumMod val="75000"/>
                      </a:schemeClr>
                    </a:solidFill>
                    <a:latin typeface="微软雅黑" panose="020B0503020204020204" charset="-122"/>
                    <a:ea typeface="微软雅黑" panose="020B0503020204020204" charset="-122"/>
                    <a:cs typeface="宋体" panose="02010600030101010101" pitchFamily="2" charset="-122"/>
                  </a:rPr>
                  <a:t>获    取</a:t>
                </a:r>
                <a:endParaRPr lang="zh-CN" altLang="en-US" sz="2400" b="1" dirty="0">
                  <a:solidFill>
                    <a:schemeClr val="accent6">
                      <a:lumMod val="75000"/>
                    </a:schemeClr>
                  </a:solidFill>
                  <a:latin typeface="微软雅黑" panose="020B0503020204020204" charset="-122"/>
                  <a:ea typeface="微软雅黑" panose="020B0503020204020204" charset="-122"/>
                  <a:cs typeface="宋体" panose="02010600030101010101" pitchFamily="2" charset="-122"/>
                </a:endParaRPr>
              </a:p>
            </p:txBody>
          </p:sp>
          <p:sp>
            <p:nvSpPr>
              <p:cNvPr id="40" name="椭圆 39"/>
              <p:cNvSpPr/>
              <p:nvPr/>
            </p:nvSpPr>
            <p:spPr>
              <a:xfrm>
                <a:off x="6708875" y="3678249"/>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en-US" altLang="zh-CN" dirty="0">
                    <a:solidFill>
                      <a:schemeClr val="tx1"/>
                    </a:solidFill>
                    <a:latin typeface="微软雅黑" panose="020B0503020204020204" charset="-122"/>
                    <a:ea typeface="微软雅黑" panose="020B0503020204020204" charset="-122"/>
                    <a:cs typeface="宋体" panose="02010600030101010101" pitchFamily="2" charset="-122"/>
                  </a:rPr>
                  <a:t>VTK</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渲染</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窗口</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1" name="椭圆 40"/>
              <p:cNvSpPr/>
              <p:nvPr/>
            </p:nvSpPr>
            <p:spPr>
              <a:xfrm>
                <a:off x="7177186" y="5124444"/>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二维绘制</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窗口</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2" name="椭圆 41"/>
              <p:cNvSpPr/>
              <p:nvPr/>
            </p:nvSpPr>
            <p:spPr>
              <a:xfrm>
                <a:off x="10441323" y="2281060"/>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软件许可</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证</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4" name="椭圆 43"/>
              <p:cNvSpPr/>
              <p:nvPr/>
            </p:nvSpPr>
            <p:spPr>
              <a:xfrm>
                <a:off x="10441323" y="5124444"/>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工程文件读取</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7" name="箭头: 下 66"/>
              <p:cNvSpPr/>
              <p:nvPr/>
            </p:nvSpPr>
            <p:spPr>
              <a:xfrm>
                <a:off x="8974044" y="1958705"/>
                <a:ext cx="927279" cy="810243"/>
              </a:xfrm>
              <a:prstGeom prst="downArrow">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accent2">
                      <a:lumMod val="40000"/>
                      <a:lumOff val="60000"/>
                    </a:schemeClr>
                  </a:solidFill>
                  <a:latin typeface="微软雅黑" panose="020B0503020204020204" charset="-122"/>
                  <a:ea typeface="微软雅黑" panose="020B0503020204020204" charset="-122"/>
                  <a:cs typeface="宋体" panose="02010600030101010101" pitchFamily="2" charset="-122"/>
                </a:endParaRPr>
              </a:p>
            </p:txBody>
          </p:sp>
          <p:sp>
            <p:nvSpPr>
              <p:cNvPr id="68" name="箭头: 下 67"/>
              <p:cNvSpPr/>
              <p:nvPr/>
            </p:nvSpPr>
            <p:spPr>
              <a:xfrm>
                <a:off x="8986714" y="5723754"/>
                <a:ext cx="927279" cy="810243"/>
              </a:xfrm>
              <a:prstGeom prst="downArrow">
                <a:avLst/>
              </a:prstGeom>
              <a:solidFill>
                <a:schemeClr val="accent6">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grpSp>
        <p:sp>
          <p:nvSpPr>
            <p:cNvPr id="43" name="椭圆 42"/>
            <p:cNvSpPr/>
            <p:nvPr/>
          </p:nvSpPr>
          <p:spPr>
            <a:xfrm>
              <a:off x="11028875" y="3678249"/>
              <a:ext cx="1080000" cy="1080000"/>
            </a:xfrm>
            <a:prstGeom prst="ellipse">
              <a:avLst/>
            </a:prstGeom>
            <a:solidFill>
              <a:schemeClr val="bg1"/>
            </a:solidFill>
            <a:ln w="19050">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marL="1270" algn="ctr">
                <a:buClr>
                  <a:schemeClr val="tx1"/>
                </a:buClr>
                <a:buSzPct val="80000"/>
              </a:pPr>
              <a:r>
                <a:rPr lang="en-US" altLang="zh-CN" dirty="0">
                  <a:solidFill>
                    <a:schemeClr val="tx1"/>
                  </a:solidFill>
                  <a:latin typeface="微软雅黑" panose="020B0503020204020204" charset="-122"/>
                  <a:ea typeface="微软雅黑" panose="020B0503020204020204" charset="-122"/>
                  <a:cs typeface="宋体" panose="02010600030101010101" pitchFamily="2" charset="-122"/>
                </a:rPr>
                <a:t>INP</a:t>
              </a:r>
              <a:r>
                <a:rPr lang="zh-CN" altLang="en-US" dirty="0">
                  <a:solidFill>
                    <a:schemeClr val="tx1"/>
                  </a:solidFill>
                  <a:latin typeface="微软雅黑" panose="020B0503020204020204" charset="-122"/>
                  <a:ea typeface="微软雅黑" panose="020B0503020204020204" charset="-122"/>
                  <a:cs typeface="宋体" panose="02010600030101010101" pitchFamily="2" charset="-122"/>
                </a:rPr>
                <a:t>文件读取</a:t>
              </a: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grpSp>
    </p:spTree>
  </p:cSld>
  <p:clrMapOvr>
    <a:masterClrMapping/>
  </p:clrMapOvr>
  <p:transition spd="slow" advClick="0"/>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可执行程序驱动器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Part10</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8" name="文本框 7"/>
          <p:cNvSpPr txBox="1"/>
          <p:nvPr/>
        </p:nvSpPr>
        <p:spPr>
          <a:xfrm>
            <a:off x="741045" y="1051560"/>
            <a:ext cx="10102215" cy="922020"/>
          </a:xfrm>
          <a:prstGeom prst="rect">
            <a:avLst/>
          </a:prstGeom>
          <a:noFill/>
        </p:spPr>
        <p:txBody>
          <a:bodyPr wrap="square">
            <a:spAutoFit/>
          </a:bodyPr>
          <a:p>
            <a:pPr indent="266700" algn="just">
              <a:lnSpc>
                <a:spcPct val="150000"/>
              </a:lnSpc>
            </a:pPr>
            <a:r>
              <a:rPr lang="en-US" altLang="zh-CN" kern="100" dirty="0">
                <a:effectLst/>
                <a:latin typeface="微软雅黑" panose="020B0503020204020204" charset="-122"/>
                <a:ea typeface="微软雅黑" panose="020B0503020204020204" charset="-122"/>
                <a:cs typeface="Times New Roman" panose="02020603050405020304" pitchFamily="18" charset="0"/>
                <a:sym typeface="+mn-ea"/>
              </a:rPr>
              <a:t>   </a:t>
            </a:r>
            <a:r>
              <a:rPr lang="zh-CN" altLang="en-US">
                <a:latin typeface="微软雅黑" panose="020B0503020204020204" charset="-122"/>
                <a:ea typeface="微软雅黑" panose="020B0503020204020204" charset="-122"/>
                <a:cs typeface="微软雅黑" panose="020B0503020204020204" charset="-122"/>
                <a:sym typeface="+mn-ea"/>
              </a:rPr>
              <a:t>可执行程序驱动用于FastCAE驱动第三方可执行程序。在程序运行时经常会需要集成第三方应用程序来满足软件的扩展性，驱动程序中提供了一些访问接口如下：</a:t>
            </a:r>
            <a:endParaRPr lang="zh-CN" altLang="en-US" sz="1800">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stretch>
            <a:fillRect/>
          </a:stretch>
        </p:blipFill>
        <p:spPr>
          <a:xfrm>
            <a:off x="595745" y="1936484"/>
            <a:ext cx="5908049" cy="4736753"/>
          </a:xfrm>
          <a:prstGeom prst="rect">
            <a:avLst/>
          </a:prstGeom>
        </p:spPr>
      </p:pic>
      <p:sp>
        <p:nvSpPr>
          <p:cNvPr id="2" name="矩形: 圆角 49"/>
          <p:cNvSpPr/>
          <p:nvPr/>
        </p:nvSpPr>
        <p:spPr>
          <a:xfrm>
            <a:off x="6797675" y="2005753"/>
            <a:ext cx="4578350" cy="2216268"/>
          </a:xfrm>
          <a:prstGeom prst="roundRect">
            <a:avLst/>
          </a:prstGeom>
          <a:solidFill>
            <a:srgbClr val="FFF2CC"/>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rcRect l="15929" t="12894" r="14177" b="14329"/>
          <a:stretch>
            <a:fillRect/>
          </a:stretch>
        </p:blipFill>
        <p:spPr>
          <a:xfrm>
            <a:off x="7854432" y="2052915"/>
            <a:ext cx="503237" cy="523990"/>
          </a:xfrm>
          <a:prstGeom prst="rect">
            <a:avLst/>
          </a:prstGeom>
          <a:ln w="19050">
            <a:noFill/>
          </a:ln>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4432" y="4861448"/>
            <a:ext cx="540000" cy="540000"/>
          </a:xfrm>
          <a:prstGeom prst="rect">
            <a:avLst/>
          </a:prstGeom>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89187" y="5706658"/>
            <a:ext cx="540000" cy="540000"/>
          </a:xfrm>
          <a:prstGeom prst="rect">
            <a:avLst/>
          </a:prstGeom>
        </p:spPr>
      </p:pic>
      <p:pic>
        <p:nvPicPr>
          <p:cNvPr id="21" name="图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75943" y="2910078"/>
            <a:ext cx="540000" cy="540000"/>
          </a:xfrm>
          <a:prstGeom prst="rect">
            <a:avLst/>
          </a:prstGeom>
        </p:spPr>
      </p:pic>
      <p:pic>
        <p:nvPicPr>
          <p:cNvPr id="45" name="图片 4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11043" y="2910078"/>
            <a:ext cx="540000" cy="540000"/>
          </a:xfrm>
          <a:prstGeom prst="rect">
            <a:avLst/>
          </a:prstGeom>
        </p:spPr>
      </p:pic>
      <p:pic>
        <p:nvPicPr>
          <p:cNvPr id="47" name="图片 4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46143" y="2910078"/>
            <a:ext cx="540000" cy="540000"/>
          </a:xfrm>
          <a:prstGeom prst="rect">
            <a:avLst/>
          </a:prstGeom>
        </p:spPr>
      </p:pic>
      <p:sp>
        <p:nvSpPr>
          <p:cNvPr id="48" name="文本框 47"/>
          <p:cNvSpPr txBox="1"/>
          <p:nvPr/>
        </p:nvSpPr>
        <p:spPr>
          <a:xfrm>
            <a:off x="8508739" y="2140907"/>
            <a:ext cx="2045073" cy="369332"/>
          </a:xfrm>
          <a:prstGeom prst="rect">
            <a:avLst/>
          </a:prstGeom>
          <a:noFill/>
          <a:ln>
            <a:noFill/>
          </a:ln>
        </p:spPr>
        <p:txBody>
          <a:bodyPr wrap="square" rtlCol="0">
            <a:spAutoFit/>
          </a:bodyPr>
          <a:p>
            <a:r>
              <a:rPr lang="zh-CN" altLang="en-US" dirty="0">
                <a:latin typeface="微软雅黑" panose="020B0503020204020204" charset="-122"/>
                <a:ea typeface="微软雅黑" panose="020B0503020204020204" charset="-122"/>
              </a:rPr>
              <a:t>第三方可执行程序</a:t>
            </a:r>
            <a:endParaRPr lang="zh-CN" altLang="en-US" dirty="0">
              <a:latin typeface="微软雅黑" panose="020B0503020204020204" charset="-122"/>
              <a:ea typeface="微软雅黑" panose="020B0503020204020204" charset="-122"/>
            </a:endParaRPr>
          </a:p>
        </p:txBody>
      </p:sp>
      <p:sp>
        <p:nvSpPr>
          <p:cNvPr id="51" name="文本框 50"/>
          <p:cNvSpPr txBox="1"/>
          <p:nvPr/>
        </p:nvSpPr>
        <p:spPr>
          <a:xfrm>
            <a:off x="6872153" y="3521736"/>
            <a:ext cx="1747580" cy="584775"/>
          </a:xfrm>
          <a:prstGeom prst="rect">
            <a:avLst/>
          </a:prstGeom>
          <a:noFill/>
          <a:ln>
            <a:noFill/>
          </a:ln>
        </p:spPr>
        <p:txBody>
          <a:bodyPr wrap="square" rtlCol="0">
            <a:spAutoFit/>
          </a:bodyPr>
          <a:p>
            <a:pPr algn="ctr"/>
            <a:r>
              <a:rPr lang="zh-CN" altLang="en-US" sz="1600" dirty="0">
                <a:latin typeface="微软雅黑" panose="020B0503020204020204" charset="-122"/>
                <a:ea typeface="微软雅黑" panose="020B0503020204020204" charset="-122"/>
              </a:rPr>
              <a:t>设置路径</a:t>
            </a:r>
            <a:endParaRPr lang="en-US" altLang="zh-CN" sz="1600" dirty="0">
              <a:latin typeface="微软雅黑" panose="020B0503020204020204" charset="-122"/>
              <a:ea typeface="微软雅黑" panose="020B0503020204020204" charset="-122"/>
            </a:endParaRPr>
          </a:p>
          <a:p>
            <a:pPr algn="ct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绝对</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相对</a:t>
            </a:r>
            <a:r>
              <a:rPr lang="en-US" altLang="zh-CN"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52" name="文本框 51"/>
          <p:cNvSpPr txBox="1"/>
          <p:nvPr/>
        </p:nvSpPr>
        <p:spPr>
          <a:xfrm>
            <a:off x="8776418" y="3628796"/>
            <a:ext cx="809247" cy="369332"/>
          </a:xfrm>
          <a:prstGeom prst="rect">
            <a:avLst/>
          </a:prstGeom>
          <a:noFill/>
          <a:ln>
            <a:noFill/>
          </a:ln>
        </p:spPr>
        <p:txBody>
          <a:bodyPr wrap="square" rtlCol="0">
            <a:spAutoFit/>
          </a:bodyPr>
          <a:p>
            <a:pPr algn="ctr"/>
            <a:r>
              <a:rPr lang="zh-CN" altLang="en-US" dirty="0">
                <a:latin typeface="微软雅黑" panose="020B0503020204020204" charset="-122"/>
                <a:ea typeface="微软雅黑" panose="020B0503020204020204" charset="-122"/>
              </a:rPr>
              <a:t>启动</a:t>
            </a:r>
            <a:endParaRPr lang="zh-CN" altLang="en-US" dirty="0">
              <a:latin typeface="微软雅黑" panose="020B0503020204020204" charset="-122"/>
              <a:ea typeface="微软雅黑" panose="020B0503020204020204" charset="-122"/>
            </a:endParaRPr>
          </a:p>
        </p:txBody>
      </p:sp>
      <p:sp>
        <p:nvSpPr>
          <p:cNvPr id="53" name="文本框 52"/>
          <p:cNvSpPr txBox="1"/>
          <p:nvPr/>
        </p:nvSpPr>
        <p:spPr>
          <a:xfrm>
            <a:off x="10211519" y="3633245"/>
            <a:ext cx="809247" cy="369332"/>
          </a:xfrm>
          <a:prstGeom prst="rect">
            <a:avLst/>
          </a:prstGeom>
          <a:noFill/>
          <a:ln>
            <a:noFill/>
          </a:ln>
        </p:spPr>
        <p:txBody>
          <a:bodyPr wrap="square" rtlCol="0">
            <a:spAutoFit/>
          </a:bodyPr>
          <a:p>
            <a:pPr algn="ctr"/>
            <a:r>
              <a:rPr lang="zh-CN" altLang="en-US" dirty="0">
                <a:latin typeface="微软雅黑" panose="020B0503020204020204" charset="-122"/>
                <a:ea typeface="微软雅黑" panose="020B0503020204020204" charset="-122"/>
              </a:rPr>
              <a:t>关闭</a:t>
            </a:r>
            <a:endParaRPr lang="zh-CN" altLang="en-US" dirty="0">
              <a:latin typeface="微软雅黑" panose="020B0503020204020204" charset="-122"/>
              <a:ea typeface="微软雅黑" panose="020B0503020204020204" charset="-122"/>
            </a:endParaRPr>
          </a:p>
        </p:txBody>
      </p:sp>
      <p:sp>
        <p:nvSpPr>
          <p:cNvPr id="54" name="文本框 53"/>
          <p:cNvSpPr txBox="1"/>
          <p:nvPr/>
        </p:nvSpPr>
        <p:spPr>
          <a:xfrm>
            <a:off x="8711875" y="4892854"/>
            <a:ext cx="1747580" cy="369332"/>
          </a:xfrm>
          <a:prstGeom prst="rect">
            <a:avLst/>
          </a:prstGeom>
          <a:noFill/>
          <a:ln>
            <a:noFill/>
          </a:ln>
        </p:spPr>
        <p:txBody>
          <a:bodyPr wrap="square" rtlCol="0">
            <a:spAutoFit/>
          </a:bodyPr>
          <a:p>
            <a:pPr algn="ctr"/>
            <a:r>
              <a:rPr lang="zh-CN" altLang="en-US" dirty="0">
                <a:latin typeface="微软雅黑" panose="020B0503020204020204" charset="-122"/>
                <a:ea typeface="微软雅黑" panose="020B0503020204020204" charset="-122"/>
              </a:rPr>
              <a:t>获取程序类型</a:t>
            </a:r>
            <a:endParaRPr lang="zh-CN" altLang="en-US" dirty="0">
              <a:latin typeface="微软雅黑" panose="020B0503020204020204" charset="-122"/>
              <a:ea typeface="微软雅黑" panose="020B0503020204020204" charset="-122"/>
            </a:endParaRPr>
          </a:p>
        </p:txBody>
      </p:sp>
      <p:sp>
        <p:nvSpPr>
          <p:cNvPr id="55" name="文本框 54"/>
          <p:cNvSpPr txBox="1"/>
          <p:nvPr/>
        </p:nvSpPr>
        <p:spPr>
          <a:xfrm>
            <a:off x="8711875" y="5811730"/>
            <a:ext cx="1747580" cy="369332"/>
          </a:xfrm>
          <a:prstGeom prst="rect">
            <a:avLst/>
          </a:prstGeom>
          <a:noFill/>
          <a:ln>
            <a:noFill/>
          </a:ln>
        </p:spPr>
        <p:txBody>
          <a:bodyPr wrap="square" rtlCol="0">
            <a:spAutoFit/>
          </a:bodyPr>
          <a:p>
            <a:pPr algn="ctr"/>
            <a:r>
              <a:rPr lang="zh-CN" altLang="en-US" dirty="0">
                <a:latin typeface="微软雅黑" panose="020B0503020204020204" charset="-122"/>
                <a:ea typeface="微软雅黑" panose="020B0503020204020204" charset="-122"/>
              </a:rPr>
              <a:t>获取程序名称</a:t>
            </a:r>
            <a:endParaRPr lang="zh-CN" altLang="en-US" dirty="0">
              <a:latin typeface="微软雅黑" panose="020B0503020204020204" charset="-122"/>
              <a:ea typeface="微软雅黑" panose="020B0503020204020204" charset="-122"/>
            </a:endParaRPr>
          </a:p>
        </p:txBody>
      </p:sp>
      <p:sp>
        <p:nvSpPr>
          <p:cNvPr id="57" name="矩形: 圆角 56"/>
          <p:cNvSpPr/>
          <p:nvPr/>
        </p:nvSpPr>
        <p:spPr>
          <a:xfrm>
            <a:off x="7142692" y="2729456"/>
            <a:ext cx="4076700" cy="45719"/>
          </a:xfrm>
          <a:prstGeom prst="roundRect">
            <a:avLst/>
          </a:prstGeom>
          <a:gradFill flip="none" rotWithShape="1">
            <a:gsLst>
              <a:gs pos="0">
                <a:schemeClr val="accent1">
                  <a:lumMod val="75000"/>
                </a:schemeClr>
              </a:gs>
              <a:gs pos="100000">
                <a:schemeClr val="accent4">
                  <a:lumMod val="20000"/>
                  <a:lumOff val="80000"/>
                </a:schemeClr>
              </a:gs>
            </a:gsLst>
            <a:path path="circle">
              <a:fillToRect l="50000" t="50000" r="50000" b="50000"/>
            </a:path>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2" name="矩形: 圆角 60"/>
          <p:cNvSpPr/>
          <p:nvPr/>
        </p:nvSpPr>
        <p:spPr>
          <a:xfrm>
            <a:off x="6797675" y="4637027"/>
            <a:ext cx="4578350" cy="183775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cxnSp>
        <p:nvCxnSpPr>
          <p:cNvPr id="63" name="直接连接符 62"/>
          <p:cNvCxnSpPr>
            <a:stCxn id="22" idx="1"/>
            <a:endCxn id="22" idx="3"/>
          </p:cNvCxnSpPr>
          <p:nvPr/>
        </p:nvCxnSpPr>
        <p:spPr>
          <a:xfrm>
            <a:off x="6797675" y="5555903"/>
            <a:ext cx="4578350"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可执行程序驱动器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8" name="文本框 7"/>
          <p:cNvSpPr txBox="1"/>
          <p:nvPr/>
        </p:nvSpPr>
        <p:spPr>
          <a:xfrm>
            <a:off x="532130" y="1076325"/>
            <a:ext cx="10454005" cy="922020"/>
          </a:xfrm>
          <a:prstGeom prst="rect">
            <a:avLst/>
          </a:prstGeom>
          <a:noFill/>
        </p:spPr>
        <p:txBody>
          <a:bodyPr wrap="square">
            <a:spAutoFit/>
          </a:bodyPr>
          <a:p>
            <a:pPr indent="266700" algn="just">
              <a:lnSpc>
                <a:spcPct val="150000"/>
              </a:lnSpc>
            </a:pPr>
            <a:r>
              <a:rPr lang="en-US" altLang="zh-CN" kern="100" dirty="0">
                <a:effectLst/>
                <a:latin typeface="微软雅黑" panose="020B0503020204020204" charset="-122"/>
                <a:ea typeface="微软雅黑" panose="020B0503020204020204" charset="-122"/>
                <a:cs typeface="Times New Roman" panose="02020603050405020304" pitchFamily="18" charset="0"/>
                <a:sym typeface="+mn-ea"/>
              </a:rPr>
              <a:t>   </a:t>
            </a:r>
            <a:r>
              <a:rPr lang="zh-CN" altLang="en-US">
                <a:latin typeface="微软雅黑" panose="020B0503020204020204" charset="-122"/>
                <a:ea typeface="微软雅黑" panose="020B0503020204020204" charset="-122"/>
                <a:cs typeface="微软雅黑" panose="020B0503020204020204" charset="-122"/>
                <a:sym typeface="+mn-ea"/>
              </a:rPr>
              <a:t>第三方程序驱动输入信息：可执行程序驱动在驱动时，需要输入一些所需的命令信息，对象注册到应用程序框架中，相关虚函数的执行逻辑将会自动被调用，可执行程序驱动使用代码示例如下</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sz="1800" b="1"/>
          </a:p>
        </p:txBody>
      </p:sp>
      <p:pic>
        <p:nvPicPr>
          <p:cNvPr id="10" name="图片 9"/>
          <p:cNvPicPr>
            <a:picLocks noChangeAspect="1"/>
          </p:cNvPicPr>
          <p:nvPr/>
        </p:nvPicPr>
        <p:blipFill>
          <a:blip r:embed="rId2"/>
          <a:stretch>
            <a:fillRect/>
          </a:stretch>
        </p:blipFill>
        <p:spPr>
          <a:xfrm>
            <a:off x="595630" y="1998345"/>
            <a:ext cx="6559550" cy="4732655"/>
          </a:xfrm>
          <a:prstGeom prst="rect">
            <a:avLst/>
          </a:prstGeom>
        </p:spPr>
      </p:pic>
      <p:sp>
        <p:nvSpPr>
          <p:cNvPr id="29" name="矩形 28"/>
          <p:cNvSpPr/>
          <p:nvPr/>
        </p:nvSpPr>
        <p:spPr>
          <a:xfrm>
            <a:off x="6428740" y="4041775"/>
            <a:ext cx="4180205" cy="1021715"/>
          </a:xfrm>
          <a:prstGeom prst="rect">
            <a:avLst/>
          </a:prstGeom>
        </p:spPr>
        <p:style>
          <a:lnRef idx="2">
            <a:schemeClr val="accent5"/>
          </a:lnRef>
          <a:fillRef idx="1">
            <a:schemeClr val="lt1"/>
          </a:fillRef>
          <a:effectRef idx="0">
            <a:schemeClr val="accent5"/>
          </a:effectRef>
          <a:fontRef idx="minor">
            <a:schemeClr val="dk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7" name="文本框 6"/>
          <p:cNvSpPr txBox="1"/>
          <p:nvPr>
            <p:custDataLst>
              <p:tags r:id="rId3"/>
            </p:custDataLst>
          </p:nvPr>
        </p:nvSpPr>
        <p:spPr>
          <a:xfrm>
            <a:off x="6526530" y="4202430"/>
            <a:ext cx="1784985" cy="674370"/>
          </a:xfrm>
          <a:prstGeom prst="rect">
            <a:avLst/>
          </a:prstGeom>
          <a:solidFill>
            <a:srgbClr val="256DF5"/>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可执行程序路径</a:t>
            </a:r>
            <a:endParaRPr lang="zh-CN" altLang="en-US" b="1" dirty="0">
              <a:solidFill>
                <a:schemeClr val="bg1"/>
              </a:solidFill>
              <a:latin typeface="微软雅黑" panose="020B0503020204020204" charset="-122"/>
              <a:ea typeface="微软雅黑" panose="020B0503020204020204" charset="-122"/>
            </a:endParaRPr>
          </a:p>
        </p:txBody>
      </p:sp>
      <p:sp>
        <p:nvSpPr>
          <p:cNvPr id="11" name="文本框 10"/>
          <p:cNvSpPr txBox="1"/>
          <p:nvPr>
            <p:custDataLst>
              <p:tags r:id="rId4"/>
            </p:custDataLst>
          </p:nvPr>
        </p:nvSpPr>
        <p:spPr>
          <a:xfrm>
            <a:off x="8907145" y="4202430"/>
            <a:ext cx="1612265" cy="674370"/>
          </a:xfrm>
          <a:prstGeom prst="rect">
            <a:avLst/>
          </a:prstGeom>
          <a:solidFill>
            <a:srgbClr val="256DF5"/>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命令行参数</a:t>
            </a:r>
            <a:endParaRPr lang="zh-CN" altLang="en-US" b="1" dirty="0">
              <a:solidFill>
                <a:schemeClr val="bg1"/>
              </a:solidFill>
              <a:latin typeface="微软雅黑" panose="020B0503020204020204" charset="-122"/>
              <a:ea typeface="微软雅黑" panose="020B0503020204020204" charset="-122"/>
            </a:endParaRPr>
          </a:p>
        </p:txBody>
      </p:sp>
      <p:sp>
        <p:nvSpPr>
          <p:cNvPr id="19" name="加号 18"/>
          <p:cNvSpPr/>
          <p:nvPr/>
        </p:nvSpPr>
        <p:spPr>
          <a:xfrm>
            <a:off x="8335380" y="4278657"/>
            <a:ext cx="563153" cy="522511"/>
          </a:xfrm>
          <a:prstGeom prst="mathPlu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0" name="箭头: 上弧形 7"/>
          <p:cNvSpPr/>
          <p:nvPr/>
        </p:nvSpPr>
        <p:spPr>
          <a:xfrm rot="5400000">
            <a:off x="10385932" y="3295361"/>
            <a:ext cx="1563666" cy="746133"/>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3" name="文本框 22"/>
          <p:cNvSpPr txBox="1"/>
          <p:nvPr>
            <p:custDataLst>
              <p:tags r:id="rId5"/>
            </p:custDataLst>
          </p:nvPr>
        </p:nvSpPr>
        <p:spPr>
          <a:xfrm>
            <a:off x="6428740" y="2578735"/>
            <a:ext cx="4185920" cy="674370"/>
          </a:xfrm>
          <a:prstGeom prst="rect">
            <a:avLst/>
          </a:prstGeom>
          <a:solidFill>
            <a:srgbClr val="00B050"/>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可执行程序管理器</a:t>
            </a:r>
            <a:endParaRPr lang="zh-CN" altLang="en-US" b="1" dirty="0">
              <a:solidFill>
                <a:schemeClr val="bg1"/>
              </a:solidFill>
              <a:latin typeface="微软雅黑" panose="020B0503020204020204" charset="-122"/>
              <a:ea typeface="微软雅黑" panose="020B0503020204020204" charset="-122"/>
            </a:endParaRPr>
          </a:p>
        </p:txBody>
      </p:sp>
      <p:sp>
        <p:nvSpPr>
          <p:cNvPr id="30" name="文本框 29"/>
          <p:cNvSpPr txBox="1"/>
          <p:nvPr/>
        </p:nvSpPr>
        <p:spPr>
          <a:xfrm>
            <a:off x="9497615" y="3462829"/>
            <a:ext cx="1987421" cy="369332"/>
          </a:xfrm>
          <a:prstGeom prst="rect">
            <a:avLst/>
          </a:prstGeom>
          <a:noFill/>
        </p:spPr>
        <p:txBody>
          <a:bodyPr wrap="square" rtlCol="0">
            <a:spAutoFit/>
          </a:bodyPr>
          <a:p>
            <a:pPr algn="ctr"/>
            <a:r>
              <a:rPr lang="zh-CN" altLang="en-US" dirty="0">
                <a:latin typeface="微软雅黑" panose="020B0503020204020204" charset="-122"/>
                <a:ea typeface="微软雅黑" panose="020B0503020204020204" charset="-122"/>
              </a:rPr>
              <a:t>获取可执行程序</a:t>
            </a:r>
            <a:endParaRPr lang="zh-CN" altLang="en-US" dirty="0">
              <a:latin typeface="微软雅黑" panose="020B0503020204020204" charset="-122"/>
              <a:ea typeface="微软雅黑" panose="020B0503020204020204" charset="-122"/>
            </a:endParaRPr>
          </a:p>
        </p:txBody>
      </p:sp>
    </p:spTree>
  </p:cSld>
  <p:clrMapOvr>
    <a:masterClrMapping/>
  </p:clrMapOvr>
  <p:transition spd="slow" advClick="0"/>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427480" y="4754245"/>
            <a:ext cx="5029835" cy="910590"/>
          </a:xfrm>
          <a:prstGeom prst="rect">
            <a:avLst/>
          </a:prstGeom>
        </p:spPr>
      </p:pic>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事件操作器</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033145"/>
            <a:ext cx="10570210" cy="922020"/>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rPr>
              <a:t>FITKActionOperator点击事件处理器，用于实现事件的处理逻辑。取消了Qt的信号与槽的关联。通过继承该类实现，要求操作器必须有一个无参的构造函数。</a:t>
            </a:r>
            <a:endPar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文本框 3"/>
          <p:cNvSpPr txBox="1"/>
          <p:nvPr/>
        </p:nvSpPr>
        <p:spPr>
          <a:xfrm>
            <a:off x="740410" y="5355590"/>
            <a:ext cx="10570210" cy="1374140"/>
          </a:xfrm>
          <a:prstGeom prst="rect">
            <a:avLst/>
          </a:prstGeom>
          <a:noFill/>
        </p:spPr>
        <p:txBody>
          <a:bodyPr wrap="square" rtlCol="0">
            <a:noAutofit/>
          </a:bodyPr>
          <a:p>
            <a:pPr>
              <a:lnSpc>
                <a:spcPct val="150000"/>
              </a:lnSpc>
            </a:pPr>
            <a:r>
              <a:rPr lang="en-US" altLang="zh-CN"/>
              <a:t>      </a:t>
            </a:r>
            <a:r>
              <a:rPr lang="zh-CN" altLang="en-US">
                <a:latin typeface="微软雅黑" panose="020B0503020204020204" charset="-122"/>
                <a:ea typeface="微软雅黑" panose="020B0503020204020204" charset="-122"/>
                <a:cs typeface="微软雅黑" panose="020B0503020204020204" charset="-122"/>
              </a:rPr>
              <a:t> 然后将Operator注册到Operator仓库（FITKOperatorRepo），与数据工厂相似，操作器仓库也提供了注册宏—Register2FITKOPeratorRepo。注册时需要两个参数，第一个参数是一个字符串，第二个是操作器类名。注册的时候，一个字符串只能对应一个操作器，而一个操作器可以对应多个字符串。</a:t>
            </a:r>
            <a:endParaRPr lang="zh-CN" altLang="en-US">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3"/>
          <a:stretch>
            <a:fillRect/>
          </a:stretch>
        </p:blipFill>
        <p:spPr>
          <a:xfrm>
            <a:off x="1475105" y="1897380"/>
            <a:ext cx="3569335" cy="2904490"/>
          </a:xfrm>
          <a:prstGeom prst="rect">
            <a:avLst/>
          </a:prstGeom>
        </p:spPr>
      </p:pic>
      <p:sp>
        <p:nvSpPr>
          <p:cNvPr id="23" name="文本框 22"/>
          <p:cNvSpPr txBox="1"/>
          <p:nvPr>
            <p:custDataLst>
              <p:tags r:id="rId4"/>
            </p:custDataLst>
          </p:nvPr>
        </p:nvSpPr>
        <p:spPr>
          <a:xfrm>
            <a:off x="6826250" y="2332355"/>
            <a:ext cx="3887470" cy="674370"/>
          </a:xfrm>
          <a:prstGeom prst="rect">
            <a:avLst/>
          </a:prstGeom>
          <a:solidFill>
            <a:srgbClr val="00B050"/>
          </a:solidFill>
        </p:spPr>
        <p:txBody>
          <a:bodyPr wrap="square" rtlCol="0" anchor="ctr" anchorCtr="0">
            <a:noAutofit/>
          </a:bodyPr>
          <a:p>
            <a:pPr algn="ctr"/>
            <a:r>
              <a:rPr lang="en-US" altLang="zh-CN" b="1" dirty="0">
                <a:solidFill>
                  <a:schemeClr val="bg1"/>
                </a:solidFill>
                <a:latin typeface="微软雅黑" panose="020B0503020204020204" charset="-122"/>
                <a:ea typeface="微软雅黑" panose="020B0503020204020204" charset="-122"/>
              </a:rPr>
              <a:t>UI</a:t>
            </a:r>
            <a:r>
              <a:rPr lang="zh-CN" altLang="en-US" b="1" dirty="0">
                <a:solidFill>
                  <a:schemeClr val="bg1"/>
                </a:solidFill>
                <a:latin typeface="微软雅黑" panose="020B0503020204020204" charset="-122"/>
                <a:ea typeface="微软雅黑" panose="020B0503020204020204" charset="-122"/>
              </a:rPr>
              <a:t>层</a:t>
            </a:r>
            <a:endParaRPr lang="zh-CN" altLang="en-US" b="1" dirty="0">
              <a:solidFill>
                <a:schemeClr val="bg1"/>
              </a:solidFill>
              <a:latin typeface="微软雅黑" panose="020B0503020204020204" charset="-122"/>
              <a:ea typeface="微软雅黑" panose="020B0503020204020204" charset="-122"/>
            </a:endParaRPr>
          </a:p>
        </p:txBody>
      </p:sp>
      <p:sp>
        <p:nvSpPr>
          <p:cNvPr id="10" name="文本框 9"/>
          <p:cNvSpPr txBox="1"/>
          <p:nvPr>
            <p:custDataLst>
              <p:tags r:id="rId5"/>
            </p:custDataLst>
          </p:nvPr>
        </p:nvSpPr>
        <p:spPr>
          <a:xfrm>
            <a:off x="6820535" y="3478530"/>
            <a:ext cx="3887470" cy="674370"/>
          </a:xfrm>
          <a:prstGeom prst="rect">
            <a:avLst/>
          </a:prstGeom>
          <a:solidFill>
            <a:srgbClr val="00B050"/>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操作器</a:t>
            </a:r>
            <a:endParaRPr lang="zh-CN" altLang="en-US" b="1" dirty="0">
              <a:solidFill>
                <a:schemeClr val="bg1"/>
              </a:solidFill>
              <a:latin typeface="微软雅黑" panose="020B0503020204020204" charset="-122"/>
              <a:ea typeface="微软雅黑" panose="020B0503020204020204" charset="-122"/>
            </a:endParaRPr>
          </a:p>
        </p:txBody>
      </p:sp>
      <p:sp>
        <p:nvSpPr>
          <p:cNvPr id="19" name="文本框 18"/>
          <p:cNvSpPr txBox="1"/>
          <p:nvPr>
            <p:custDataLst>
              <p:tags r:id="rId6"/>
            </p:custDataLst>
          </p:nvPr>
        </p:nvSpPr>
        <p:spPr>
          <a:xfrm>
            <a:off x="6820535" y="4601845"/>
            <a:ext cx="3887470" cy="674370"/>
          </a:xfrm>
          <a:prstGeom prst="rect">
            <a:avLst/>
          </a:prstGeom>
          <a:solidFill>
            <a:srgbClr val="00B050"/>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数据</a:t>
            </a:r>
            <a:r>
              <a:rPr lang="zh-CN" altLang="en-US" b="1" dirty="0">
                <a:solidFill>
                  <a:schemeClr val="bg1"/>
                </a:solidFill>
                <a:latin typeface="微软雅黑" panose="020B0503020204020204" charset="-122"/>
                <a:ea typeface="微软雅黑" panose="020B0503020204020204" charset="-122"/>
              </a:rPr>
              <a:t>层</a:t>
            </a:r>
            <a:endParaRPr lang="zh-CN" altLang="en-US" b="1" dirty="0">
              <a:solidFill>
                <a:schemeClr val="bg1"/>
              </a:solidFill>
              <a:latin typeface="微软雅黑" panose="020B0503020204020204" charset="-122"/>
              <a:ea typeface="微软雅黑" panose="020B0503020204020204" charset="-122"/>
            </a:endParaRPr>
          </a:p>
        </p:txBody>
      </p:sp>
      <p:sp>
        <p:nvSpPr>
          <p:cNvPr id="21" name="箭头: 上弧形 7"/>
          <p:cNvSpPr/>
          <p:nvPr>
            <p:custDataLst>
              <p:tags r:id="rId7"/>
            </p:custDataLst>
          </p:nvPr>
        </p:nvSpPr>
        <p:spPr>
          <a:xfrm rot="5400000">
            <a:off x="10612120" y="2828925"/>
            <a:ext cx="1297940" cy="746125"/>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4" name="文本框 23"/>
          <p:cNvSpPr txBox="1"/>
          <p:nvPr>
            <p:custDataLst>
              <p:tags r:id="rId8"/>
            </p:custDataLst>
          </p:nvPr>
        </p:nvSpPr>
        <p:spPr>
          <a:xfrm>
            <a:off x="9814560" y="3006725"/>
            <a:ext cx="1535430" cy="368300"/>
          </a:xfrm>
          <a:prstGeom prst="rect">
            <a:avLst/>
          </a:prstGeom>
          <a:noFill/>
        </p:spPr>
        <p:txBody>
          <a:bodyPr wrap="square" rtlCol="0">
            <a:spAutoFit/>
          </a:bodyPr>
          <a:p>
            <a:pPr algn="ctr"/>
            <a:r>
              <a:rPr lang="zh-CN" altLang="en-US" dirty="0">
                <a:latin typeface="微软雅黑" panose="020B0503020204020204" charset="-122"/>
                <a:ea typeface="微软雅黑" panose="020B0503020204020204" charset="-122"/>
              </a:rPr>
              <a:t>事件</a:t>
            </a:r>
            <a:r>
              <a:rPr lang="zh-CN" altLang="en-US" dirty="0">
                <a:latin typeface="微软雅黑" panose="020B0503020204020204" charset="-122"/>
                <a:ea typeface="微软雅黑" panose="020B0503020204020204" charset="-122"/>
              </a:rPr>
              <a:t>触发</a:t>
            </a:r>
            <a:endParaRPr lang="zh-CN" altLang="en-US" dirty="0">
              <a:latin typeface="微软雅黑" panose="020B0503020204020204" charset="-122"/>
              <a:ea typeface="微软雅黑" panose="020B0503020204020204" charset="-122"/>
            </a:endParaRPr>
          </a:p>
        </p:txBody>
      </p:sp>
      <p:sp>
        <p:nvSpPr>
          <p:cNvPr id="25" name="箭头: 上弧形 7"/>
          <p:cNvSpPr/>
          <p:nvPr>
            <p:custDataLst>
              <p:tags r:id="rId9"/>
            </p:custDataLst>
          </p:nvPr>
        </p:nvSpPr>
        <p:spPr>
          <a:xfrm rot="5400000">
            <a:off x="10612120" y="4126865"/>
            <a:ext cx="1297940" cy="746125"/>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7" name="文本框 26"/>
          <p:cNvSpPr txBox="1"/>
          <p:nvPr>
            <p:custDataLst>
              <p:tags r:id="rId10"/>
            </p:custDataLst>
          </p:nvPr>
        </p:nvSpPr>
        <p:spPr>
          <a:xfrm>
            <a:off x="9630410" y="4193540"/>
            <a:ext cx="1846580" cy="368300"/>
          </a:xfrm>
          <a:prstGeom prst="rect">
            <a:avLst/>
          </a:prstGeom>
          <a:noFill/>
        </p:spPr>
        <p:txBody>
          <a:bodyPr wrap="square" rtlCol="0">
            <a:spAutoFit/>
          </a:bodyPr>
          <a:p>
            <a:pPr algn="ctr"/>
            <a:r>
              <a:rPr lang="zh-CN" altLang="en-US" dirty="0">
                <a:latin typeface="微软雅黑" panose="020B0503020204020204" charset="-122"/>
                <a:ea typeface="微软雅黑" panose="020B0503020204020204" charset="-122"/>
              </a:rPr>
              <a:t>业务处理逻辑</a:t>
            </a:r>
            <a:endParaRPr lang="zh-CN" altLang="en-US" dirty="0">
              <a:latin typeface="微软雅黑" panose="020B0503020204020204" charset="-122"/>
              <a:ea typeface="微软雅黑" panose="020B0503020204020204" charset="-122"/>
            </a:endParaRPr>
          </a:p>
        </p:txBody>
      </p:sp>
      <p:sp>
        <p:nvSpPr>
          <p:cNvPr id="28" name="箭头: 上弧形 7"/>
          <p:cNvSpPr/>
          <p:nvPr/>
        </p:nvSpPr>
        <p:spPr>
          <a:xfrm rot="5400000" flipH="1" flipV="1">
            <a:off x="5662295" y="2755900"/>
            <a:ext cx="1303020" cy="819785"/>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31" name="文本框 30"/>
          <p:cNvSpPr txBox="1"/>
          <p:nvPr>
            <p:custDataLst>
              <p:tags r:id="rId11"/>
            </p:custDataLst>
          </p:nvPr>
        </p:nvSpPr>
        <p:spPr>
          <a:xfrm>
            <a:off x="6324600" y="3069590"/>
            <a:ext cx="1846580" cy="368300"/>
          </a:xfrm>
          <a:prstGeom prst="rect">
            <a:avLst/>
          </a:prstGeom>
          <a:noFill/>
        </p:spPr>
        <p:txBody>
          <a:bodyPr wrap="square" rtlCol="0">
            <a:spAutoFit/>
          </a:bodyPr>
          <a:p>
            <a:pPr algn="ctr"/>
            <a:r>
              <a:rPr lang="en-US" altLang="zh-CN" dirty="0">
                <a:latin typeface="微软雅黑" panose="020B0503020204020204" charset="-122"/>
                <a:ea typeface="微软雅黑" panose="020B0503020204020204" charset="-122"/>
              </a:rPr>
              <a:t>UI</a:t>
            </a:r>
            <a:r>
              <a:rPr lang="zh-CN" altLang="en-US" dirty="0">
                <a:latin typeface="微软雅黑" panose="020B0503020204020204" charset="-122"/>
                <a:ea typeface="微软雅黑" panose="020B0503020204020204" charset="-122"/>
              </a:rPr>
              <a:t>处理逻辑</a:t>
            </a:r>
            <a:endParaRPr lang="zh-CN" altLang="en-US" dirty="0">
              <a:latin typeface="微软雅黑" panose="020B0503020204020204" charset="-122"/>
              <a:ea typeface="微软雅黑" panose="020B0503020204020204" charset="-122"/>
            </a:endParaRPr>
          </a:p>
        </p:txBody>
      </p:sp>
      <p:sp>
        <p:nvSpPr>
          <p:cNvPr id="38" name="箭头: 上弧形 7"/>
          <p:cNvSpPr/>
          <p:nvPr/>
        </p:nvSpPr>
        <p:spPr>
          <a:xfrm rot="5400000" flipH="1" flipV="1">
            <a:off x="5026025" y="3422650"/>
            <a:ext cx="2575560" cy="819785"/>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40" name="文本框 39"/>
          <p:cNvSpPr txBox="1"/>
          <p:nvPr>
            <p:custDataLst>
              <p:tags r:id="rId12"/>
            </p:custDataLst>
          </p:nvPr>
        </p:nvSpPr>
        <p:spPr>
          <a:xfrm>
            <a:off x="6324600" y="4192905"/>
            <a:ext cx="1846580" cy="368300"/>
          </a:xfrm>
          <a:prstGeom prst="rect">
            <a:avLst/>
          </a:prstGeom>
          <a:noFill/>
        </p:spPr>
        <p:txBody>
          <a:bodyPr wrap="square" rtlCol="0">
            <a:spAutoFit/>
          </a:bodyPr>
          <a:p>
            <a:pPr algn="ctr"/>
            <a:r>
              <a:rPr lang="en-US" altLang="zh-CN" dirty="0">
                <a:latin typeface="微软雅黑" panose="020B0503020204020204" charset="-122"/>
                <a:ea typeface="微软雅黑" panose="020B0503020204020204" charset="-122"/>
              </a:rPr>
              <a:t>UI</a:t>
            </a:r>
            <a:r>
              <a:rPr lang="zh-CN" altLang="en-US" dirty="0">
                <a:latin typeface="微软雅黑" panose="020B0503020204020204" charset="-122"/>
                <a:ea typeface="微软雅黑" panose="020B0503020204020204" charset="-122"/>
              </a:rPr>
              <a:t>更新</a:t>
            </a:r>
            <a:endParaRPr lang="zh-CN" altLang="en-US" dirty="0">
              <a:latin typeface="微软雅黑" panose="020B0503020204020204" charset="-122"/>
              <a:ea typeface="微软雅黑" panose="020B0503020204020204" charset="-122"/>
            </a:endParaRPr>
          </a:p>
        </p:txBody>
      </p:sp>
    </p:spTree>
  </p:cSld>
  <p:clrMapOvr>
    <a:masterClrMapping/>
  </p:clrMapOvr>
  <p:transition spd="slow" advClick="0"/>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软件配置</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参数</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8" name="文本框 7"/>
          <p:cNvSpPr txBox="1"/>
          <p:nvPr/>
        </p:nvSpPr>
        <p:spPr>
          <a:xfrm>
            <a:off x="741045" y="1095375"/>
            <a:ext cx="10264140" cy="922020"/>
          </a:xfrm>
          <a:prstGeom prst="rect">
            <a:avLst/>
          </a:prstGeom>
          <a:noFill/>
        </p:spPr>
        <p:txBody>
          <a:bodyPr wrap="square">
            <a:spAutoFit/>
          </a:bodyPr>
          <a:p>
            <a:pPr indent="266700" algn="just">
              <a:lnSpc>
                <a:spcPct val="150000"/>
              </a:lnSpc>
            </a:pPr>
            <a:r>
              <a:rPr lang="en-US" altLang="zh-CN" kern="100" dirty="0">
                <a:effectLst/>
                <a:latin typeface="微软雅黑" panose="020B0503020204020204" charset="-122"/>
                <a:ea typeface="微软雅黑" panose="020B0503020204020204" charset="-122"/>
                <a:cs typeface="Times New Roman" panose="02020603050405020304" pitchFamily="18" charset="0"/>
                <a:sym typeface="+mn-ea"/>
              </a:rPr>
              <a:t>   </a:t>
            </a:r>
            <a:r>
              <a:rPr lang="zh-CN" altLang="en-US">
                <a:latin typeface="微软雅黑" panose="020B0503020204020204" charset="-122"/>
                <a:ea typeface="微软雅黑" panose="020B0503020204020204" charset="-122"/>
                <a:cs typeface="微软雅黑" panose="020B0503020204020204" charset="-122"/>
                <a:sym typeface="+mn-ea"/>
              </a:rPr>
              <a:t>软件</a:t>
            </a:r>
            <a:r>
              <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rPr>
              <a:t>配置参数，软件启动时读取INI配置文件，还原部分上次软件运行的参数。</a:t>
            </a:r>
            <a:r>
              <a:rPr lang="zh-CN" altLang="en-US">
                <a:latin typeface="微软雅黑" panose="020B0503020204020204" charset="-122"/>
                <a:ea typeface="微软雅黑" panose="020B0503020204020204" charset="-122"/>
                <a:cs typeface="微软雅黑" panose="020B0503020204020204" charset="-122"/>
                <a:sym typeface="+mn-ea"/>
              </a:rPr>
              <a:t>使用配置文件读写需要继承FITKAppSettings，并重写read函数，示例如下：</a:t>
            </a:r>
            <a:endParaRPr lang="zh-CN" altLang="en-US" sz="180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1347470" y="2182495"/>
            <a:ext cx="4483735" cy="4494530"/>
          </a:xfrm>
          <a:prstGeom prst="rect">
            <a:avLst/>
          </a:prstGeom>
        </p:spPr>
      </p:pic>
      <p:sp>
        <p:nvSpPr>
          <p:cNvPr id="4" name="箭头: 上弧形 7"/>
          <p:cNvSpPr/>
          <p:nvPr/>
        </p:nvSpPr>
        <p:spPr>
          <a:xfrm rot="5400000">
            <a:off x="10443082" y="3485861"/>
            <a:ext cx="1563666" cy="746133"/>
          </a:xfrm>
          <a:prstGeom prst="curved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p>
            <a:pPr marL="287020" indent="-285750" algn="just">
              <a:buClr>
                <a:schemeClr val="tx1"/>
              </a:buClr>
              <a:buSzPct val="80000"/>
              <a:buFont typeface="Wingdings" panose="05000000000000000000" pitchFamily="2" charset="2"/>
              <a:buChar char="Ø"/>
            </a:pPr>
            <a:endParaRPr lang="zh-CN" altLang="en-US" dirty="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5" name="文本框 4"/>
          <p:cNvSpPr txBox="1"/>
          <p:nvPr>
            <p:custDataLst>
              <p:tags r:id="rId3"/>
            </p:custDataLst>
          </p:nvPr>
        </p:nvSpPr>
        <p:spPr>
          <a:xfrm>
            <a:off x="6118483" y="2769148"/>
            <a:ext cx="4553427" cy="674370"/>
          </a:xfrm>
          <a:prstGeom prst="rect">
            <a:avLst/>
          </a:prstGeom>
          <a:solidFill>
            <a:srgbClr val="00B050"/>
          </a:solidFill>
        </p:spPr>
        <p:txBody>
          <a:bodyPr wrap="square" rtlCol="0" anchor="ctr" anchorCtr="0">
            <a:noAutofit/>
          </a:bodyPr>
          <a:p>
            <a:pPr algn="ctr"/>
            <a:r>
              <a:rPr lang="en-US" altLang="zh-CN" b="1" dirty="0">
                <a:solidFill>
                  <a:schemeClr val="bg1"/>
                </a:solidFill>
                <a:latin typeface="微软雅黑" panose="020B0503020204020204" charset="-122"/>
                <a:ea typeface="微软雅黑" panose="020B0503020204020204" charset="-122"/>
              </a:rPr>
              <a:t>ini</a:t>
            </a:r>
            <a:r>
              <a:rPr lang="zh-CN" altLang="en-US" b="1" dirty="0">
                <a:solidFill>
                  <a:schemeClr val="bg1"/>
                </a:solidFill>
                <a:latin typeface="微软雅黑" panose="020B0503020204020204" charset="-122"/>
                <a:ea typeface="微软雅黑" panose="020B0503020204020204" charset="-122"/>
              </a:rPr>
              <a:t>配置</a:t>
            </a:r>
            <a:r>
              <a:rPr lang="zh-CN" altLang="en-US" b="1" dirty="0">
                <a:solidFill>
                  <a:schemeClr val="bg1"/>
                </a:solidFill>
                <a:latin typeface="微软雅黑" panose="020B0503020204020204" charset="-122"/>
                <a:ea typeface="微软雅黑" panose="020B0503020204020204" charset="-122"/>
              </a:rPr>
              <a:t>文件</a:t>
            </a:r>
            <a:endParaRPr lang="zh-CN" altLang="en-US" b="1" dirty="0">
              <a:solidFill>
                <a:schemeClr val="bg1"/>
              </a:solidFill>
              <a:latin typeface="微软雅黑" panose="020B0503020204020204" charset="-122"/>
              <a:ea typeface="微软雅黑" panose="020B0503020204020204" charset="-122"/>
            </a:endParaRPr>
          </a:p>
        </p:txBody>
      </p:sp>
      <p:sp>
        <p:nvSpPr>
          <p:cNvPr id="6" name="文本框 5"/>
          <p:cNvSpPr txBox="1"/>
          <p:nvPr/>
        </p:nvSpPr>
        <p:spPr>
          <a:xfrm>
            <a:off x="10249535" y="3587750"/>
            <a:ext cx="953135" cy="368300"/>
          </a:xfrm>
          <a:prstGeom prst="rect">
            <a:avLst/>
          </a:prstGeom>
          <a:noFill/>
        </p:spPr>
        <p:txBody>
          <a:bodyPr wrap="square" rtlCol="0">
            <a:spAutoFit/>
          </a:bodyPr>
          <a:p>
            <a:r>
              <a:rPr lang="en-US" altLang="zh-CN"/>
              <a:t>read()</a:t>
            </a:r>
            <a:endParaRPr lang="zh-CN" altLang="en-US"/>
          </a:p>
        </p:txBody>
      </p:sp>
      <p:sp>
        <p:nvSpPr>
          <p:cNvPr id="21" name="文本框 20"/>
          <p:cNvSpPr txBox="1"/>
          <p:nvPr>
            <p:custDataLst>
              <p:tags r:id="rId4"/>
            </p:custDataLst>
          </p:nvPr>
        </p:nvSpPr>
        <p:spPr>
          <a:xfrm>
            <a:off x="6118483" y="4068358"/>
            <a:ext cx="4553427" cy="674370"/>
          </a:xfrm>
          <a:prstGeom prst="rect">
            <a:avLst/>
          </a:prstGeom>
          <a:solidFill>
            <a:srgbClr val="00B050"/>
          </a:solidFill>
        </p:spPr>
        <p:txBody>
          <a:bodyPr wrap="square" rtlCol="0" anchor="ctr" anchorCtr="0">
            <a:noAutofit/>
          </a:bodyPr>
          <a:p>
            <a:pPr algn="ctr"/>
            <a:r>
              <a:rPr lang="zh-CN" altLang="en-US" b="1" dirty="0">
                <a:solidFill>
                  <a:schemeClr val="bg1"/>
                </a:solidFill>
                <a:latin typeface="微软雅黑" panose="020B0503020204020204" charset="-122"/>
                <a:ea typeface="微软雅黑" panose="020B0503020204020204" charset="-122"/>
              </a:rPr>
              <a:t>软件运行参数</a:t>
            </a:r>
            <a:r>
              <a:rPr lang="zh-CN" altLang="en-US" b="1" dirty="0">
                <a:solidFill>
                  <a:schemeClr val="bg1"/>
                </a:solidFill>
                <a:latin typeface="微软雅黑" panose="020B0503020204020204" charset="-122"/>
                <a:ea typeface="微软雅黑" panose="020B0503020204020204" charset="-122"/>
              </a:rPr>
              <a:t>数据</a:t>
            </a:r>
            <a:endParaRPr lang="zh-CN" altLang="en-US" b="1" dirty="0">
              <a:solidFill>
                <a:schemeClr val="bg1"/>
              </a:solidFill>
              <a:latin typeface="微软雅黑" panose="020B0503020204020204" charset="-122"/>
              <a:ea typeface="微软雅黑" panose="020B0503020204020204" charset="-122"/>
            </a:endParaRPr>
          </a:p>
        </p:txBody>
      </p:sp>
    </p:spTree>
  </p:cSld>
  <p:clrMapOvr>
    <a:masterClrMapping/>
  </p:clrMapOvr>
  <p:transition spd="slow" advClick="0"/>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程序的主入口函数（</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main</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函数）</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pic>
        <p:nvPicPr>
          <p:cNvPr id="4" name="图片 3"/>
          <p:cNvPicPr>
            <a:picLocks noChangeAspect="1"/>
          </p:cNvPicPr>
          <p:nvPr/>
        </p:nvPicPr>
        <p:blipFill>
          <a:blip r:embed="rId2"/>
          <a:stretch>
            <a:fillRect/>
          </a:stretch>
        </p:blipFill>
        <p:spPr>
          <a:xfrm>
            <a:off x="2512060" y="1858010"/>
            <a:ext cx="5861685" cy="4786630"/>
          </a:xfrm>
          <a:prstGeom prst="rect">
            <a:avLst/>
          </a:prstGeom>
        </p:spPr>
      </p:pic>
      <p:sp>
        <p:nvSpPr>
          <p:cNvPr id="5" name="文本框 4"/>
          <p:cNvSpPr txBox="1"/>
          <p:nvPr/>
        </p:nvSpPr>
        <p:spPr>
          <a:xfrm>
            <a:off x="741045" y="1099820"/>
            <a:ext cx="10168890" cy="922020"/>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主入口函数用于初始化软件框架数据、创建应用程序实例、设置应用环境，并最终启动事件循环等。</a:t>
            </a:r>
            <a:endParaRPr lang="en-US" altLang="zh-CN" b="1" dirty="0">
              <a:solidFill>
                <a:srgbClr val="000000"/>
              </a:solidFill>
              <a:latin typeface="微软雅黑" panose="020B0503020204020204" charset="-122"/>
              <a:ea typeface="微软雅黑" panose="020B0503020204020204" charset="-122"/>
            </a:endParaRPr>
          </a:p>
        </p:txBody>
      </p:sp>
    </p:spTree>
  </p:cSld>
  <p:clrMapOvr>
    <a:masterClrMapping/>
  </p:clrMapOvr>
  <p:transition spd="slow" advClick="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a:solidFill>
                    <a:srgbClr val="000000"/>
                  </a:solidFill>
                  <a:latin typeface="微软雅黑" panose="020B0503020204020204" charset="-122"/>
                  <a:ea typeface="微软雅黑" panose="020B0503020204020204" charset="-122"/>
                  <a:sym typeface="微软雅黑" panose="020B0503020204020204" charset="-122"/>
                </a:rPr>
                <a:t>核心层设计</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a:latin typeface="微软雅黑 Light" panose="020B0502040204020203" pitchFamily="34" charset="-122"/>
                  <a:ea typeface="微软雅黑 Light" panose="020B0502040204020203" pitchFamily="34" charset="-122"/>
                </a:rPr>
                <a:t>Part 15</a:t>
              </a:r>
              <a:endParaRPr lang="zh-CN" altLang="en-US" sz="1600" dirty="0">
                <a:latin typeface="微软雅黑 Light" panose="020B0502040204020203" pitchFamily="34" charset="-122"/>
                <a:ea typeface="微软雅黑 Light" panose="020B0502040204020203" pitchFamily="34" charset="-122"/>
              </a:endParaRPr>
            </a:p>
          </p:txBody>
        </p:sp>
      </p:grpSp>
      <p:sp>
        <p:nvSpPr>
          <p:cNvPr id="2" name="矩形 1"/>
          <p:cNvSpPr/>
          <p:nvPr/>
        </p:nvSpPr>
        <p:spPr>
          <a:xfrm>
            <a:off x="834390" y="1362075"/>
            <a:ext cx="2374265" cy="677545"/>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b="1">
                <a:solidFill>
                  <a:schemeClr val="bg1"/>
                </a:solidFill>
                <a:latin typeface="微软雅黑" panose="020B0503020204020204" charset="-122"/>
                <a:ea typeface="微软雅黑" panose="020B0503020204020204" charset="-122"/>
                <a:sym typeface="微软雅黑" panose="020B0503020204020204" charset="-122"/>
              </a:rPr>
              <a:t>核心层</a:t>
            </a:r>
            <a:endParaRPr lang="zh-CN" altLang="en-US" b="1">
              <a:solidFill>
                <a:schemeClr val="bg1"/>
              </a:solidFill>
              <a:latin typeface="微软雅黑" panose="020B0503020204020204" charset="-122"/>
              <a:ea typeface="微软雅黑" panose="020B0503020204020204" charset="-122"/>
              <a:sym typeface="微软雅黑" panose="020B0503020204020204" charset="-122"/>
            </a:endParaRPr>
          </a:p>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FITK_Kernel</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4" name="矩形 3"/>
          <p:cNvSpPr/>
          <p:nvPr>
            <p:custDataLst>
              <p:tags r:id="rId1"/>
            </p:custDataLst>
          </p:nvPr>
        </p:nvSpPr>
        <p:spPr>
          <a:xfrm>
            <a:off x="2158365" y="223393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适配器</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9" name="矩形 8"/>
          <p:cNvSpPr/>
          <p:nvPr>
            <p:custDataLst>
              <p:tags r:id="rId2"/>
            </p:custDataLst>
          </p:nvPr>
        </p:nvSpPr>
        <p:spPr>
          <a:xfrm>
            <a:off x="2158365" y="280987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sym typeface="微软雅黑" panose="020B0503020204020204" charset="-122"/>
              </a:rPr>
              <a:t>应用框架</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0" name="矩形 9"/>
          <p:cNvSpPr/>
          <p:nvPr>
            <p:custDataLst>
              <p:tags r:id="rId3"/>
            </p:custDataLst>
          </p:nvPr>
        </p:nvSpPr>
        <p:spPr>
          <a:xfrm>
            <a:off x="2158365" y="3385820"/>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sym typeface="微软雅黑" panose="020B0503020204020204" charset="-122"/>
              </a:rPr>
              <a:t>核心</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4" name="矩形 13"/>
          <p:cNvSpPr/>
          <p:nvPr>
            <p:custDataLst>
              <p:tags r:id="rId4"/>
            </p:custDataLst>
          </p:nvPr>
        </p:nvSpPr>
        <p:spPr>
          <a:xfrm>
            <a:off x="2158365" y="3961765"/>
            <a:ext cx="2374265" cy="454660"/>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Python</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脚本</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8" name="文本框 17"/>
          <p:cNvSpPr txBox="1"/>
          <p:nvPr>
            <p:custDataLst>
              <p:tags r:id="rId5"/>
            </p:custDataLst>
          </p:nvPr>
        </p:nvSpPr>
        <p:spPr>
          <a:xfrm>
            <a:off x="4859020" y="2228215"/>
            <a:ext cx="6816090" cy="460375"/>
          </a:xfrm>
          <a:prstGeom prst="rect">
            <a:avLst/>
          </a:prstGeom>
          <a:noFill/>
        </p:spPr>
        <p:txBody>
          <a:bodyPr wrap="square" rtlCol="0" anchor="ctr" anchorCtr="0">
            <a:spAutoFit/>
          </a:bodyPr>
          <a:lstStyle/>
          <a:p>
            <a:pPr indent="0" algn="l" fontAlgn="auto">
              <a:lnSpc>
                <a:spcPct val="150000"/>
              </a:lnSpc>
            </a:pPr>
            <a:r>
              <a:rPr lang="zh-CN" altLang="en-US" sz="1600" dirty="0">
                <a:latin typeface="微软雅黑" panose="020B0503020204020204" charset="-122"/>
                <a:ea typeface="微软雅黑" panose="020B0503020204020204" charset="-122"/>
                <a:sym typeface="+mn-ea"/>
              </a:rPr>
              <a:t>核心数据模块提供了抽象数据管理、基础常用工具与算法两部分</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19" name="文本框 18"/>
          <p:cNvSpPr txBox="1"/>
          <p:nvPr>
            <p:custDataLst>
              <p:tags r:id="rId6"/>
            </p:custDataLst>
          </p:nvPr>
        </p:nvSpPr>
        <p:spPr>
          <a:xfrm>
            <a:off x="4859020" y="2797175"/>
            <a:ext cx="6816090" cy="460375"/>
          </a:xfrm>
          <a:prstGeom prst="rect">
            <a:avLst/>
          </a:prstGeom>
          <a:noFill/>
        </p:spPr>
        <p:txBody>
          <a:bodyPr wrap="square" rtlCol="0" anchor="ctr" anchorCtr="0">
            <a:spAutoFit/>
          </a:bodyPr>
          <a:lstStyle/>
          <a:p>
            <a:pPr indent="0" algn="l" fontAlgn="auto">
              <a:lnSpc>
                <a:spcPct val="150000"/>
              </a:lnSpc>
            </a:pPr>
            <a:r>
              <a:rPr lang="zh-CN" altLang="en-US" sz="1600" dirty="0">
                <a:latin typeface="微软雅黑" panose="020B0503020204020204" charset="-122"/>
                <a:ea typeface="微软雅黑" panose="020B0503020204020204" charset="-122"/>
                <a:sym typeface="+mn-ea"/>
              </a:rPr>
              <a:t>应用框架数据为应用程序开发提供基础架构、核心功能和规范的软件框架</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20" name="文本框 19"/>
          <p:cNvSpPr txBox="1"/>
          <p:nvPr>
            <p:custDataLst>
              <p:tags r:id="rId7"/>
            </p:custDataLst>
          </p:nvPr>
        </p:nvSpPr>
        <p:spPr>
          <a:xfrm>
            <a:off x="4859020" y="3366135"/>
            <a:ext cx="7170420" cy="460375"/>
          </a:xfrm>
          <a:prstGeom prst="rect">
            <a:avLst/>
          </a:prstGeom>
          <a:noFill/>
        </p:spPr>
        <p:txBody>
          <a:bodyPr wrap="square" rtlCol="0" anchor="ctr" anchorCtr="0">
            <a:spAutoFit/>
          </a:bodyPr>
          <a:lstStyle/>
          <a:p>
            <a:pPr indent="0" algn="l" fontAlgn="auto">
              <a:lnSpc>
                <a:spcPct val="150000"/>
              </a:lnSpc>
            </a:pPr>
            <a:r>
              <a:rPr lang="zh-CN" altLang="en-US" sz="1600">
                <a:sym typeface="+mn-ea"/>
              </a:rPr>
              <a:t>适配器是能够协同工作。</a:t>
            </a:r>
            <a:endParaRPr lang="zh-CN" sz="1600" dirty="0">
              <a:latin typeface="微软雅黑" panose="020B0503020204020204" charset="-122"/>
              <a:ea typeface="微软雅黑" panose="020B0503020204020204" charset="-122"/>
            </a:endParaRPr>
          </a:p>
        </p:txBody>
      </p:sp>
      <p:sp>
        <p:nvSpPr>
          <p:cNvPr id="21" name="文本框 20"/>
          <p:cNvSpPr txBox="1"/>
          <p:nvPr>
            <p:custDataLst>
              <p:tags r:id="rId8"/>
            </p:custDataLst>
          </p:nvPr>
        </p:nvSpPr>
        <p:spPr>
          <a:xfrm>
            <a:off x="4859020" y="3935095"/>
            <a:ext cx="7171055" cy="460375"/>
          </a:xfrm>
          <a:prstGeom prst="rect">
            <a:avLst/>
          </a:prstGeom>
          <a:noFill/>
        </p:spPr>
        <p:txBody>
          <a:bodyPr wrap="square" rtlCol="0" anchor="ctr" anchorCtr="0">
            <a:spAutoFit/>
          </a:bodyPr>
          <a:lstStyle/>
          <a:p>
            <a:pPr indent="0" algn="l" fontAlgn="auto">
              <a:lnSpc>
                <a:spcPct val="150000"/>
              </a:lnSpc>
            </a:pPr>
            <a:r>
              <a:rPr lang="en-US" altLang="zh-CN" sz="1600">
                <a:sym typeface="+mn-ea"/>
              </a:rPr>
              <a:t>Python</a:t>
            </a:r>
            <a:r>
              <a:rPr lang="zh-CN" altLang="en-US" sz="1600">
                <a:sym typeface="+mn-ea"/>
              </a:rPr>
              <a:t>脚本实现了两种语言的无缝协作</a:t>
            </a:r>
            <a:r>
              <a:rPr lang="zh-CN" sz="1600" dirty="0">
                <a:latin typeface="微软雅黑" panose="020B0503020204020204" charset="-122"/>
                <a:ea typeface="微软雅黑" panose="020B0503020204020204" charset="-122"/>
              </a:rPr>
              <a:t>。</a:t>
            </a:r>
            <a:endParaRPr lang="zh-CN" sz="1600"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75168" y="124989"/>
            <a:ext cx="2607000" cy="692373"/>
          </a:xfrm>
          <a:prstGeom prst="rect">
            <a:avLst/>
          </a:prstGeom>
        </p:spPr>
      </p:pic>
    </p:spTree>
  </p:cSld>
  <p:clrMapOvr>
    <a:masterClrMapping/>
  </p:clrMapOvr>
  <p:transition spd="slow"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2" name="组合 54"/>
          <p:cNvGrpSpPr/>
          <p:nvPr/>
        </p:nvGrpSpPr>
        <p:grpSpPr>
          <a:xfrm>
            <a:off x="2400580" y="478732"/>
            <a:ext cx="8100000" cy="398780"/>
            <a:chOff x="3329659" y="684634"/>
            <a:chExt cx="6942353" cy="398780"/>
          </a:xfrm>
        </p:grpSpPr>
        <p:cxnSp>
          <p:nvCxnSpPr>
            <p:cNvPr id="53" name="直接连接符 52"/>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文本框 56"/>
            <p:cNvSpPr txBox="1"/>
            <p:nvPr/>
          </p:nvSpPr>
          <p:spPr>
            <a:xfrm>
              <a:off x="3329659" y="684634"/>
              <a:ext cx="6942353" cy="398780"/>
            </a:xfrm>
            <a:prstGeom prst="rect">
              <a:avLst/>
            </a:prstGeom>
            <a:noFill/>
          </p:spPr>
          <p:txBody>
            <a:bodyPr wrap="square" rtlCol="0">
              <a:spAutoFit/>
            </a:bodyPr>
            <a:lstStyle/>
            <a:p>
              <a:pPr lvl="0">
                <a:buClr>
                  <a:srgbClr val="00517C"/>
                </a:buClr>
                <a:buSzPct val="80000"/>
                <a:defRPr/>
              </a:pPr>
              <a:r>
                <a:rPr lang="zh-CN" altLang="en-US" sz="2000" b="1">
                  <a:solidFill>
                    <a:srgbClr val="000000"/>
                  </a:solidFill>
                  <a:latin typeface="微软雅黑" panose="020B0503020204020204" charset="-122"/>
                  <a:ea typeface="微软雅黑" panose="020B0503020204020204" charset="-122"/>
                  <a:sym typeface="微软雅黑" panose="020B0503020204020204" charset="-122"/>
                </a:rPr>
                <a:t>功能组件层设计</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55" name="组合 54"/>
          <p:cNvGrpSpPr/>
          <p:nvPr/>
        </p:nvGrpSpPr>
        <p:grpSpPr>
          <a:xfrm>
            <a:off x="531813" y="438512"/>
            <a:ext cx="1990507" cy="460800"/>
            <a:chOff x="531813" y="438512"/>
            <a:chExt cx="1990507" cy="460800"/>
          </a:xfrm>
        </p:grpSpPr>
        <p:grpSp>
          <p:nvGrpSpPr>
            <p:cNvPr id="56" name="组合 69"/>
            <p:cNvGrpSpPr/>
            <p:nvPr/>
          </p:nvGrpSpPr>
          <p:grpSpPr>
            <a:xfrm>
              <a:off x="531813" y="438512"/>
              <a:ext cx="1781401" cy="460800"/>
              <a:chOff x="2305585" y="1928066"/>
              <a:chExt cx="2104868" cy="521276"/>
            </a:xfrm>
          </p:grpSpPr>
          <p:sp>
            <p:nvSpPr>
              <p:cNvPr id="58" name="圆角矩形 57"/>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微软雅黑 Light" panose="020B0502040204020203" pitchFamily="34" charset="-122"/>
                    <a:ea typeface="微软雅黑 Light" panose="020B0502040204020203" pitchFamily="34" charset="-122"/>
                  </a:rPr>
                  <a:t>2</a:t>
                </a:r>
                <a:endParaRPr lang="en-US" altLang="zh-CN" sz="2400" dirty="0">
                  <a:latin typeface="微软雅黑 Light" panose="020B0502040204020203" pitchFamily="34" charset="-122"/>
                  <a:ea typeface="微软雅黑 Light" panose="020B0502040204020203" pitchFamily="34" charset="-122"/>
                </a:endParaRPr>
              </a:p>
            </p:txBody>
          </p:sp>
        </p:grpSp>
        <p:sp>
          <p:nvSpPr>
            <p:cNvPr id="57" name="文本框 71"/>
            <p:cNvSpPr txBox="1"/>
            <p:nvPr/>
          </p:nvSpPr>
          <p:spPr>
            <a:xfrm>
              <a:off x="740395" y="511712"/>
              <a:ext cx="1781925" cy="337185"/>
            </a:xfrm>
            <a:prstGeom prst="rect">
              <a:avLst/>
            </a:prstGeom>
            <a:noFill/>
          </p:spPr>
          <p:txBody>
            <a:bodyPr wrap="square" rtlCol="0">
              <a:spAutoFit/>
            </a:bodyPr>
            <a:lstStyle/>
            <a:p>
              <a:pPr algn="ctr"/>
              <a:r>
                <a:rPr lang="en-US" altLang="zh-CN" sz="1600">
                  <a:latin typeface="微软雅黑 Light" panose="020B0502040204020203" pitchFamily="34" charset="-122"/>
                  <a:ea typeface="微软雅黑 Light" panose="020B0502040204020203" pitchFamily="34" charset="-122"/>
                </a:rPr>
                <a:t>Part 16</a:t>
              </a:r>
              <a:endParaRPr lang="zh-CN" altLang="en-US" sz="1600" dirty="0">
                <a:latin typeface="微软雅黑 Light" panose="020B0502040204020203" pitchFamily="34" charset="-122"/>
                <a:ea typeface="微软雅黑 Light" panose="020B0502040204020203" pitchFamily="34" charset="-122"/>
              </a:endParaRPr>
            </a:p>
          </p:txBody>
        </p:sp>
      </p:grpSp>
      <p:sp>
        <p:nvSpPr>
          <p:cNvPr id="2" name="矩形 1"/>
          <p:cNvSpPr/>
          <p:nvPr/>
        </p:nvSpPr>
        <p:spPr>
          <a:xfrm>
            <a:off x="834390" y="1230630"/>
            <a:ext cx="2374265" cy="677545"/>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功能组件层</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FITK_Component</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4" name="矩形 3"/>
          <p:cNvSpPr/>
          <p:nvPr>
            <p:custDataLst>
              <p:tags r:id="rId1"/>
            </p:custDataLst>
          </p:nvPr>
        </p:nvSpPr>
        <p:spPr>
          <a:xfrm>
            <a:off x="2158365" y="2102485"/>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INP</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文件读写</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9" name="矩形 8"/>
          <p:cNvSpPr/>
          <p:nvPr>
            <p:custDataLst>
              <p:tags r:id="rId2"/>
            </p:custDataLst>
          </p:nvPr>
        </p:nvSpPr>
        <p:spPr>
          <a:xfrm>
            <a:off x="2158365" y="2678430"/>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VTK</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渲染窗口</a:t>
            </a:r>
            <a:endPar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0" name="矩形 9"/>
          <p:cNvSpPr/>
          <p:nvPr>
            <p:custDataLst>
              <p:tags r:id="rId3"/>
            </p:custDataLst>
          </p:nvPr>
        </p:nvSpPr>
        <p:spPr>
          <a:xfrm>
            <a:off x="2158365" y="3254375"/>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VTK</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渲染对象适配</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4" name="矩形 13"/>
          <p:cNvSpPr/>
          <p:nvPr>
            <p:custDataLst>
              <p:tags r:id="rId4"/>
            </p:custDataLst>
          </p:nvPr>
        </p:nvSpPr>
        <p:spPr>
          <a:xfrm>
            <a:off x="2158365" y="3830320"/>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HDF5</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文件</a:t>
            </a: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IO</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6" name="矩形 15"/>
          <p:cNvSpPr/>
          <p:nvPr>
            <p:custDataLst>
              <p:tags r:id="rId5"/>
            </p:custDataLst>
          </p:nvPr>
        </p:nvSpPr>
        <p:spPr>
          <a:xfrm>
            <a:off x="2158365" y="4406265"/>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Abaqus</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数据</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7" name="矩形 16"/>
          <p:cNvSpPr/>
          <p:nvPr>
            <p:custDataLst>
              <p:tags r:id="rId6"/>
            </p:custDataLst>
          </p:nvPr>
        </p:nvSpPr>
        <p:spPr>
          <a:xfrm>
            <a:off x="2158365" y="4982210"/>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许可证</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验证数据</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18" name="文本框 17"/>
          <p:cNvSpPr txBox="1"/>
          <p:nvPr>
            <p:custDataLst>
              <p:tags r:id="rId7"/>
            </p:custDataLst>
          </p:nvPr>
        </p:nvSpPr>
        <p:spPr>
          <a:xfrm>
            <a:off x="4859020" y="2096770"/>
            <a:ext cx="6816090" cy="460375"/>
          </a:xfrm>
          <a:prstGeom prst="rect">
            <a:avLst/>
          </a:prstGeom>
          <a:noFill/>
        </p:spPr>
        <p:txBody>
          <a:bodyPr wrap="square" rtlCol="0" anchor="ctr" anchorCtr="0">
            <a:spAutoFit/>
          </a:bodyPr>
          <a:lstStyle/>
          <a:p>
            <a:pPr indent="0" algn="l" fontAlgn="auto">
              <a:lnSpc>
                <a:spcPct val="150000"/>
              </a:lnSpc>
            </a:pPr>
            <a:r>
              <a:rPr lang="en-US" altLang="zh-CN" sz="1600" dirty="0">
                <a:latin typeface="微软雅黑" panose="020B0503020204020204" charset="-122"/>
                <a:ea typeface="微软雅黑" panose="020B0503020204020204" charset="-122"/>
              </a:rPr>
              <a:t>Abaqus</a:t>
            </a:r>
            <a:r>
              <a:rPr lang="zh-CN" altLang="en-US" sz="1600" dirty="0">
                <a:latin typeface="微软雅黑" panose="020B0503020204020204" charset="-122"/>
                <a:ea typeface="微软雅黑" panose="020B0503020204020204" charset="-122"/>
              </a:rPr>
              <a:t>格式</a:t>
            </a:r>
            <a:r>
              <a:rPr lang="en-US" altLang="zh-CN" sz="1600" dirty="0">
                <a:latin typeface="微软雅黑" panose="020B0503020204020204" charset="-122"/>
                <a:ea typeface="微软雅黑" panose="020B0503020204020204" charset="-122"/>
              </a:rPr>
              <a:t>inp</a:t>
            </a:r>
            <a:r>
              <a:rPr lang="zh-CN" altLang="en-US" sz="1600" dirty="0">
                <a:latin typeface="微软雅黑" panose="020B0503020204020204" charset="-122"/>
                <a:ea typeface="微软雅黑" panose="020B0503020204020204" charset="-122"/>
              </a:rPr>
              <a:t>文件读写，</a:t>
            </a:r>
            <a:r>
              <a:rPr lang="en-US" altLang="zh-CN" sz="1600" dirty="0">
                <a:latin typeface="微软雅黑" panose="020B0503020204020204" charset="-122"/>
                <a:ea typeface="微软雅黑" panose="020B0503020204020204" charset="-122"/>
              </a:rPr>
              <a:t>Calculix</a:t>
            </a:r>
            <a:r>
              <a:rPr lang="zh-CN" altLang="en-US" sz="1600" dirty="0">
                <a:latin typeface="微软雅黑" panose="020B0503020204020204" charset="-122"/>
                <a:ea typeface="微软雅黑" panose="020B0503020204020204" charset="-122"/>
              </a:rPr>
              <a:t>格式</a:t>
            </a:r>
            <a:r>
              <a:rPr lang="en-US" altLang="zh-CN" sz="1600" dirty="0">
                <a:latin typeface="微软雅黑" panose="020B0503020204020204" charset="-122"/>
                <a:ea typeface="微软雅黑" panose="020B0503020204020204" charset="-122"/>
              </a:rPr>
              <a:t>inp</a:t>
            </a:r>
            <a:r>
              <a:rPr lang="zh-CN" altLang="en-US" sz="1600" dirty="0">
                <a:latin typeface="微软雅黑" panose="020B0503020204020204" charset="-122"/>
                <a:ea typeface="微软雅黑" panose="020B0503020204020204" charset="-122"/>
              </a:rPr>
              <a:t>文件写出</a:t>
            </a:r>
            <a:endParaRPr lang="zh-CN" altLang="en-US" sz="1600" dirty="0">
              <a:latin typeface="微软雅黑" panose="020B0503020204020204" charset="-122"/>
              <a:ea typeface="微软雅黑" panose="020B0503020204020204" charset="-122"/>
            </a:endParaRPr>
          </a:p>
        </p:txBody>
      </p:sp>
      <p:sp>
        <p:nvSpPr>
          <p:cNvPr id="19" name="文本框 18"/>
          <p:cNvSpPr txBox="1"/>
          <p:nvPr>
            <p:custDataLst>
              <p:tags r:id="rId8"/>
            </p:custDataLst>
          </p:nvPr>
        </p:nvSpPr>
        <p:spPr>
          <a:xfrm>
            <a:off x="4859020" y="2665730"/>
            <a:ext cx="6816090" cy="460375"/>
          </a:xfrm>
          <a:prstGeom prst="rect">
            <a:avLst/>
          </a:prstGeom>
          <a:noFill/>
        </p:spPr>
        <p:txBody>
          <a:bodyPr wrap="square" rtlCol="0" anchor="ctr" anchorCtr="0">
            <a:spAutoFit/>
          </a:bodyPr>
          <a:lstStyle/>
          <a:p>
            <a:pPr indent="0" algn="l" fontAlgn="auto">
              <a:lnSpc>
                <a:spcPct val="150000"/>
              </a:lnSpc>
            </a:pPr>
            <a:r>
              <a:rPr lang="zh-CN" altLang="en-US" sz="1600" dirty="0">
                <a:latin typeface="微软雅黑" panose="020B0503020204020204" charset="-122"/>
                <a:ea typeface="微软雅黑" panose="020B0503020204020204" charset="-122"/>
              </a:rPr>
              <a:t>通用渲染窗口，</a:t>
            </a:r>
            <a:r>
              <a:rPr lang="en-US" altLang="zh-CN" sz="1600" dirty="0">
                <a:latin typeface="微软雅黑" panose="020B0503020204020204" charset="-122"/>
                <a:ea typeface="微软雅黑" panose="020B0503020204020204" charset="-122"/>
              </a:rPr>
              <a:t>VTK</a:t>
            </a:r>
            <a:r>
              <a:rPr lang="zh-CN" altLang="en-US" sz="1600" dirty="0">
                <a:latin typeface="微软雅黑" panose="020B0503020204020204" charset="-122"/>
                <a:ea typeface="微软雅黑" panose="020B0503020204020204" charset="-122"/>
              </a:rPr>
              <a:t>实现</a:t>
            </a:r>
            <a:endParaRPr lang="zh-CN" altLang="en-US" sz="1600" dirty="0">
              <a:latin typeface="微软雅黑" panose="020B0503020204020204" charset="-122"/>
              <a:ea typeface="微软雅黑" panose="020B0503020204020204" charset="-122"/>
            </a:endParaRPr>
          </a:p>
        </p:txBody>
      </p:sp>
      <p:sp>
        <p:nvSpPr>
          <p:cNvPr id="20" name="文本框 19"/>
          <p:cNvSpPr txBox="1"/>
          <p:nvPr>
            <p:custDataLst>
              <p:tags r:id="rId9"/>
            </p:custDataLst>
          </p:nvPr>
        </p:nvSpPr>
        <p:spPr>
          <a:xfrm>
            <a:off x="4859020" y="3234690"/>
            <a:ext cx="7170420" cy="460375"/>
          </a:xfrm>
          <a:prstGeom prst="rect">
            <a:avLst/>
          </a:prstGeom>
          <a:noFill/>
        </p:spPr>
        <p:txBody>
          <a:bodyPr wrap="square" rtlCol="0" anchor="ctr" anchorCtr="0">
            <a:spAutoFit/>
          </a:bodyPr>
          <a:lstStyle/>
          <a:p>
            <a:pPr indent="0" algn="l" fontAlgn="auto">
              <a:lnSpc>
                <a:spcPct val="150000"/>
              </a:lnSpc>
            </a:pPr>
            <a:r>
              <a:rPr lang="zh-CN" sz="1600" dirty="0">
                <a:latin typeface="微软雅黑" panose="020B0503020204020204" charset="-122"/>
                <a:ea typeface="微软雅黑" panose="020B0503020204020204" charset="-122"/>
              </a:rPr>
              <a:t>结构分析前处理对象适配，生成</a:t>
            </a:r>
            <a:r>
              <a:rPr lang="en-US" altLang="zh-CN" sz="1600" dirty="0">
                <a:latin typeface="微软雅黑" panose="020B0503020204020204" charset="-122"/>
                <a:ea typeface="微软雅黑" panose="020B0503020204020204" charset="-122"/>
              </a:rPr>
              <a:t>VTK</a:t>
            </a:r>
            <a:r>
              <a:rPr lang="zh-CN" sz="1600" dirty="0">
                <a:latin typeface="微软雅黑" panose="020B0503020204020204" charset="-122"/>
                <a:ea typeface="微软雅黑" panose="020B0503020204020204" charset="-122"/>
              </a:rPr>
              <a:t>渲染对象。</a:t>
            </a:r>
            <a:endParaRPr lang="zh-CN" sz="1600" dirty="0">
              <a:latin typeface="微软雅黑" panose="020B0503020204020204" charset="-122"/>
              <a:ea typeface="微软雅黑" panose="020B0503020204020204" charset="-122"/>
            </a:endParaRPr>
          </a:p>
        </p:txBody>
      </p:sp>
      <p:sp>
        <p:nvSpPr>
          <p:cNvPr id="21" name="文本框 20"/>
          <p:cNvSpPr txBox="1"/>
          <p:nvPr>
            <p:custDataLst>
              <p:tags r:id="rId10"/>
            </p:custDataLst>
          </p:nvPr>
        </p:nvSpPr>
        <p:spPr>
          <a:xfrm>
            <a:off x="4859020" y="3803650"/>
            <a:ext cx="7171055" cy="460375"/>
          </a:xfrm>
          <a:prstGeom prst="rect">
            <a:avLst/>
          </a:prstGeom>
          <a:noFill/>
        </p:spPr>
        <p:txBody>
          <a:bodyPr wrap="square" rtlCol="0" anchor="ctr" anchorCtr="0">
            <a:spAutoFit/>
          </a:bodyPr>
          <a:lstStyle/>
          <a:p>
            <a:pPr indent="0" algn="l" fontAlgn="auto">
              <a:lnSpc>
                <a:spcPct val="150000"/>
              </a:lnSpc>
            </a:pPr>
            <a:r>
              <a:rPr lang="zh-CN" altLang="en-US" sz="1600" dirty="0">
                <a:latin typeface="微软雅黑" panose="020B0503020204020204" charset="-122"/>
                <a:ea typeface="微软雅黑" panose="020B0503020204020204" charset="-122"/>
              </a:rPr>
              <a:t>结构分析</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流体前处理读写</a:t>
            </a:r>
            <a:r>
              <a:rPr lang="en-US" altLang="zh-CN" sz="1600" dirty="0">
                <a:latin typeface="微软雅黑" panose="020B0503020204020204" charset="-122"/>
                <a:ea typeface="微软雅黑" panose="020B0503020204020204" charset="-122"/>
              </a:rPr>
              <a:t>HDF5</a:t>
            </a:r>
            <a:r>
              <a:rPr lang="zh-CN" altLang="en-US" sz="1600" dirty="0">
                <a:latin typeface="微软雅黑" panose="020B0503020204020204" charset="-122"/>
                <a:ea typeface="微软雅黑" panose="020B0503020204020204" charset="-122"/>
              </a:rPr>
              <a:t>文件。</a:t>
            </a:r>
            <a:endParaRPr lang="zh-CN" altLang="en-US" sz="1600" dirty="0">
              <a:latin typeface="微软雅黑" panose="020B0503020204020204" charset="-122"/>
              <a:ea typeface="微软雅黑" panose="020B0503020204020204" charset="-122"/>
            </a:endParaRPr>
          </a:p>
        </p:txBody>
      </p:sp>
      <p:sp>
        <p:nvSpPr>
          <p:cNvPr id="23" name="文本框 22"/>
          <p:cNvSpPr txBox="1"/>
          <p:nvPr>
            <p:custDataLst>
              <p:tags r:id="rId11"/>
            </p:custDataLst>
          </p:nvPr>
        </p:nvSpPr>
        <p:spPr>
          <a:xfrm>
            <a:off x="4859020" y="4372610"/>
            <a:ext cx="7171055" cy="460375"/>
          </a:xfrm>
          <a:prstGeom prst="rect">
            <a:avLst/>
          </a:prstGeom>
          <a:noFill/>
        </p:spPr>
        <p:txBody>
          <a:bodyPr wrap="square" rtlCol="0" anchor="ctr" anchorCtr="0">
            <a:spAutoFit/>
          </a:bodyPr>
          <a:lstStyle/>
          <a:p>
            <a:pPr indent="0" algn="l" fontAlgn="auto">
              <a:lnSpc>
                <a:spcPct val="150000"/>
              </a:lnSpc>
            </a:pPr>
            <a:r>
              <a:rPr lang="zh-CN" sz="1600" dirty="0">
                <a:latin typeface="微软雅黑" panose="020B0503020204020204" charset="-122"/>
                <a:ea typeface="微软雅黑" panose="020B0503020204020204" charset="-122"/>
              </a:rPr>
              <a:t>定义</a:t>
            </a:r>
            <a:r>
              <a:rPr lang="en-US" altLang="zh-CN" sz="1600" dirty="0">
                <a:latin typeface="微软雅黑" panose="020B0503020204020204" charset="-122"/>
                <a:ea typeface="微软雅黑" panose="020B0503020204020204" charset="-122"/>
              </a:rPr>
              <a:t>Abaqus</a:t>
            </a:r>
            <a:r>
              <a:rPr lang="zh-CN" sz="1600" dirty="0">
                <a:latin typeface="微软雅黑" panose="020B0503020204020204" charset="-122"/>
                <a:ea typeface="微软雅黑" panose="020B0503020204020204" charset="-122"/>
              </a:rPr>
              <a:t>分析的数据结构，包含材料本构、相互作用、载荷、坐标系等。</a:t>
            </a:r>
            <a:endParaRPr lang="zh-CN" sz="1600" dirty="0">
              <a:latin typeface="微软雅黑" panose="020B0503020204020204" charset="-122"/>
              <a:ea typeface="微软雅黑" panose="020B0503020204020204" charset="-122"/>
            </a:endParaRPr>
          </a:p>
        </p:txBody>
      </p:sp>
      <p:sp>
        <p:nvSpPr>
          <p:cNvPr id="3" name="矩形 2"/>
          <p:cNvSpPr/>
          <p:nvPr>
            <p:custDataLst>
              <p:tags r:id="rId12"/>
            </p:custDataLst>
          </p:nvPr>
        </p:nvSpPr>
        <p:spPr>
          <a:xfrm>
            <a:off x="2158365" y="5558155"/>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信息输出窗口</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5" name="文本框 4"/>
          <p:cNvSpPr txBox="1"/>
          <p:nvPr>
            <p:custDataLst>
              <p:tags r:id="rId13"/>
            </p:custDataLst>
          </p:nvPr>
        </p:nvSpPr>
        <p:spPr>
          <a:xfrm>
            <a:off x="4859020" y="5510530"/>
            <a:ext cx="7171055" cy="460375"/>
          </a:xfrm>
          <a:prstGeom prst="rect">
            <a:avLst/>
          </a:prstGeom>
          <a:noFill/>
        </p:spPr>
        <p:txBody>
          <a:bodyPr wrap="square" rtlCol="0" anchor="ctr" anchorCtr="0">
            <a:spAutoFit/>
          </a:bodyPr>
          <a:lstStyle/>
          <a:p>
            <a:pPr indent="0" algn="l" fontAlgn="auto">
              <a:lnSpc>
                <a:spcPct val="150000"/>
              </a:lnSpc>
            </a:pPr>
            <a:r>
              <a:rPr lang="zh-CN" altLang="en-US" sz="1600" dirty="0">
                <a:latin typeface="微软雅黑" panose="020B0503020204020204" charset="-122"/>
                <a:ea typeface="微软雅黑" panose="020B0503020204020204" charset="-122"/>
              </a:rPr>
              <a:t>标准信息输出窗口，实现软件运行状态信息输出</a:t>
            </a:r>
            <a:endParaRPr lang="en-US" altLang="zh-CN" sz="1600" dirty="0">
              <a:latin typeface="微软雅黑" panose="020B0503020204020204" charset="-122"/>
              <a:ea typeface="微软雅黑" panose="020B0503020204020204" charset="-122"/>
            </a:endParaRPr>
          </a:p>
        </p:txBody>
      </p:sp>
      <p:sp>
        <p:nvSpPr>
          <p:cNvPr id="6" name="矩形 5"/>
          <p:cNvSpPr/>
          <p:nvPr>
            <p:custDataLst>
              <p:tags r:id="rId14"/>
            </p:custDataLst>
          </p:nvPr>
        </p:nvSpPr>
        <p:spPr>
          <a:xfrm>
            <a:off x="2158365" y="6134100"/>
            <a:ext cx="2374265" cy="454660"/>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270" indent="0" algn="ctr">
              <a:buClr>
                <a:schemeClr val="tx1"/>
              </a:buClr>
              <a:buSzPct val="80000"/>
              <a:buFont typeface="Wingdings" panose="05000000000000000000" pitchFamily="2" charset="2"/>
              <a:buNone/>
            </a:pP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自定义</a:t>
            </a:r>
            <a:r>
              <a:rPr lang="en-US" altLang="zh-CN" dirty="0">
                <a:ln>
                  <a:noFill/>
                </a:ln>
                <a:solidFill>
                  <a:schemeClr val="bg1"/>
                </a:solidFill>
                <a:latin typeface="微软雅黑" panose="020B0503020204020204" charset="-122"/>
                <a:ea typeface="微软雅黑" panose="020B0503020204020204" charset="-122"/>
                <a:cs typeface="宋体" panose="02010600030101010101" pitchFamily="2" charset="-122"/>
              </a:rPr>
              <a:t>UI</a:t>
            </a:r>
            <a:r>
              <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rPr>
              <a:t>对象</a:t>
            </a:r>
            <a:endParaRPr lang="zh-CN" altLang="en-US" dirty="0">
              <a:ln>
                <a:noFill/>
              </a:ln>
              <a:solidFill>
                <a:schemeClr val="bg1"/>
              </a:solidFill>
              <a:latin typeface="微软雅黑" panose="020B0503020204020204" charset="-122"/>
              <a:ea typeface="微软雅黑" panose="020B0503020204020204" charset="-122"/>
              <a:cs typeface="宋体" panose="02010600030101010101" pitchFamily="2" charset="-122"/>
            </a:endParaRPr>
          </a:p>
        </p:txBody>
      </p:sp>
      <p:sp>
        <p:nvSpPr>
          <p:cNvPr id="7" name="文本框 6"/>
          <p:cNvSpPr txBox="1"/>
          <p:nvPr>
            <p:custDataLst>
              <p:tags r:id="rId15"/>
            </p:custDataLst>
          </p:nvPr>
        </p:nvSpPr>
        <p:spPr>
          <a:xfrm>
            <a:off x="4859020" y="6079490"/>
            <a:ext cx="7171055" cy="460375"/>
          </a:xfrm>
          <a:prstGeom prst="rect">
            <a:avLst/>
          </a:prstGeom>
          <a:noFill/>
        </p:spPr>
        <p:txBody>
          <a:bodyPr wrap="square" rtlCol="0" anchor="ctr" anchorCtr="0">
            <a:spAutoFit/>
          </a:bodyPr>
          <a:lstStyle/>
          <a:p>
            <a:pPr indent="0" algn="l" fontAlgn="auto">
              <a:lnSpc>
                <a:spcPct val="150000"/>
              </a:lnSpc>
            </a:pPr>
            <a:r>
              <a:rPr lang="zh-CN" sz="1600" dirty="0">
                <a:latin typeface="微软雅黑" panose="020B0503020204020204" charset="-122"/>
                <a:ea typeface="微软雅黑" panose="020B0503020204020204" charset="-122"/>
              </a:rPr>
              <a:t>自定义可复用的</a:t>
            </a:r>
            <a:r>
              <a:rPr lang="en-US" altLang="zh-CN" sz="1600" dirty="0">
                <a:latin typeface="微软雅黑" panose="020B0503020204020204" charset="-122"/>
                <a:ea typeface="微软雅黑" panose="020B0503020204020204" charset="-122"/>
              </a:rPr>
              <a:t>UI</a:t>
            </a:r>
            <a:r>
              <a:rPr lang="zh-CN" altLang="en-US" sz="1600" dirty="0">
                <a:latin typeface="微软雅黑" panose="020B0503020204020204" charset="-122"/>
                <a:ea typeface="微软雅黑" panose="020B0503020204020204" charset="-122"/>
              </a:rPr>
              <a:t>控件，包括抽屉控件，多视口控件、下拉列表等。</a:t>
            </a:r>
            <a:endParaRPr lang="zh-CN" altLang="en-US" sz="1600" dirty="0">
              <a:latin typeface="微软雅黑" panose="020B0503020204020204" charset="-122"/>
              <a:ea typeface="微软雅黑" panose="020B0503020204020204" charset="-122"/>
            </a:endParaRPr>
          </a:p>
        </p:txBody>
      </p:sp>
      <p:sp>
        <p:nvSpPr>
          <p:cNvPr id="8" name="文本框 7"/>
          <p:cNvSpPr txBox="1"/>
          <p:nvPr/>
        </p:nvSpPr>
        <p:spPr>
          <a:xfrm>
            <a:off x="1386205" y="4088130"/>
            <a:ext cx="4064000" cy="368300"/>
          </a:xfrm>
          <a:prstGeom prst="rect">
            <a:avLst/>
          </a:prstGeom>
          <a:noFill/>
        </p:spPr>
        <p:txBody>
          <a:bodyPr wrap="square" rtlCol="0">
            <a:spAutoFit/>
          </a:bodyPr>
          <a:lstStyle/>
          <a:p>
            <a:endParaRPr lang="zh-CN" altLang="en-US"/>
          </a:p>
        </p:txBody>
      </p:sp>
      <p:pic>
        <p:nvPicPr>
          <p:cNvPr id="11" name="图片 1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575168" y="124989"/>
            <a:ext cx="2607000" cy="692373"/>
          </a:xfrm>
          <a:prstGeom prst="rect">
            <a:avLst/>
          </a:prstGeom>
        </p:spPr>
      </p:pic>
      <p:sp>
        <p:nvSpPr>
          <p:cNvPr id="12" name="文本框 11"/>
          <p:cNvSpPr txBox="1"/>
          <p:nvPr/>
        </p:nvSpPr>
        <p:spPr>
          <a:xfrm>
            <a:off x="4859020" y="5083810"/>
            <a:ext cx="7170420" cy="368300"/>
          </a:xfrm>
          <a:prstGeom prst="rect">
            <a:avLst/>
          </a:prstGeom>
          <a:noFill/>
        </p:spPr>
        <p:txBody>
          <a:bodyPr wrap="square" rtlCol="0">
            <a:spAutoFit/>
          </a:bodyPr>
          <a:p>
            <a:r>
              <a:rPr lang="zh-CN" altLang="en-US"/>
              <a:t>许可证检查软件是否</a:t>
            </a:r>
            <a:r>
              <a:rPr lang="zh-CN" altLang="en-US"/>
              <a:t>激活。</a:t>
            </a:r>
            <a:endParaRPr lang="zh-CN" altLang="en-US"/>
          </a:p>
        </p:txBody>
      </p:sp>
    </p:spTree>
  </p:cSld>
  <p:clrMapOvr>
    <a:masterClrMapping/>
  </p:clrMapOvr>
  <p:transition spd="slow"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299515" y="392057"/>
            <a:ext cx="3142321" cy="4708981"/>
          </a:xfrm>
          <a:prstGeom prst="rect">
            <a:avLst/>
          </a:prstGeom>
          <a:noFill/>
        </p:spPr>
        <p:txBody>
          <a:bodyPr wrap="square" rtlCol="0">
            <a:spAutoFit/>
          </a:bodyPr>
          <a:lstStyle/>
          <a:p>
            <a:r>
              <a:rPr lang="en-US" altLang="zh-CN" sz="30000" dirty="0">
                <a:latin typeface="Segoe UI Light" panose="020B0502040204020203" pitchFamily="34" charset="0"/>
              </a:rPr>
              <a:t>3</a:t>
            </a:r>
            <a:endParaRPr lang="zh-CN" altLang="en-US" sz="30000" dirty="0">
              <a:latin typeface="Segoe UI Light" panose="020B0502040204020203" pitchFamily="34" charset="0"/>
            </a:endParaRPr>
          </a:p>
        </p:txBody>
      </p:sp>
      <p:sp>
        <p:nvSpPr>
          <p:cNvPr id="14" name="文本框 58"/>
          <p:cNvSpPr txBox="1"/>
          <p:nvPr/>
        </p:nvSpPr>
        <p:spPr>
          <a:xfrm>
            <a:off x="2578100" y="1697355"/>
            <a:ext cx="4423410" cy="2306955"/>
          </a:xfrm>
          <a:prstGeom prst="rect">
            <a:avLst/>
          </a:prstGeom>
          <a:noFill/>
        </p:spPr>
        <p:txBody>
          <a:bodyPr wrap="square" rtlCol="0">
            <a:spAutoFit/>
          </a:bodyPr>
          <a:lstStyle/>
          <a:p>
            <a:r>
              <a:rPr lang="en-US" altLang="zh-CN" sz="7200" b="1" dirty="0">
                <a:latin typeface="Segoe UI Light" panose="020B0502040204020203" pitchFamily="34" charset="0"/>
              </a:rPr>
              <a:t>CHAPTER  </a:t>
            </a:r>
            <a:endParaRPr lang="en-US" altLang="zh-CN" sz="7200" b="1" dirty="0">
              <a:latin typeface="Segoe UI Light" panose="020B0502040204020203" pitchFamily="34" charset="0"/>
            </a:endParaRPr>
          </a:p>
          <a:p>
            <a:r>
              <a:rPr lang="en-US" altLang="zh-CN" sz="7200" b="1">
                <a:latin typeface="Segoe UI Light" panose="020B0502040204020203" pitchFamily="34" charset="0"/>
                <a:ea typeface="微软雅黑 Light" panose="020B0502040204020203" pitchFamily="34" charset="-122"/>
                <a:cs typeface="Segoe UI Light" panose="020B0502040204020203" pitchFamily="34" charset="0"/>
              </a:rPr>
              <a:t>THREE</a:t>
            </a:r>
            <a:endParaRPr lang="zh-CN" altLang="en-US" sz="7200" b="1" dirty="0">
              <a:latin typeface="Segoe UI Light" panose="020B0502040204020203" pitchFamily="34" charset="0"/>
              <a:ea typeface="微软雅黑 Light" panose="020B0502040204020203" pitchFamily="34" charset="-122"/>
              <a:cs typeface="Segoe UI Light" panose="020B0502040204020203" pitchFamily="34" charset="0"/>
            </a:endParaRPr>
          </a:p>
        </p:txBody>
      </p:sp>
      <p:grpSp>
        <p:nvGrpSpPr>
          <p:cNvPr id="2" name="Group 12"/>
          <p:cNvGrpSpPr/>
          <p:nvPr/>
        </p:nvGrpSpPr>
        <p:grpSpPr>
          <a:xfrm>
            <a:off x="5997524" y="4581047"/>
            <a:ext cx="216000" cy="2295454"/>
            <a:chOff x="5997524" y="4571522"/>
            <a:chExt cx="216000" cy="2295454"/>
          </a:xfrm>
          <a:solidFill>
            <a:srgbClr val="002060"/>
          </a:solidFill>
        </p:grpSpPr>
        <p:cxnSp>
          <p:nvCxnSpPr>
            <p:cNvPr id="4" name="Straight Connector 7"/>
            <p:cNvCxnSpPr/>
            <p:nvPr/>
          </p:nvCxnSpPr>
          <p:spPr>
            <a:xfrm>
              <a:off x="6097936" y="4706976"/>
              <a:ext cx="0" cy="2160000"/>
            </a:xfrm>
            <a:prstGeom prst="line">
              <a:avLst/>
            </a:prstGeom>
            <a:grpFill/>
            <a:ln w="25400" cmpd="sng">
              <a:solidFill>
                <a:schemeClr val="accent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Group 11"/>
            <p:cNvGrpSpPr/>
            <p:nvPr/>
          </p:nvGrpSpPr>
          <p:grpSpPr>
            <a:xfrm>
              <a:off x="5997524" y="4571522"/>
              <a:ext cx="216000" cy="212400"/>
              <a:chOff x="9702774" y="956603"/>
              <a:chExt cx="216000" cy="212400"/>
            </a:xfrm>
            <a:grpFill/>
          </p:grpSpPr>
          <p:sp>
            <p:nvSpPr>
              <p:cNvPr id="19" name="Oval 9"/>
              <p:cNvSpPr/>
              <p:nvPr/>
            </p:nvSpPr>
            <p:spPr>
              <a:xfrm>
                <a:off x="9702774" y="956603"/>
                <a:ext cx="216000" cy="2124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sp>
            <p:nvSpPr>
              <p:cNvPr id="20" name="Oval 8"/>
              <p:cNvSpPr/>
              <p:nvPr/>
            </p:nvSpPr>
            <p:spPr>
              <a:xfrm>
                <a:off x="9738774" y="1007117"/>
                <a:ext cx="144000" cy="144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grpSp>
      </p:grpSp>
      <p:sp>
        <p:nvSpPr>
          <p:cNvPr id="21" name="文本框 16"/>
          <p:cNvSpPr txBox="1"/>
          <p:nvPr/>
        </p:nvSpPr>
        <p:spPr>
          <a:xfrm>
            <a:off x="2578736" y="3957955"/>
            <a:ext cx="2313749" cy="583565"/>
          </a:xfrm>
          <a:prstGeom prst="rect">
            <a:avLst/>
          </a:prstGeom>
          <a:noFill/>
        </p:spPr>
        <p:txBody>
          <a:bodyPr wrap="square" rtlCol="0">
            <a:spAutoFit/>
          </a:bodyPr>
          <a:lstStyle/>
          <a:p>
            <a:pPr algn="ctr">
              <a:buClr>
                <a:srgbClr val="00517C"/>
              </a:buClr>
              <a:buSzPct val="80000"/>
            </a:pPr>
            <a:r>
              <a:rPr lang="zh-CN" altLang="en-US" sz="3200" b="1">
                <a:solidFill>
                  <a:srgbClr val="FF0000"/>
                </a:solidFill>
                <a:latin typeface="微软雅黑" panose="020B0503020204020204" charset="-122"/>
                <a:ea typeface="微软雅黑" panose="020B0503020204020204" charset="-122"/>
                <a:sym typeface="微软雅黑" panose="020B0503020204020204" charset="-122"/>
              </a:rPr>
              <a:t>模块设计</a:t>
            </a:r>
            <a:endParaRPr lang="zh-CN" altLang="en-US" sz="3200" b="1">
              <a:solidFill>
                <a:srgbClr val="FF0000"/>
              </a:solidFill>
              <a:latin typeface="微软雅黑" panose="020B0503020204020204" charset="-122"/>
              <a:ea typeface="微软雅黑" panose="020B0503020204020204" charset="-122"/>
              <a:sym typeface="微软雅黑" panose="020B0503020204020204" charset="-122"/>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585000" y="122331"/>
            <a:ext cx="2607000" cy="6923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advTm="0">
        <p:fade/>
      </p:transition>
    </mc:Choice>
    <mc:Fallback>
      <p:transition spd="med" advTm="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FITKCore</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39775" y="983615"/>
            <a:ext cx="10114280" cy="2168525"/>
          </a:xfrm>
          <a:prstGeom prst="rect">
            <a:avLst/>
          </a:prstGeom>
          <a:noFill/>
        </p:spPr>
        <p:txBody>
          <a:bodyPr wrap="square" rtlCol="0">
            <a:spAutoFit/>
          </a:bodyPr>
          <a:p>
            <a:pPr>
              <a:lnSpc>
                <a:spcPct val="150000"/>
              </a:lnSpc>
            </a:pPr>
            <a:r>
              <a:rPr lang="en-US" altLang="zh-CN"/>
              <a:t>       </a:t>
            </a:r>
            <a:r>
              <a:rPr lang="zh-CN" altLang="en-US">
                <a:latin typeface="微软雅黑" panose="020B0503020204020204" charset="-122"/>
                <a:ea typeface="微软雅黑" panose="020B0503020204020204" charset="-122"/>
                <a:cs typeface="微软雅黑" panose="020B0503020204020204" charset="-122"/>
              </a:rPr>
              <a:t>核心数据模块提供了抽象数据管理、基础常用工具与算法两部分。</a:t>
            </a:r>
            <a:endParaRPr lang="zh-CN" altLang="en-US">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抽象数据结构与数据管理器定义：这些数据包括抽象数据对象，GUI基本对象，以及操作器（Operator）抽象对象。这里操作器是指能够对数据与UI进行访问与修改，并对其进行关联，操作器中通常实现具体的业务流程。数据对象、GUI对象、操作器对象就可以通过全局唯一ID进行标记与查找。</a:t>
            </a: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739140" y="6188075"/>
            <a:ext cx="10115550" cy="645160"/>
          </a:xfrm>
          <a:prstGeom prst="rect">
            <a:avLst/>
          </a:prstGeom>
          <a:noFill/>
        </p:spPr>
        <p:txBody>
          <a:bodyPr wrap="square" rtlCol="0">
            <a:spAutoFit/>
          </a:bodyPr>
          <a:p>
            <a:pPr algn="l">
              <a:lnSpc>
                <a:spcPct val="100000"/>
              </a:lnSpc>
              <a:buClrTx/>
              <a:buSzTx/>
              <a:buFontTx/>
            </a:pPr>
            <a:r>
              <a:rPr lang="en-US" altLang="zh-CN"/>
              <a:t>       </a:t>
            </a:r>
            <a:r>
              <a:rPr lang="zh-CN" altLang="en-US">
                <a:latin typeface="微软雅黑" panose="020B0503020204020204" charset="-122"/>
                <a:ea typeface="微软雅黑" panose="020B0503020204020204" charset="-122"/>
                <a:cs typeface="微软雅黑" panose="020B0503020204020204" charset="-122"/>
              </a:rPr>
              <a:t>常用工具与算法：包含线程池、文件与目录操作、三维矢量计算、简单的三维图形运算、枚举值反射等工具与算法。</a:t>
            </a:r>
            <a:endParaRPr lang="zh-CN" altLang="en-US">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902335" y="310832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FITKDataFactory</a:t>
            </a:r>
            <a:endParaRPr lang="en-US" altLang="zh-CN"/>
          </a:p>
        </p:txBody>
      </p:sp>
      <p:sp>
        <p:nvSpPr>
          <p:cNvPr id="7" name="文本框 6"/>
          <p:cNvSpPr txBox="1"/>
          <p:nvPr/>
        </p:nvSpPr>
        <p:spPr>
          <a:xfrm>
            <a:off x="5546725" y="3008630"/>
            <a:ext cx="4863465" cy="645160"/>
          </a:xfrm>
          <a:prstGeom prst="rect">
            <a:avLst/>
          </a:prstGeom>
          <a:noFill/>
        </p:spPr>
        <p:txBody>
          <a:bodyPr wrap="square" rtlCol="0">
            <a:spAutoFit/>
          </a:bodyPr>
          <a:p>
            <a:r>
              <a:rPr lang="en-US" altLang="zh-CN"/>
              <a:t>       </a:t>
            </a:r>
            <a:r>
              <a:rPr lang="zh-CN" altLang="en-US"/>
              <a:t>数据工厂，提供注册宏，可根据注册的类型创建数据对象。</a:t>
            </a:r>
            <a:endParaRPr lang="zh-CN" altLang="en-US"/>
          </a:p>
        </p:txBody>
      </p:sp>
      <p:sp>
        <p:nvSpPr>
          <p:cNvPr id="8" name="文本框 7"/>
          <p:cNvSpPr txBox="1"/>
          <p:nvPr/>
        </p:nvSpPr>
        <p:spPr>
          <a:xfrm>
            <a:off x="902335" y="373316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FITKDataRepo</a:t>
            </a:r>
            <a:endParaRPr lang="en-US" altLang="zh-CN"/>
          </a:p>
        </p:txBody>
      </p:sp>
      <p:sp>
        <p:nvSpPr>
          <p:cNvPr id="10" name="文本框 9"/>
          <p:cNvSpPr txBox="1"/>
          <p:nvPr/>
        </p:nvSpPr>
        <p:spPr>
          <a:xfrm>
            <a:off x="5546725" y="3647440"/>
            <a:ext cx="4864100" cy="645160"/>
          </a:xfrm>
          <a:prstGeom prst="rect">
            <a:avLst/>
          </a:prstGeom>
          <a:noFill/>
        </p:spPr>
        <p:txBody>
          <a:bodyPr wrap="square" rtlCol="0">
            <a:spAutoFit/>
          </a:bodyPr>
          <a:p>
            <a:r>
              <a:rPr lang="en-US" altLang="zh-CN"/>
              <a:t>       </a:t>
            </a:r>
            <a:r>
              <a:rPr lang="zh-CN" altLang="en-US"/>
              <a:t>数据对象仓库，管理全部生命周期内的数据对象，提供多种方式检索访问。</a:t>
            </a:r>
            <a:endParaRPr lang="zh-CN" altLang="en-US"/>
          </a:p>
        </p:txBody>
      </p:sp>
      <p:sp>
        <p:nvSpPr>
          <p:cNvPr id="11" name="文本框 10"/>
          <p:cNvSpPr txBox="1"/>
          <p:nvPr/>
        </p:nvSpPr>
        <p:spPr>
          <a:xfrm>
            <a:off x="902335" y="435800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FITKGUIRepo</a:t>
            </a:r>
            <a:endParaRPr lang="en-US" altLang="zh-CN"/>
          </a:p>
        </p:txBody>
      </p:sp>
      <p:sp>
        <p:nvSpPr>
          <p:cNvPr id="19" name="文本框 18"/>
          <p:cNvSpPr txBox="1"/>
          <p:nvPr/>
        </p:nvSpPr>
        <p:spPr>
          <a:xfrm>
            <a:off x="5546725" y="4279900"/>
            <a:ext cx="4864100" cy="645160"/>
          </a:xfrm>
          <a:prstGeom prst="rect">
            <a:avLst/>
          </a:prstGeom>
          <a:noFill/>
        </p:spPr>
        <p:txBody>
          <a:bodyPr wrap="square" rtlCol="0">
            <a:spAutoFit/>
          </a:bodyPr>
          <a:p>
            <a:r>
              <a:rPr lang="en-US" altLang="zh-CN"/>
              <a:t>       GUI</a:t>
            </a:r>
            <a:r>
              <a:rPr lang="zh-CN" altLang="en-US"/>
              <a:t>对象仓库，管理全部的</a:t>
            </a:r>
            <a:r>
              <a:rPr lang="en-US" altLang="zh-CN"/>
              <a:t>GUI</a:t>
            </a:r>
            <a:r>
              <a:rPr lang="zh-CN" altLang="en-US"/>
              <a:t>对象，对象释放后自动被移出仓库。</a:t>
            </a:r>
            <a:endParaRPr lang="zh-CN" altLang="en-US"/>
          </a:p>
        </p:txBody>
      </p:sp>
      <p:sp>
        <p:nvSpPr>
          <p:cNvPr id="20" name="文本框 19"/>
          <p:cNvSpPr txBox="1"/>
          <p:nvPr/>
        </p:nvSpPr>
        <p:spPr>
          <a:xfrm>
            <a:off x="902335" y="499745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FITKOperatorRepo</a:t>
            </a:r>
            <a:endParaRPr lang="en-US" altLang="zh-CN"/>
          </a:p>
        </p:txBody>
      </p:sp>
      <p:sp>
        <p:nvSpPr>
          <p:cNvPr id="21" name="文本框 20"/>
          <p:cNvSpPr txBox="1"/>
          <p:nvPr/>
        </p:nvSpPr>
        <p:spPr>
          <a:xfrm>
            <a:off x="5546725" y="4912360"/>
            <a:ext cx="4864100" cy="645160"/>
          </a:xfrm>
          <a:prstGeom prst="rect">
            <a:avLst/>
          </a:prstGeom>
          <a:noFill/>
        </p:spPr>
        <p:txBody>
          <a:bodyPr wrap="square" rtlCol="0">
            <a:spAutoFit/>
          </a:bodyPr>
          <a:p>
            <a:r>
              <a:rPr lang="en-US" altLang="zh-CN"/>
              <a:t>       </a:t>
            </a:r>
            <a:r>
              <a:rPr lang="zh-CN" altLang="en-US"/>
              <a:t>操作器仓库，提供注册器接口，可以根据注册的字符创建操作器。</a:t>
            </a:r>
            <a:endParaRPr lang="zh-CN" altLang="en-US"/>
          </a:p>
        </p:txBody>
      </p:sp>
      <p:sp>
        <p:nvSpPr>
          <p:cNvPr id="22" name="文本框 21"/>
          <p:cNvSpPr txBox="1"/>
          <p:nvPr/>
        </p:nvSpPr>
        <p:spPr>
          <a:xfrm>
            <a:off x="902335" y="562737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FITKActionOperator</a:t>
            </a:r>
            <a:endParaRPr lang="en-US" altLang="zh-CN"/>
          </a:p>
        </p:txBody>
      </p:sp>
      <p:sp>
        <p:nvSpPr>
          <p:cNvPr id="23" name="文本框 22"/>
          <p:cNvSpPr txBox="1"/>
          <p:nvPr/>
        </p:nvSpPr>
        <p:spPr>
          <a:xfrm>
            <a:off x="5546725" y="5551170"/>
            <a:ext cx="4864100" cy="645160"/>
          </a:xfrm>
          <a:prstGeom prst="rect">
            <a:avLst/>
          </a:prstGeom>
          <a:noFill/>
        </p:spPr>
        <p:txBody>
          <a:bodyPr wrap="square" rtlCol="0">
            <a:spAutoFit/>
          </a:bodyPr>
          <a:p>
            <a:r>
              <a:rPr lang="en-US" altLang="zh-CN"/>
              <a:t>       Qt action pushbutton</a:t>
            </a:r>
            <a:r>
              <a:rPr lang="zh-CN" altLang="en-US"/>
              <a:t>等点击控件触发的抽象操作器。</a:t>
            </a:r>
            <a:endParaRPr lang="zh-CN" altLang="en-US"/>
          </a:p>
        </p:txBody>
      </p:sp>
    </p:spTree>
  </p:cSld>
  <p:clrMapOvr>
    <a:masterClrMapping/>
  </p:clrMapOvr>
  <p:transition spd="slow" advClick="0"/>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应用框架数据</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FITKAppFramework</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1680" y="991870"/>
            <a:ext cx="10144125" cy="1337945"/>
          </a:xfrm>
          <a:prstGeom prst="rect">
            <a:avLst/>
          </a:prstGeom>
          <a:noFill/>
        </p:spPr>
        <p:txBody>
          <a:bodyPr wrap="square" rtlCol="0">
            <a:spAutoFit/>
          </a:bodyPr>
          <a:p>
            <a:pPr>
              <a:lnSpc>
                <a:spcPct val="150000"/>
              </a:lnSpc>
            </a:pPr>
            <a:r>
              <a:rPr lang="en-US" altLang="zh-CN"/>
              <a:t>       </a:t>
            </a:r>
            <a:r>
              <a:rPr lang="zh-CN" altLang="en-US">
                <a:latin typeface="微软雅黑" panose="020B0503020204020204" charset="-122"/>
                <a:ea typeface="微软雅黑" panose="020B0503020204020204" charset="-122"/>
                <a:cs typeface="微软雅黑" panose="020B0503020204020204" charset="-122"/>
              </a:rPr>
              <a:t>应用框架数据为应用程序开发提供基础架构、核心功能和规范的软件框架。该框架基于统一的抽象接口与注册机制实现业务逻辑与功能实现的完全独立，支持方便的功能组合与个性化业务逻辑拓展。</a:t>
            </a:r>
            <a:endParaRPr lang="en-US" altLang="zh-CN" b="1" dirty="0">
              <a:solidFill>
                <a:srgbClr val="000000"/>
              </a:solidFill>
              <a:latin typeface="微软雅黑" panose="020B0503020204020204" charset="-122"/>
              <a:ea typeface="微软雅黑" panose="020B0503020204020204" charset="-122"/>
            </a:endParaRPr>
          </a:p>
        </p:txBody>
      </p:sp>
      <p:sp>
        <p:nvSpPr>
          <p:cNvPr id="6" name="文本框 5"/>
          <p:cNvSpPr txBox="1"/>
          <p:nvPr/>
        </p:nvSpPr>
        <p:spPr>
          <a:xfrm>
            <a:off x="740410" y="242252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FITKDataFactory</a:t>
            </a:r>
            <a:endParaRPr lang="en-US" altLang="zh-CN"/>
          </a:p>
        </p:txBody>
      </p:sp>
      <p:sp>
        <p:nvSpPr>
          <p:cNvPr id="4" name="文本框 3"/>
          <p:cNvSpPr txBox="1"/>
          <p:nvPr/>
        </p:nvSpPr>
        <p:spPr>
          <a:xfrm>
            <a:off x="4940935" y="2322830"/>
            <a:ext cx="5943600" cy="645160"/>
          </a:xfrm>
          <a:prstGeom prst="rect">
            <a:avLst/>
          </a:prstGeom>
          <a:noFill/>
        </p:spPr>
        <p:txBody>
          <a:bodyPr wrap="square" rtlCol="0">
            <a:spAutoFit/>
          </a:bodyPr>
          <a:p>
            <a:r>
              <a:rPr lang="en-US" altLang="zh-CN"/>
              <a:t>       </a:t>
            </a:r>
            <a:r>
              <a:rPr lang="zh-CN" altLang="en-US"/>
              <a:t>基于</a:t>
            </a:r>
            <a:r>
              <a:rPr lang="en-US" altLang="zh-CN"/>
              <a:t>QApplication</a:t>
            </a:r>
            <a:r>
              <a:rPr lang="zh-CN" altLang="en-US"/>
              <a:t>定义软件运行的主要过程。提供工厂与事件处理的注册接口</a:t>
            </a:r>
            <a:endParaRPr lang="zh-CN" altLang="en-US"/>
          </a:p>
        </p:txBody>
      </p:sp>
      <p:sp>
        <p:nvSpPr>
          <p:cNvPr id="5" name="文本框 4"/>
          <p:cNvSpPr txBox="1"/>
          <p:nvPr/>
        </p:nvSpPr>
        <p:spPr>
          <a:xfrm>
            <a:off x="740410" y="312674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FITKProgramTaskManeger</a:t>
            </a:r>
            <a:endParaRPr lang="en-US" altLang="zh-CN"/>
          </a:p>
        </p:txBody>
      </p:sp>
      <p:sp>
        <p:nvSpPr>
          <p:cNvPr id="7" name="文本框 6"/>
          <p:cNvSpPr txBox="1"/>
          <p:nvPr/>
        </p:nvSpPr>
        <p:spPr>
          <a:xfrm>
            <a:off x="4940935" y="2999740"/>
            <a:ext cx="5943600" cy="645160"/>
          </a:xfrm>
          <a:prstGeom prst="rect">
            <a:avLst/>
          </a:prstGeom>
          <a:noFill/>
        </p:spPr>
        <p:txBody>
          <a:bodyPr wrap="square" rtlCol="0">
            <a:spAutoFit/>
          </a:bodyPr>
          <a:p>
            <a:r>
              <a:rPr lang="en-US" altLang="zh-CN"/>
              <a:t>       </a:t>
            </a:r>
            <a:r>
              <a:rPr lang="zh-CN" altLang="en-US"/>
              <a:t>第三放程序驱动管理，启动终止第三方应用程序，实现进程级别集成。</a:t>
            </a:r>
            <a:endParaRPr lang="zh-CN" altLang="en-US"/>
          </a:p>
        </p:txBody>
      </p:sp>
      <p:sp>
        <p:nvSpPr>
          <p:cNvPr id="8" name="文本框 7"/>
          <p:cNvSpPr txBox="1"/>
          <p:nvPr/>
        </p:nvSpPr>
        <p:spPr>
          <a:xfrm>
            <a:off x="740410" y="383095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FITKAbstractMainwindowGenerator</a:t>
            </a:r>
            <a:endParaRPr lang="en-US" altLang="zh-CN"/>
          </a:p>
        </p:txBody>
      </p:sp>
      <p:sp>
        <p:nvSpPr>
          <p:cNvPr id="10" name="文本框 9"/>
          <p:cNvSpPr txBox="1"/>
          <p:nvPr/>
        </p:nvSpPr>
        <p:spPr>
          <a:xfrm>
            <a:off x="740410" y="453517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FITKAbstractGlobalDataFactory</a:t>
            </a:r>
            <a:endParaRPr lang="en-US" altLang="zh-CN"/>
          </a:p>
        </p:txBody>
      </p:sp>
      <p:sp>
        <p:nvSpPr>
          <p:cNvPr id="11" name="文本框 10"/>
          <p:cNvSpPr txBox="1"/>
          <p:nvPr/>
        </p:nvSpPr>
        <p:spPr>
          <a:xfrm>
            <a:off x="740410" y="523938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FITKComponentFactory</a:t>
            </a:r>
            <a:endParaRPr lang="en-US" altLang="zh-CN"/>
          </a:p>
        </p:txBody>
      </p:sp>
      <p:sp>
        <p:nvSpPr>
          <p:cNvPr id="19" name="文本框 18"/>
          <p:cNvSpPr txBox="1"/>
          <p:nvPr/>
        </p:nvSpPr>
        <p:spPr>
          <a:xfrm>
            <a:off x="740410" y="594360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FITKAppSettings</a:t>
            </a:r>
            <a:endParaRPr lang="en-US" altLang="zh-CN"/>
          </a:p>
        </p:txBody>
      </p:sp>
      <p:sp>
        <p:nvSpPr>
          <p:cNvPr id="20" name="文本框 19"/>
          <p:cNvSpPr txBox="1"/>
          <p:nvPr/>
        </p:nvSpPr>
        <p:spPr>
          <a:xfrm>
            <a:off x="4940935" y="3830955"/>
            <a:ext cx="5944235" cy="368300"/>
          </a:xfrm>
          <a:prstGeom prst="rect">
            <a:avLst/>
          </a:prstGeom>
          <a:noFill/>
        </p:spPr>
        <p:txBody>
          <a:bodyPr wrap="square" rtlCol="0">
            <a:spAutoFit/>
          </a:bodyPr>
          <a:p>
            <a:r>
              <a:rPr lang="en-US" altLang="zh-CN"/>
              <a:t>       </a:t>
            </a:r>
            <a:r>
              <a:rPr lang="zh-CN" altLang="en-US"/>
              <a:t>抽象类，生成主界面，并加载</a:t>
            </a:r>
            <a:r>
              <a:rPr lang="en-US" altLang="zh-CN"/>
              <a:t>qss</a:t>
            </a:r>
            <a:r>
              <a:rPr lang="zh-CN" altLang="en-US"/>
              <a:t>与翻译文件。</a:t>
            </a:r>
            <a:endParaRPr lang="zh-CN" altLang="en-US"/>
          </a:p>
        </p:txBody>
      </p:sp>
      <p:sp>
        <p:nvSpPr>
          <p:cNvPr id="21" name="文本框 20"/>
          <p:cNvSpPr txBox="1"/>
          <p:nvPr/>
        </p:nvSpPr>
        <p:spPr>
          <a:xfrm>
            <a:off x="4940935" y="4438650"/>
            <a:ext cx="5943600" cy="645160"/>
          </a:xfrm>
          <a:prstGeom prst="rect">
            <a:avLst/>
          </a:prstGeom>
          <a:noFill/>
        </p:spPr>
        <p:txBody>
          <a:bodyPr wrap="square" rtlCol="0">
            <a:spAutoFit/>
          </a:bodyPr>
          <a:p>
            <a:r>
              <a:rPr lang="en-US" altLang="zh-CN"/>
              <a:t>       </a:t>
            </a:r>
            <a:r>
              <a:rPr lang="zh-CN" altLang="en-US"/>
              <a:t>生成全局数据，并放入全局数据进行管理。需派生子类注册到</a:t>
            </a:r>
            <a:r>
              <a:rPr lang="en-US" altLang="zh-CN"/>
              <a:t>FITKApplication</a:t>
            </a:r>
            <a:r>
              <a:rPr lang="zh-CN" altLang="en-US"/>
              <a:t>。</a:t>
            </a:r>
            <a:endParaRPr lang="zh-CN" altLang="en-US"/>
          </a:p>
        </p:txBody>
      </p:sp>
      <p:sp>
        <p:nvSpPr>
          <p:cNvPr id="22" name="文本框 21"/>
          <p:cNvSpPr txBox="1"/>
          <p:nvPr/>
        </p:nvSpPr>
        <p:spPr>
          <a:xfrm>
            <a:off x="4940935" y="5132705"/>
            <a:ext cx="5944870" cy="645160"/>
          </a:xfrm>
          <a:prstGeom prst="rect">
            <a:avLst/>
          </a:prstGeom>
          <a:noFill/>
        </p:spPr>
        <p:txBody>
          <a:bodyPr wrap="square" rtlCol="0">
            <a:spAutoFit/>
          </a:bodyPr>
          <a:p>
            <a:r>
              <a:rPr lang="en-US" altLang="zh-CN"/>
              <a:t>       </a:t>
            </a:r>
            <a:r>
              <a:rPr lang="zh-CN" altLang="en-US"/>
              <a:t>创建组件，并放入组件管理器，需派生子类注册到</a:t>
            </a:r>
            <a:r>
              <a:rPr lang="en-US" altLang="zh-CN"/>
              <a:t>FITKApplication</a:t>
            </a:r>
            <a:r>
              <a:rPr lang="zh-CN" altLang="en-US"/>
              <a:t>。</a:t>
            </a:r>
            <a:endParaRPr lang="zh-CN" altLang="en-US"/>
          </a:p>
        </p:txBody>
      </p:sp>
      <p:sp>
        <p:nvSpPr>
          <p:cNvPr id="23" name="文本框 22"/>
          <p:cNvSpPr txBox="1"/>
          <p:nvPr/>
        </p:nvSpPr>
        <p:spPr>
          <a:xfrm>
            <a:off x="4999990" y="5826760"/>
            <a:ext cx="5885815" cy="645160"/>
          </a:xfrm>
          <a:prstGeom prst="rect">
            <a:avLst/>
          </a:prstGeom>
          <a:noFill/>
        </p:spPr>
        <p:txBody>
          <a:bodyPr wrap="square" rtlCol="0">
            <a:spAutoFit/>
          </a:bodyPr>
          <a:p>
            <a:r>
              <a:rPr lang="en-US" altLang="zh-CN"/>
              <a:t>       </a:t>
            </a:r>
            <a:r>
              <a:rPr lang="zh-CN" altLang="en-US"/>
              <a:t>软件运行时设定，可以读入写出</a:t>
            </a:r>
            <a:r>
              <a:rPr lang="en-US" altLang="zh-CN"/>
              <a:t>INI</a:t>
            </a:r>
            <a:r>
              <a:rPr lang="zh-CN" altLang="en-US"/>
              <a:t>文件，可派生子类注册到</a:t>
            </a:r>
            <a:r>
              <a:rPr lang="en-US" altLang="zh-CN"/>
              <a:t>FITKApplication</a:t>
            </a:r>
            <a:r>
              <a:rPr lang="zh-CN" altLang="en-US"/>
              <a:t>。</a:t>
            </a:r>
            <a:endParaRPr lang="zh-CN" altLang="en-US"/>
          </a:p>
        </p:txBody>
      </p:sp>
    </p:spTree>
  </p:cSld>
  <p:clrMapOvr>
    <a:masterClrMapping/>
  </p:clrMapOvr>
  <p:transition spd="slow" advClick="0"/>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适配器数据</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FITKAdaptor</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55015" y="1124585"/>
            <a:ext cx="10130790" cy="922020"/>
          </a:xfrm>
          <a:prstGeom prst="rect">
            <a:avLst/>
          </a:prstGeom>
          <a:noFill/>
        </p:spPr>
        <p:txBody>
          <a:bodyPr wrap="square" rtlCol="0">
            <a:spAutoFit/>
          </a:bodyPr>
          <a:p>
            <a:pPr>
              <a:lnSpc>
                <a:spcPct val="150000"/>
              </a:lnSpc>
            </a:pPr>
            <a:r>
              <a:rPr lang="en-US" altLang="zh-CN"/>
              <a:t>       </a:t>
            </a:r>
            <a:r>
              <a:rPr lang="zh-CN" altLang="en-US"/>
              <a:t>适配器是让原本接口不兼容的类能够协同工作。具有文件</a:t>
            </a:r>
            <a:r>
              <a:rPr lang="en-US" altLang="zh-CN"/>
              <a:t>IO</a:t>
            </a:r>
            <a:r>
              <a:rPr lang="zh-CN" altLang="en-US"/>
              <a:t>读写适配器抽象类、</a:t>
            </a:r>
            <a:r>
              <a:rPr lang="zh-CN" altLang="en-US">
                <a:sym typeface="+mn-ea"/>
              </a:rPr>
              <a:t>可视化对象适配器抽象类。</a:t>
            </a:r>
            <a:endParaRPr lang="zh-CN" altLang="en-US"/>
          </a:p>
        </p:txBody>
      </p:sp>
      <p:sp>
        <p:nvSpPr>
          <p:cNvPr id="6" name="文本框 5"/>
          <p:cNvSpPr txBox="1"/>
          <p:nvPr>
            <p:custDataLst>
              <p:tags r:id="rId2"/>
            </p:custDataLst>
          </p:nvPr>
        </p:nvSpPr>
        <p:spPr>
          <a:xfrm>
            <a:off x="798830" y="242252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FITKAbstractAdaptor</a:t>
            </a:r>
            <a:endParaRPr lang="en-US" altLang="zh-CN"/>
          </a:p>
        </p:txBody>
      </p:sp>
      <p:sp>
        <p:nvSpPr>
          <p:cNvPr id="4" name="文本框 3"/>
          <p:cNvSpPr txBox="1"/>
          <p:nvPr>
            <p:custDataLst>
              <p:tags r:id="rId3"/>
            </p:custDataLst>
          </p:nvPr>
        </p:nvSpPr>
        <p:spPr>
          <a:xfrm>
            <a:off x="4999355" y="2322830"/>
            <a:ext cx="5943600" cy="368300"/>
          </a:xfrm>
          <a:prstGeom prst="rect">
            <a:avLst/>
          </a:prstGeom>
          <a:noFill/>
        </p:spPr>
        <p:txBody>
          <a:bodyPr wrap="square" rtlCol="0">
            <a:spAutoFit/>
          </a:bodyPr>
          <a:p>
            <a:r>
              <a:rPr lang="en-US" altLang="zh-CN"/>
              <a:t>       </a:t>
            </a:r>
            <a:r>
              <a:rPr lang="zh-CN" altLang="en-US"/>
              <a:t>抽象适配器类。是所有适配器的</a:t>
            </a:r>
            <a:r>
              <a:rPr lang="zh-CN" altLang="en-US"/>
              <a:t>抽象接口。</a:t>
            </a:r>
            <a:endParaRPr lang="zh-CN" altLang="en-US"/>
          </a:p>
        </p:txBody>
      </p:sp>
      <p:sp>
        <p:nvSpPr>
          <p:cNvPr id="5" name="文本框 4"/>
          <p:cNvSpPr txBox="1"/>
          <p:nvPr>
            <p:custDataLst>
              <p:tags r:id="rId4"/>
            </p:custDataLst>
          </p:nvPr>
        </p:nvSpPr>
        <p:spPr>
          <a:xfrm>
            <a:off x="798830" y="312674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FITKAbstractIOAdaptor</a:t>
            </a:r>
            <a:endParaRPr lang="en-US" altLang="zh-CN"/>
          </a:p>
        </p:txBody>
      </p:sp>
      <p:sp>
        <p:nvSpPr>
          <p:cNvPr id="7" name="文本框 6"/>
          <p:cNvSpPr txBox="1"/>
          <p:nvPr>
            <p:custDataLst>
              <p:tags r:id="rId5"/>
            </p:custDataLst>
          </p:nvPr>
        </p:nvSpPr>
        <p:spPr>
          <a:xfrm>
            <a:off x="4999355" y="2999740"/>
            <a:ext cx="5943600" cy="645160"/>
          </a:xfrm>
          <a:prstGeom prst="rect">
            <a:avLst/>
          </a:prstGeom>
          <a:noFill/>
        </p:spPr>
        <p:txBody>
          <a:bodyPr wrap="square" rtlCol="0">
            <a:spAutoFit/>
          </a:bodyPr>
          <a:p>
            <a:r>
              <a:rPr lang="en-US" altLang="zh-CN"/>
              <a:t>       </a:t>
            </a:r>
            <a:r>
              <a:rPr lang="zh-CN" altLang="en-US"/>
              <a:t>数据读写</a:t>
            </a:r>
            <a:r>
              <a:rPr lang="en-US" altLang="zh-CN"/>
              <a:t>IO</a:t>
            </a:r>
            <a:r>
              <a:rPr lang="zh-CN" altLang="en-US"/>
              <a:t>适配器</a:t>
            </a:r>
            <a:r>
              <a:rPr lang="zh-CN" altLang="en-US">
                <a:sym typeface="+mn-ea"/>
              </a:rPr>
              <a:t>抽象类</a:t>
            </a:r>
            <a:r>
              <a:rPr lang="zh-CN" altLang="en-US"/>
              <a:t>。用于外部数据到数据框架的中间层</a:t>
            </a:r>
            <a:r>
              <a:rPr lang="zh-CN" altLang="en-US"/>
              <a:t>转换。</a:t>
            </a:r>
            <a:endParaRPr lang="zh-CN" altLang="en-US"/>
          </a:p>
        </p:txBody>
      </p:sp>
      <p:sp>
        <p:nvSpPr>
          <p:cNvPr id="8" name="文本框 7"/>
          <p:cNvSpPr txBox="1"/>
          <p:nvPr>
            <p:custDataLst>
              <p:tags r:id="rId6"/>
            </p:custDataLst>
          </p:nvPr>
        </p:nvSpPr>
        <p:spPr>
          <a:xfrm>
            <a:off x="798830" y="383095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FITKAbstractViewAdaptor</a:t>
            </a:r>
            <a:endParaRPr lang="en-US" altLang="zh-CN"/>
          </a:p>
        </p:txBody>
      </p:sp>
      <p:sp>
        <p:nvSpPr>
          <p:cNvPr id="10" name="文本框 9"/>
          <p:cNvSpPr txBox="1"/>
          <p:nvPr>
            <p:custDataLst>
              <p:tags r:id="rId7"/>
            </p:custDataLst>
          </p:nvPr>
        </p:nvSpPr>
        <p:spPr>
          <a:xfrm>
            <a:off x="798830" y="4535170"/>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FITKIOAdaptorFactory</a:t>
            </a:r>
            <a:endParaRPr lang="en-US" altLang="zh-CN"/>
          </a:p>
        </p:txBody>
      </p:sp>
      <p:sp>
        <p:nvSpPr>
          <p:cNvPr id="11" name="文本框 10"/>
          <p:cNvSpPr txBox="1"/>
          <p:nvPr>
            <p:custDataLst>
              <p:tags r:id="rId8"/>
            </p:custDataLst>
          </p:nvPr>
        </p:nvSpPr>
        <p:spPr>
          <a:xfrm>
            <a:off x="798830" y="5239385"/>
            <a:ext cx="3975735" cy="545465"/>
          </a:xfrm>
          <a:prstGeom prst="rect">
            <a:avLst/>
          </a:prstGeom>
          <a:solidFill>
            <a:srgbClr val="00B0F0"/>
          </a:solidFill>
          <a:ln>
            <a:solidFill>
              <a:schemeClr val="tx1"/>
            </a:solidFill>
          </a:ln>
        </p:spPr>
        <p:txBody>
          <a:bodyPr wrap="square" rtlCol="0" anchor="ctr" anchorCtr="0">
            <a:noAutofit/>
          </a:bodyPr>
          <a:p>
            <a:pPr algn="ctr"/>
            <a:r>
              <a:rPr lang="en-US" altLang="zh-CN"/>
              <a:t>FITKViewAdaptorFactory</a:t>
            </a:r>
            <a:endParaRPr lang="en-US" altLang="zh-CN"/>
          </a:p>
        </p:txBody>
      </p:sp>
      <p:sp>
        <p:nvSpPr>
          <p:cNvPr id="20" name="文本框 19"/>
          <p:cNvSpPr txBox="1"/>
          <p:nvPr>
            <p:custDataLst>
              <p:tags r:id="rId9"/>
            </p:custDataLst>
          </p:nvPr>
        </p:nvSpPr>
        <p:spPr>
          <a:xfrm>
            <a:off x="4999355" y="3830955"/>
            <a:ext cx="5944235" cy="645160"/>
          </a:xfrm>
          <a:prstGeom prst="rect">
            <a:avLst/>
          </a:prstGeom>
          <a:noFill/>
        </p:spPr>
        <p:txBody>
          <a:bodyPr wrap="square" rtlCol="0">
            <a:spAutoFit/>
          </a:bodyPr>
          <a:p>
            <a:r>
              <a:rPr lang="en-US" altLang="zh-CN"/>
              <a:t>       </a:t>
            </a:r>
            <a:r>
              <a:rPr lang="zh-CN" altLang="en-US"/>
              <a:t>可视化对象适配器抽象类。用于数据结构中数据与渲染对象的中间层</a:t>
            </a:r>
            <a:r>
              <a:rPr lang="zh-CN" altLang="en-US"/>
              <a:t>转换。</a:t>
            </a:r>
            <a:endParaRPr lang="zh-CN" altLang="en-US"/>
          </a:p>
        </p:txBody>
      </p:sp>
      <p:sp>
        <p:nvSpPr>
          <p:cNvPr id="21" name="文本框 20"/>
          <p:cNvSpPr txBox="1"/>
          <p:nvPr>
            <p:custDataLst>
              <p:tags r:id="rId10"/>
            </p:custDataLst>
          </p:nvPr>
        </p:nvSpPr>
        <p:spPr>
          <a:xfrm>
            <a:off x="4999355" y="4570095"/>
            <a:ext cx="5943600" cy="368300"/>
          </a:xfrm>
          <a:prstGeom prst="rect">
            <a:avLst/>
          </a:prstGeom>
          <a:noFill/>
        </p:spPr>
        <p:txBody>
          <a:bodyPr wrap="square" rtlCol="0">
            <a:spAutoFit/>
          </a:bodyPr>
          <a:p>
            <a:r>
              <a:rPr lang="en-US" altLang="zh-CN"/>
              <a:t>       </a:t>
            </a:r>
            <a:r>
              <a:rPr lang="zh-CN" altLang="en-US">
                <a:sym typeface="+mn-ea"/>
              </a:rPr>
              <a:t>数据读写</a:t>
            </a:r>
            <a:r>
              <a:rPr lang="en-US" altLang="zh-CN">
                <a:sym typeface="+mn-ea"/>
              </a:rPr>
              <a:t>IO</a:t>
            </a:r>
            <a:r>
              <a:rPr lang="zh-CN" altLang="en-US">
                <a:sym typeface="+mn-ea"/>
              </a:rPr>
              <a:t>适配器工厂</a:t>
            </a:r>
            <a:r>
              <a:rPr lang="zh-CN" altLang="en-US"/>
              <a:t>，管理</a:t>
            </a:r>
            <a:r>
              <a:rPr lang="zh-CN" altLang="en-US">
                <a:sym typeface="+mn-ea"/>
              </a:rPr>
              <a:t>数据读写</a:t>
            </a:r>
            <a:r>
              <a:rPr lang="en-US" altLang="zh-CN">
                <a:sym typeface="+mn-ea"/>
              </a:rPr>
              <a:t>IO</a:t>
            </a:r>
            <a:r>
              <a:rPr lang="zh-CN" altLang="en-US">
                <a:sym typeface="+mn-ea"/>
              </a:rPr>
              <a:t>适配器</a:t>
            </a:r>
            <a:r>
              <a:rPr lang="zh-CN" altLang="en-US"/>
              <a:t>。</a:t>
            </a:r>
            <a:endParaRPr lang="zh-CN" altLang="en-US"/>
          </a:p>
        </p:txBody>
      </p:sp>
      <p:sp>
        <p:nvSpPr>
          <p:cNvPr id="22" name="文本框 21"/>
          <p:cNvSpPr txBox="1"/>
          <p:nvPr>
            <p:custDataLst>
              <p:tags r:id="rId11"/>
            </p:custDataLst>
          </p:nvPr>
        </p:nvSpPr>
        <p:spPr>
          <a:xfrm>
            <a:off x="4999355" y="5278755"/>
            <a:ext cx="5944870" cy="368300"/>
          </a:xfrm>
          <a:prstGeom prst="rect">
            <a:avLst/>
          </a:prstGeom>
          <a:noFill/>
        </p:spPr>
        <p:txBody>
          <a:bodyPr wrap="square" rtlCol="0">
            <a:spAutoFit/>
          </a:bodyPr>
          <a:p>
            <a:r>
              <a:rPr lang="en-US" altLang="zh-CN"/>
              <a:t>       </a:t>
            </a:r>
            <a:r>
              <a:rPr lang="zh-CN" altLang="en-US">
                <a:sym typeface="+mn-ea"/>
              </a:rPr>
              <a:t>可视化对象适配器工厂。管理可视化对象</a:t>
            </a:r>
            <a:r>
              <a:rPr lang="zh-CN" altLang="en-US">
                <a:sym typeface="+mn-ea"/>
              </a:rPr>
              <a:t>适配器</a:t>
            </a:r>
            <a:r>
              <a:rPr lang="zh-CN" altLang="en-US">
                <a:sym typeface="+mn-ea"/>
              </a:rPr>
              <a:t>。</a:t>
            </a:r>
            <a:endParaRPr lang="zh-CN" altLang="en-US"/>
          </a:p>
        </p:txBody>
      </p:sp>
    </p:spTree>
  </p:cSld>
  <p:clrMapOvr>
    <a:masterClrMapping/>
  </p:clrMapOvr>
  <p:transition spd="slow" advClick="0"/>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Python</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脚本数据</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FITKPython</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pic>
        <p:nvPicPr>
          <p:cNvPr id="2" name="图片 1"/>
          <p:cNvPicPr>
            <a:picLocks noChangeAspect="1"/>
          </p:cNvPicPr>
          <p:nvPr/>
        </p:nvPicPr>
        <p:blipFill>
          <a:blip r:embed="rId2"/>
          <a:stretch>
            <a:fillRect/>
          </a:stretch>
        </p:blipFill>
        <p:spPr>
          <a:xfrm>
            <a:off x="1524000" y="2143760"/>
            <a:ext cx="5969635" cy="4403090"/>
          </a:xfrm>
          <a:prstGeom prst="rect">
            <a:avLst/>
          </a:prstGeom>
        </p:spPr>
      </p:pic>
      <p:sp>
        <p:nvSpPr>
          <p:cNvPr id="4" name="文本框 3"/>
          <p:cNvSpPr txBox="1"/>
          <p:nvPr/>
        </p:nvSpPr>
        <p:spPr>
          <a:xfrm>
            <a:off x="739775" y="1060450"/>
            <a:ext cx="9761220" cy="922020"/>
          </a:xfrm>
          <a:prstGeom prst="rect">
            <a:avLst/>
          </a:prstGeom>
          <a:noFill/>
        </p:spPr>
        <p:txBody>
          <a:bodyPr wrap="square" rtlCol="0">
            <a:spAutoFit/>
          </a:bodyPr>
          <a:p>
            <a:pPr>
              <a:lnSpc>
                <a:spcPct val="150000"/>
              </a:lnSpc>
            </a:pPr>
            <a:r>
              <a:rPr lang="en-US" altLang="zh-CN"/>
              <a:t>       Python</a:t>
            </a:r>
            <a:r>
              <a:rPr lang="zh-CN" altLang="en-US"/>
              <a:t>脚本实现了两种语言的无缝协作，为用户通过调用命令直接更改数据提供接口，方便了用户的</a:t>
            </a:r>
            <a:r>
              <a:rPr lang="zh-CN" altLang="en-US"/>
              <a:t>操作。</a:t>
            </a:r>
            <a:endParaRPr lang="zh-CN" altLang="en-US"/>
          </a:p>
        </p:txBody>
      </p:sp>
      <p:pic>
        <p:nvPicPr>
          <p:cNvPr id="5" name="图片 4"/>
          <p:cNvPicPr>
            <a:picLocks noChangeAspect="1"/>
          </p:cNvPicPr>
          <p:nvPr/>
        </p:nvPicPr>
        <p:blipFill>
          <a:blip r:embed="rId3"/>
          <a:stretch>
            <a:fillRect/>
          </a:stretch>
        </p:blipFill>
        <p:spPr>
          <a:xfrm>
            <a:off x="7969250" y="3516630"/>
            <a:ext cx="3676650" cy="1657350"/>
          </a:xfrm>
          <a:prstGeom prst="rect">
            <a:avLst/>
          </a:prstGeom>
        </p:spPr>
      </p:pic>
    </p:spTree>
  </p:cSld>
  <p:clrMapOvr>
    <a:masterClrMapping/>
  </p:clrMapOvr>
  <p:transition spd="slow" advClick="0"/>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Abaques</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的</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inp</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文件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IO</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组件（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FITKAbaqusIOINP</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Part05</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034415"/>
            <a:ext cx="10370185" cy="1753235"/>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FITKAbaqusIOINP是Abaques的inp文件IO组件，用于结构软件读取inp文件数据、Abaques求解计算输入文件。其中包含模型定义、网格划分、边界条件、分析步。组件根据Abaques的inp文件格式对数据进行存储。FITKAbaqusINPIO是inp文件IO接口，</a:t>
            </a:r>
            <a:r>
              <a:rPr lang="en-US" altLang="zh-CN">
                <a:latin typeface="微软雅黑" panose="020B0503020204020204" charset="-122"/>
                <a:ea typeface="微软雅黑" panose="020B0503020204020204" charset="-122"/>
                <a:cs typeface="微软雅黑" panose="020B0503020204020204" charset="-122"/>
                <a:sym typeface="+mn-ea"/>
              </a:rPr>
              <a:t>通过组件注册的方式将</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Abaques的inp文件IO</a:t>
            </a:r>
            <a:r>
              <a:rPr lang="en-US" altLang="zh-CN">
                <a:latin typeface="微软雅黑" panose="020B0503020204020204" charset="-122"/>
                <a:ea typeface="微软雅黑" panose="020B0503020204020204" charset="-122"/>
                <a:cs typeface="微软雅黑" panose="020B0503020204020204" charset="-122"/>
                <a:sym typeface="+mn-ea"/>
              </a:rPr>
              <a:t>组件注册到组件工厂容器中。</a:t>
            </a:r>
            <a:endParaRPr lang="zh-CN" altLang="en-US" b="1" dirty="0">
              <a:solidFill>
                <a:srgbClr val="000000"/>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2"/>
          <a:stretch>
            <a:fillRect/>
          </a:stretch>
        </p:blipFill>
        <p:spPr>
          <a:xfrm>
            <a:off x="2267585" y="2787650"/>
            <a:ext cx="7315200" cy="4010025"/>
          </a:xfrm>
          <a:prstGeom prst="rect">
            <a:avLst/>
          </a:prstGeom>
        </p:spPr>
      </p:pic>
    </p:spTree>
  </p:cSld>
  <p:clrMapOvr>
    <a:masterClrMapping/>
  </p:clrMapOvr>
  <p:transition spd="slow" advClick="0"/>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CalculiX</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的</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inp</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文件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IO</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组件</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FITKCalculiXInpIO</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41338" y="438512"/>
            <a:ext cx="1980982" cy="460800"/>
            <a:chOff x="541338" y="438512"/>
            <a:chExt cx="1980982" cy="460800"/>
          </a:xfrm>
        </p:grpSpPr>
        <p:grpSp>
          <p:nvGrpSpPr>
            <p:cNvPr id="14" name="组合 69"/>
            <p:cNvGrpSpPr/>
            <p:nvPr/>
          </p:nvGrpSpPr>
          <p:grpSpPr>
            <a:xfrm>
              <a:off x="541338" y="438512"/>
              <a:ext cx="1771876" cy="460800"/>
              <a:chOff x="2316840" y="1928066"/>
              <a:chExt cx="2093613"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16840"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Part06</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975360"/>
            <a:ext cx="10370185" cy="1753235"/>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FITKCalculiXInpIO是CalculiX的inp文件IO组件，用于结构软件读取inp文件数据、CalculiX求解计算输入文件。其中包含模型定义、网格划分、边界条件、分析步。组件根据CalculiX的inp文件格式对数据进行存储。FITKCalculiXINPIO是inp文件IO接口，</a:t>
            </a:r>
            <a:r>
              <a:rPr lang="en-US" altLang="zh-CN">
                <a:latin typeface="微软雅黑" panose="020B0503020204020204" charset="-122"/>
                <a:ea typeface="微软雅黑" panose="020B0503020204020204" charset="-122"/>
                <a:cs typeface="微软雅黑" panose="020B0503020204020204" charset="-122"/>
                <a:sym typeface="+mn-ea"/>
              </a:rPr>
              <a:t>通过组件注册的方式将</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CalculiX的inp文件IO</a:t>
            </a:r>
            <a:r>
              <a:rPr lang="en-US" altLang="zh-CN">
                <a:latin typeface="微软雅黑" panose="020B0503020204020204" charset="-122"/>
                <a:ea typeface="微软雅黑" panose="020B0503020204020204" charset="-122"/>
                <a:cs typeface="微软雅黑" panose="020B0503020204020204" charset="-122"/>
                <a:sym typeface="+mn-ea"/>
              </a:rPr>
              <a:t>组件注册到组件工厂容器中。</a:t>
            </a:r>
            <a:endParaRPr lang="zh-CN" altLang="en-US" b="1" dirty="0">
              <a:solidFill>
                <a:srgbClr val="000000"/>
              </a:solidFill>
              <a:latin typeface="微软雅黑" panose="020B0503020204020204" charset="-122"/>
              <a:ea typeface="微软雅黑" panose="020B0503020204020204" charset="-122"/>
              <a:sym typeface="微软雅黑" panose="020B0503020204020204" charset="-122"/>
            </a:endParaRPr>
          </a:p>
        </p:txBody>
      </p:sp>
      <p:pic>
        <p:nvPicPr>
          <p:cNvPr id="4" name="图片 3"/>
          <p:cNvPicPr>
            <a:picLocks noChangeAspect="1"/>
          </p:cNvPicPr>
          <p:nvPr/>
        </p:nvPicPr>
        <p:blipFill>
          <a:blip r:embed="rId2"/>
          <a:stretch>
            <a:fillRect/>
          </a:stretch>
        </p:blipFill>
        <p:spPr>
          <a:xfrm>
            <a:off x="1609090" y="2728595"/>
            <a:ext cx="7324725" cy="4067175"/>
          </a:xfrm>
          <a:prstGeom prst="rect">
            <a:avLst/>
          </a:prstGeom>
        </p:spPr>
      </p:pic>
    </p:spTree>
  </p:cSld>
  <p:clrMapOvr>
    <a:masterClrMapping/>
  </p:clrMapOvr>
  <p:transition spd="slow" advClick="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几何</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OCC</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组件（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FITKGeoCompOCC</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Part07</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1045" y="1075055"/>
            <a:ext cx="10290810" cy="1753235"/>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FITKGeoCompOCC几何建模组件是一个继承自接口层几何模块的一个组件，其中包含一个组件接口、几何模型数据获取工具、OCC形状数据代理器、几何模型拆分工具与管理器、基准元素创建以及模型与几何建模命令的OCC实现。FITKGeoCompOCCInterface建模组件接口类，内部对该组件支持的所有建模命令以及辅助元素创建方式在抽象层工厂内进行了注册。</a:t>
            </a:r>
            <a:endPar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p:cNvPicPr>
            <a:picLocks noChangeAspect="1"/>
          </p:cNvPicPr>
          <p:nvPr/>
        </p:nvPicPr>
        <p:blipFill>
          <a:blip r:embed="rId2"/>
          <a:stretch>
            <a:fillRect/>
          </a:stretch>
        </p:blipFill>
        <p:spPr>
          <a:xfrm>
            <a:off x="1536065" y="2842260"/>
            <a:ext cx="7769860" cy="3985895"/>
          </a:xfrm>
          <a:prstGeom prst="rect">
            <a:avLst/>
          </a:prstGeom>
        </p:spPr>
      </p:pic>
    </p:spTree>
  </p:cSld>
  <p:clrMapOvr>
    <a:masterClrMapping/>
  </p:clrMapOvr>
  <p:transition spd="slow" advClick="0"/>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VTK</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三维渲染窗口组件（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FITKRenderWindowVTK</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Part08</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981075"/>
            <a:ext cx="10246995" cy="1337945"/>
          </a:xfrm>
          <a:prstGeom prst="rect">
            <a:avLst/>
          </a:prstGeom>
          <a:noFill/>
        </p:spPr>
        <p:txBody>
          <a:bodyPr wrap="square" rtlCol="0">
            <a:spAutoFit/>
          </a:bodyPr>
          <a:p>
            <a:pPr>
              <a:lnSpc>
                <a:spcPct val="150000"/>
              </a:lnSpc>
            </a:pPr>
            <a:r>
              <a:rPr lang="en-US" altLang="zh-CN"/>
              <a:t>       </a:t>
            </a:r>
            <a:r>
              <a:rPr lang="en-US" altLang="zh-CN">
                <a:latin typeface="微软雅黑" panose="020B0503020204020204" charset="-122"/>
                <a:ea typeface="微软雅黑" panose="020B0503020204020204" charset="-122"/>
                <a:cs typeface="微软雅黑" panose="020B0503020204020204" charset="-122"/>
              </a:rPr>
              <a:t>VTK三维渲染窗口组件是一个UI组件，它可以为外部提供一个含有多个渲染层的VTK渲染窗口，该渲染窗口中包含一个三维坐标轴对象。同时该组件中存放了一系列有关窗口的窗口组件以及作为窗口输入数据的可视化对象抽象类。</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2"/>
          <a:stretch>
            <a:fillRect/>
          </a:stretch>
        </p:blipFill>
        <p:spPr>
          <a:xfrm>
            <a:off x="2766060" y="2315845"/>
            <a:ext cx="5300980" cy="3509010"/>
          </a:xfrm>
          <a:prstGeom prst="rect">
            <a:avLst/>
          </a:prstGeom>
        </p:spPr>
      </p:pic>
      <p:sp>
        <p:nvSpPr>
          <p:cNvPr id="8" name="文本框 7"/>
          <p:cNvSpPr txBox="1"/>
          <p:nvPr/>
        </p:nvSpPr>
        <p:spPr>
          <a:xfrm>
            <a:off x="740410" y="5824855"/>
            <a:ext cx="10720705" cy="935355"/>
          </a:xfrm>
          <a:prstGeom prst="rect">
            <a:avLst/>
          </a:prstGeom>
          <a:noFill/>
        </p:spPr>
        <p:txBody>
          <a:bodyPr wrap="square" rtlCol="0">
            <a:noAutofit/>
          </a:bodyPr>
          <a:p>
            <a:pPr>
              <a:lnSpc>
                <a:spcPct val="150000"/>
              </a:lnSpc>
            </a:pPr>
            <a:r>
              <a:rPr lang="en-US" altLang="zh-CN"/>
              <a:t>       </a:t>
            </a:r>
            <a:r>
              <a:rPr lang="en-US" altLang="zh-CN">
                <a:latin typeface="微软雅黑" panose="020B0503020204020204" charset="-122"/>
                <a:ea typeface="微软雅黑" panose="020B0503020204020204" charset="-122"/>
                <a:cs typeface="微软雅黑" panose="020B0503020204020204" charset="-122"/>
              </a:rPr>
              <a:t>此外，该组件窗口中提供了若干常用三维视角切换以及样式修改接口，如：自适应相机视距、XYZ正负方向快捷切换、正交/透视投影切换、修改背景颜色等</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advClick="0"/>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VTK</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三维可视化适配器组件（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FITKVTKGraphAdaptor</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Part09</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39140" y="1092200"/>
            <a:ext cx="10174605" cy="922020"/>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rPr>
              <a:t>VTK三维可视化适配器组件是一个数据转换模块，用于连接数据格式与外部系统的中间层组件，其中包含建模软件中所有三维模型以及其一些附加辅助元素的图素与数据转换器。</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739140" y="2002790"/>
            <a:ext cx="5447665" cy="3592195"/>
          </a:xfrm>
          <a:prstGeom prst="rect">
            <a:avLst/>
          </a:prstGeom>
        </p:spPr>
      </p:pic>
      <p:sp>
        <p:nvSpPr>
          <p:cNvPr id="5" name="文本框 4"/>
          <p:cNvSpPr txBox="1"/>
          <p:nvPr/>
        </p:nvSpPr>
        <p:spPr>
          <a:xfrm>
            <a:off x="739140" y="5525770"/>
            <a:ext cx="10174605" cy="1337945"/>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rPr>
              <a:t>该组件需要搭配接口层的数据模块以及三维可视化窗口进行使用，在同时拥有数据层模块以及窗口模块的依赖之后，可在代码中使用可视化适配器工厂进行适配器的创建，并在适配器更新数据后将转换生成的可视化对象返回。</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3"/>
          <a:stretch>
            <a:fillRect/>
          </a:stretch>
        </p:blipFill>
        <p:spPr>
          <a:xfrm>
            <a:off x="6275705" y="2186940"/>
            <a:ext cx="5580380" cy="2892425"/>
          </a:xfrm>
          <a:prstGeom prst="rect">
            <a:avLst/>
          </a:prstGeom>
        </p:spPr>
      </p:pic>
    </p:spTree>
  </p:cSld>
  <p:clrMapOvr>
    <a:masterClrMapping/>
  </p:clrMapOvr>
  <p:transition spd="slow" advClick="0"/>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消息控制台</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组件（</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FITKCompMessageWidget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Part10</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012190"/>
            <a:ext cx="10404475" cy="2168525"/>
          </a:xfrm>
          <a:prstGeom prst="rect">
            <a:avLst/>
          </a:prstGeom>
          <a:noFill/>
        </p:spPr>
        <p:txBody>
          <a:bodyPr wrap="square" rtlCol="0">
            <a:spAutoFit/>
          </a:bodyPr>
          <a:p>
            <a:pPr>
              <a:lnSpc>
                <a:spcPct val="150000"/>
              </a:lnSpc>
            </a:pPr>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FITKCompMessageWidget</a:t>
            </a:r>
            <a:r>
              <a:rPr lang="en-US" altLang="zh-CN">
                <a:latin typeface="微软雅黑" panose="020B0503020204020204" charset="-122"/>
                <a:ea typeface="微软雅黑" panose="020B0503020204020204" charset="-122"/>
                <a:cs typeface="微软雅黑" panose="020B0503020204020204" charset="-122"/>
              </a:rPr>
              <a:t>信息输出组件是一个UI组件，是一个独立的QWidget对象，用于软件运行时的信息输出，包含常规信息、警告信息、错误信息、以及其他信息（求解过程信息输出）等。</a:t>
            </a:r>
            <a:endParaRPr lang="en-US" altLang="zh-CN">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b="1" dirty="0">
                <a:solidFill>
                  <a:srgbClr val="000000"/>
                </a:solidFill>
                <a:latin typeface="微软雅黑" panose="020B0503020204020204" charset="-122"/>
                <a:ea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rPr>
              <a:t>ConsoleComponent是控制台组件接口。用于组件加载与组件管理，实现信息窗口的管理。</a:t>
            </a:r>
            <a:endParaRPr lang="en-US" altLang="zh-CN">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a:latin typeface="微软雅黑" panose="020B0503020204020204" charset="-122"/>
                <a:ea typeface="微软雅黑" panose="020B0503020204020204" charset="-122"/>
                <a:cs typeface="微软雅黑" panose="020B0503020204020204" charset="-122"/>
              </a:rPr>
              <a:t>       FITKConsole是信息输出窗口UI与功能实现，创建时自动关联FITKAppFramework中的outputMessageSig信号，实现信息自动输出。</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993775" y="3353435"/>
            <a:ext cx="4102735" cy="3223895"/>
          </a:xfrm>
          <a:prstGeom prst="rect">
            <a:avLst/>
          </a:prstGeom>
        </p:spPr>
      </p:pic>
      <p:sp>
        <p:nvSpPr>
          <p:cNvPr id="5" name="文本框 4"/>
          <p:cNvSpPr txBox="1"/>
          <p:nvPr/>
        </p:nvSpPr>
        <p:spPr>
          <a:xfrm>
            <a:off x="5471160" y="3263265"/>
            <a:ext cx="4064000" cy="330200"/>
          </a:xfrm>
          <a:prstGeom prst="rect">
            <a:avLst/>
          </a:prstGeom>
          <a:noFill/>
        </p:spPr>
        <p:txBody>
          <a:bodyPr wrap="square" rtlCol="0">
            <a:noAutofit/>
          </a:bodyPr>
          <a:p>
            <a:r>
              <a:rPr lang="zh-CN" altLang="en-US"/>
              <a:t>组件使用</a:t>
            </a:r>
            <a:r>
              <a:rPr lang="zh-CN" altLang="en-US"/>
              <a:t>实例：</a:t>
            </a:r>
            <a:endParaRPr lang="zh-CN" altLang="en-US"/>
          </a:p>
        </p:txBody>
      </p:sp>
      <p:pic>
        <p:nvPicPr>
          <p:cNvPr id="6" name="图片 5"/>
          <p:cNvPicPr>
            <a:picLocks noChangeAspect="1"/>
          </p:cNvPicPr>
          <p:nvPr/>
        </p:nvPicPr>
        <p:blipFill>
          <a:blip r:embed="rId3"/>
          <a:stretch>
            <a:fillRect/>
          </a:stretch>
        </p:blipFill>
        <p:spPr>
          <a:xfrm>
            <a:off x="5529580" y="3613150"/>
            <a:ext cx="6012815" cy="2876550"/>
          </a:xfrm>
          <a:prstGeom prst="rect">
            <a:avLst/>
          </a:prstGeom>
        </p:spPr>
      </p:pic>
    </p:spTree>
  </p:cSld>
  <p:clrMapOvr>
    <a:masterClrMapping/>
  </p:clrMapOvr>
  <p:transition spd="slow" advClick="0"/>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模型外部</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接口（</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FITKInterfaceModel</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218565"/>
            <a:ext cx="8473440" cy="368300"/>
          </a:xfrm>
          <a:prstGeom prst="rect">
            <a:avLst/>
          </a:prstGeom>
          <a:noFill/>
        </p:spPr>
        <p:txBody>
          <a:bodyPr wrap="square" rtlCol="0">
            <a:spAutoFit/>
          </a:bodyPr>
          <a:p>
            <a:r>
              <a:rPr lang="en-US" altLang="zh-CN" b="1" dirty="0">
                <a:solidFill>
                  <a:srgbClr val="000000"/>
                </a:solidFill>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定义几何模型的基本接口，创建、编辑等，包含部件装配体定义。</a:t>
            </a:r>
            <a:endParaRPr lang="zh-CN" altLang="en-US"/>
          </a:p>
        </p:txBody>
      </p:sp>
      <p:pic>
        <p:nvPicPr>
          <p:cNvPr id="7" name="图片 6"/>
          <p:cNvPicPr>
            <a:picLocks noChangeAspect="1"/>
          </p:cNvPicPr>
          <p:nvPr/>
        </p:nvPicPr>
        <p:blipFill>
          <a:blip r:embed="rId2"/>
          <a:stretch>
            <a:fillRect/>
          </a:stretch>
        </p:blipFill>
        <p:spPr>
          <a:xfrm>
            <a:off x="532130" y="1586865"/>
            <a:ext cx="2654300" cy="5146040"/>
          </a:xfrm>
          <a:prstGeom prst="rect">
            <a:avLst/>
          </a:prstGeom>
        </p:spPr>
      </p:pic>
      <p:pic>
        <p:nvPicPr>
          <p:cNvPr id="8" name="图片 7"/>
          <p:cNvPicPr>
            <a:picLocks noChangeAspect="1"/>
          </p:cNvPicPr>
          <p:nvPr/>
        </p:nvPicPr>
        <p:blipFill>
          <a:blip r:embed="rId3"/>
          <a:stretch>
            <a:fillRect/>
          </a:stretch>
        </p:blipFill>
        <p:spPr>
          <a:xfrm>
            <a:off x="3332480" y="1577340"/>
            <a:ext cx="3223260" cy="5155565"/>
          </a:xfrm>
          <a:prstGeom prst="rect">
            <a:avLst/>
          </a:prstGeom>
        </p:spPr>
      </p:pic>
      <p:pic>
        <p:nvPicPr>
          <p:cNvPr id="10" name="图片 9"/>
          <p:cNvPicPr>
            <a:picLocks noChangeAspect="1"/>
          </p:cNvPicPr>
          <p:nvPr/>
        </p:nvPicPr>
        <p:blipFill>
          <a:blip r:embed="rId4"/>
          <a:stretch>
            <a:fillRect/>
          </a:stretch>
        </p:blipFill>
        <p:spPr>
          <a:xfrm>
            <a:off x="6732905" y="1577340"/>
            <a:ext cx="3370580" cy="5156200"/>
          </a:xfrm>
          <a:prstGeom prst="rect">
            <a:avLst/>
          </a:prstGeom>
        </p:spPr>
      </p:pic>
    </p:spTree>
  </p:cSld>
  <p:clrMapOvr>
    <a:masterClrMapping/>
  </p:clrMapOvr>
  <p:transition spd="slow" advClick="0"/>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网格</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外部接口（</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FITKInterfaceMesh</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315085"/>
            <a:ext cx="7058025" cy="368300"/>
          </a:xfrm>
          <a:prstGeom prst="rect">
            <a:avLst/>
          </a:prstGeom>
          <a:noFill/>
        </p:spPr>
        <p:txBody>
          <a:bodyPr wrap="square" rtlCol="0">
            <a:spAutoFit/>
          </a:bodyPr>
          <a:p>
            <a:r>
              <a:rPr lang="en-US" altLang="zh-CN" dirty="0">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定义简单的网格数据结构，包含结构网格、非结构网格等。</a:t>
            </a:r>
            <a:endParaRPr lang="en-US" altLang="zh-CN">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2"/>
            </p:custDataLst>
          </p:nvPr>
        </p:nvSpPr>
        <p:spPr>
          <a:xfrm>
            <a:off x="1130935" y="2790825"/>
            <a:ext cx="364617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FITKMeshFeatureVTK</a:t>
            </a:r>
            <a:endParaRPr lang="zh-CN" altLang="en-US"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29" name="矩形 28"/>
          <p:cNvSpPr/>
          <p:nvPr>
            <p:custDataLst>
              <p:tags r:id="rId3"/>
            </p:custDataLst>
          </p:nvPr>
        </p:nvSpPr>
        <p:spPr>
          <a:xfrm>
            <a:off x="1131570" y="4618355"/>
            <a:ext cx="3645535"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FITKUnstructuredFluidMeshVTK</a:t>
            </a:r>
            <a:endPar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6" name="矩形 5"/>
          <p:cNvSpPr/>
          <p:nvPr>
            <p:custDataLst>
              <p:tags r:id="rId4"/>
            </p:custDataLst>
          </p:nvPr>
        </p:nvSpPr>
        <p:spPr>
          <a:xfrm>
            <a:off x="1130935" y="3704590"/>
            <a:ext cx="3646170" cy="55689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p>
            <a:pPr marL="1270" indent="0" algn="ctr">
              <a:buClr>
                <a:schemeClr val="tx1"/>
              </a:buClr>
              <a:buSzPct val="80000"/>
              <a:buFont typeface="Wingdings" panose="05000000000000000000" pitchFamily="2" charset="2"/>
              <a:buNone/>
            </a:pPr>
            <a:r>
              <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rPr>
              <a:t>FITKUnstructuredMeshVTK</a:t>
            </a:r>
            <a:endParaRPr lang="en-US" altLang="zh-CN" dirty="0" smtClean="0">
              <a:solidFill>
                <a:schemeClr val="tx1"/>
              </a:solidFill>
              <a:latin typeface="微软雅黑" panose="020B0503020204020204" charset="-122"/>
              <a:ea typeface="微软雅黑" panose="020B0503020204020204" charset="-122"/>
              <a:cs typeface="宋体" panose="02010600030101010101" pitchFamily="2" charset="-122"/>
            </a:endParaRPr>
          </a:p>
        </p:txBody>
      </p:sp>
      <p:sp>
        <p:nvSpPr>
          <p:cNvPr id="7" name="文本框 6"/>
          <p:cNvSpPr txBox="1"/>
          <p:nvPr>
            <p:custDataLst>
              <p:tags r:id="rId5"/>
            </p:custDataLst>
          </p:nvPr>
        </p:nvSpPr>
        <p:spPr>
          <a:xfrm>
            <a:off x="5259070" y="2764155"/>
            <a:ext cx="5349875" cy="337185"/>
          </a:xfrm>
          <a:prstGeom prst="rect">
            <a:avLst/>
          </a:prstGeom>
          <a:noFill/>
        </p:spPr>
        <p:txBody>
          <a:bodyPr wrap="square" rtlCol="0">
            <a:spAutoFit/>
          </a:bodyPr>
          <a:p>
            <a:r>
              <a:rPr lang="zh-CN" altLang="en-US" sz="1600" dirty="0">
                <a:latin typeface="微软雅黑" panose="020B0503020204020204" charset="-122"/>
                <a:ea typeface="微软雅黑" panose="020B0503020204020204" charset="-122"/>
              </a:rPr>
              <a:t>模型特征数据类</a:t>
            </a:r>
            <a:r>
              <a:rPr lang="en-US" altLang="zh-CN" sz="1600" dirty="0">
                <a:latin typeface="微软雅黑" panose="020B0503020204020204" charset="-122"/>
                <a:ea typeface="微软雅黑" panose="020B0503020204020204" charset="-122"/>
              </a:rPr>
              <a:t>vtk</a:t>
            </a:r>
            <a:r>
              <a:rPr lang="zh-CN" altLang="en-US" sz="1600" dirty="0">
                <a:latin typeface="微软雅黑" panose="020B0503020204020204" charset="-122"/>
                <a:ea typeface="微软雅黑" panose="020B0503020204020204" charset="-122"/>
              </a:rPr>
              <a:t>实现</a:t>
            </a:r>
            <a:r>
              <a:rPr lang="en-US" altLang="zh-CN" sz="1600" dirty="0">
                <a:latin typeface="微软雅黑" panose="020B0503020204020204" charset="-122"/>
                <a:ea typeface="微软雅黑" panose="020B0503020204020204" charset="-122"/>
              </a:rPr>
              <a:t>。</a:t>
            </a:r>
            <a:endParaRPr lang="en-US" altLang="zh-CN" sz="1600" dirty="0">
              <a:latin typeface="微软雅黑" panose="020B0503020204020204" charset="-122"/>
              <a:ea typeface="微软雅黑" panose="020B0503020204020204" charset="-122"/>
            </a:endParaRPr>
          </a:p>
        </p:txBody>
      </p:sp>
      <p:sp>
        <p:nvSpPr>
          <p:cNvPr id="8" name="文本框 7"/>
          <p:cNvSpPr txBox="1"/>
          <p:nvPr>
            <p:custDataLst>
              <p:tags r:id="rId6"/>
            </p:custDataLst>
          </p:nvPr>
        </p:nvSpPr>
        <p:spPr>
          <a:xfrm>
            <a:off x="5259070" y="3649345"/>
            <a:ext cx="5349875" cy="337185"/>
          </a:xfrm>
          <a:prstGeom prst="rect">
            <a:avLst/>
          </a:prstGeom>
          <a:noFill/>
        </p:spPr>
        <p:txBody>
          <a:bodyPr wrap="square" rtlCol="0">
            <a:spAutoFit/>
          </a:bodyPr>
          <a:p>
            <a:r>
              <a:rPr lang="zh-CN" altLang="en-US" sz="1600" dirty="0">
                <a:latin typeface="微软雅黑" panose="020B0503020204020204" charset="-122"/>
                <a:ea typeface="微软雅黑" panose="020B0503020204020204" charset="-122"/>
              </a:rPr>
              <a:t>非结构化网格</a:t>
            </a:r>
            <a:r>
              <a:rPr lang="en-US" altLang="zh-CN" sz="1600" dirty="0">
                <a:latin typeface="微软雅黑" panose="020B0503020204020204" charset="-122"/>
                <a:ea typeface="微软雅黑" panose="020B0503020204020204" charset="-122"/>
              </a:rPr>
              <a:t>vtk</a:t>
            </a:r>
            <a:r>
              <a:rPr lang="zh-CN" altLang="en-US" sz="1600" dirty="0">
                <a:latin typeface="微软雅黑" panose="020B0503020204020204" charset="-122"/>
                <a:ea typeface="微软雅黑" panose="020B0503020204020204" charset="-122"/>
              </a:rPr>
              <a:t>实现</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sp>
        <p:nvSpPr>
          <p:cNvPr id="10" name="文本框 9"/>
          <p:cNvSpPr txBox="1"/>
          <p:nvPr>
            <p:custDataLst>
              <p:tags r:id="rId7"/>
            </p:custDataLst>
          </p:nvPr>
        </p:nvSpPr>
        <p:spPr>
          <a:xfrm>
            <a:off x="5259070" y="4618355"/>
            <a:ext cx="5434965" cy="337185"/>
          </a:xfrm>
          <a:prstGeom prst="rect">
            <a:avLst/>
          </a:prstGeom>
          <a:noFill/>
        </p:spPr>
        <p:txBody>
          <a:bodyPr wrap="square" rtlCol="0">
            <a:spAutoFit/>
          </a:bodyPr>
          <a:p>
            <a:r>
              <a:rPr lang="zh-CN" altLang="en-US" sz="1600" dirty="0">
                <a:latin typeface="微软雅黑" panose="020B0503020204020204" charset="-122"/>
                <a:ea typeface="微软雅黑" panose="020B0503020204020204" charset="-122"/>
                <a:sym typeface="+mn-ea"/>
              </a:rPr>
              <a:t>非结构化流体网格</a:t>
            </a:r>
            <a:r>
              <a:rPr lang="en-US" altLang="zh-CN" sz="1600" dirty="0">
                <a:latin typeface="微软雅黑" panose="020B0503020204020204" charset="-122"/>
                <a:ea typeface="微软雅黑" panose="020B0503020204020204" charset="-122"/>
                <a:sym typeface="+mn-ea"/>
              </a:rPr>
              <a:t>vtk</a:t>
            </a:r>
            <a:r>
              <a:rPr lang="zh-CN" altLang="en-US" sz="1600" dirty="0">
                <a:latin typeface="微软雅黑" panose="020B0503020204020204" charset="-122"/>
                <a:ea typeface="微软雅黑" panose="020B0503020204020204" charset="-122"/>
                <a:sym typeface="+mn-ea"/>
              </a:rPr>
              <a:t>实现</a:t>
            </a:r>
            <a:r>
              <a:rPr lang="zh-CN" altLang="en-US" sz="1600" dirty="0">
                <a:latin typeface="微软雅黑" panose="020B0503020204020204" charset="-122"/>
                <a:ea typeface="微软雅黑" panose="020B0503020204020204" charset="-122"/>
                <a:sym typeface="+mn-ea"/>
              </a:rPr>
              <a:t>。</a:t>
            </a:r>
            <a:endParaRPr lang="en-US" altLang="zh-CN" sz="1600" dirty="0">
              <a:latin typeface="微软雅黑" panose="020B0503020204020204" charset="-122"/>
              <a:ea typeface="微软雅黑" panose="020B0503020204020204" charset="-122"/>
              <a:sym typeface="+mn-ea"/>
            </a:endParaRPr>
          </a:p>
        </p:txBody>
      </p:sp>
    </p:spTree>
  </p:cSld>
  <p:clrMapOvr>
    <a:masterClrMapping/>
  </p:clrMapOvr>
  <p:transition spd="slow" advClick="0"/>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物理</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数据外部</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接口（</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FITKInterfacePhysics</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402080"/>
            <a:ext cx="9917430" cy="368300"/>
          </a:xfrm>
          <a:prstGeom prst="rect">
            <a:avLst/>
          </a:prstGeom>
          <a:noFill/>
        </p:spPr>
        <p:txBody>
          <a:bodyPr wrap="square" rtlCol="0">
            <a:spAutoFit/>
          </a:bodyPr>
          <a:p>
            <a:r>
              <a:rPr lang="en-US" altLang="zh-CN" dirty="0">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定义基础物理属性接口，材料、载荷、边界条件，使其能够与模型与网格关联。</a:t>
            </a:r>
            <a:endParaRPr lang="en-US" altLang="zh-CN" b="1" dirty="0">
              <a:solidFill>
                <a:srgbClr val="000000"/>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2"/>
          <a:stretch>
            <a:fillRect/>
          </a:stretch>
        </p:blipFill>
        <p:spPr>
          <a:xfrm>
            <a:off x="993775" y="1945005"/>
            <a:ext cx="2943225" cy="4629150"/>
          </a:xfrm>
          <a:prstGeom prst="rect">
            <a:avLst/>
          </a:prstGeom>
        </p:spPr>
      </p:pic>
      <p:pic>
        <p:nvPicPr>
          <p:cNvPr id="5" name="图片 4"/>
          <p:cNvPicPr>
            <a:picLocks noChangeAspect="1"/>
          </p:cNvPicPr>
          <p:nvPr/>
        </p:nvPicPr>
        <p:blipFill>
          <a:blip r:embed="rId3"/>
          <a:stretch>
            <a:fillRect/>
          </a:stretch>
        </p:blipFill>
        <p:spPr>
          <a:xfrm>
            <a:off x="4137025" y="1945005"/>
            <a:ext cx="2981325" cy="2857500"/>
          </a:xfrm>
          <a:prstGeom prst="rect">
            <a:avLst/>
          </a:prstGeom>
        </p:spPr>
      </p:pic>
      <p:pic>
        <p:nvPicPr>
          <p:cNvPr id="7" name="图片 6"/>
          <p:cNvPicPr>
            <a:picLocks noChangeAspect="1"/>
          </p:cNvPicPr>
          <p:nvPr/>
        </p:nvPicPr>
        <p:blipFill>
          <a:blip r:embed="rId4"/>
          <a:stretch>
            <a:fillRect/>
          </a:stretch>
        </p:blipFill>
        <p:spPr>
          <a:xfrm>
            <a:off x="4137025" y="4743450"/>
            <a:ext cx="3028950" cy="1323975"/>
          </a:xfrm>
          <a:prstGeom prst="rect">
            <a:avLst/>
          </a:prstGeom>
        </p:spPr>
      </p:pic>
    </p:spTree>
  </p:cSld>
  <p:clrMapOvr>
    <a:masterClrMapping/>
  </p:clrMapOvr>
  <p:transition spd="slow" advClick="0"/>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结构</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数据外部</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接口（</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FITKInterfaceStructural</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315085"/>
            <a:ext cx="9820910" cy="368300"/>
          </a:xfrm>
          <a:prstGeom prst="rect">
            <a:avLst/>
          </a:prstGeom>
          <a:noFill/>
        </p:spPr>
        <p:txBody>
          <a:bodyPr wrap="square" rtlCol="0">
            <a:spAutoFit/>
          </a:bodyPr>
          <a:p>
            <a:r>
              <a:rPr lang="en-US" altLang="zh-CN" b="1" dirty="0">
                <a:solidFill>
                  <a:srgbClr val="000000"/>
                </a:solidFill>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定义结构数据接口，相互作用属性、幅值曲线、连接器截面行为等，工况数据。</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740410" y="1762125"/>
            <a:ext cx="3195320" cy="4986020"/>
          </a:xfrm>
          <a:prstGeom prst="rect">
            <a:avLst/>
          </a:prstGeom>
        </p:spPr>
      </p:pic>
      <p:pic>
        <p:nvPicPr>
          <p:cNvPr id="5" name="图片 4"/>
          <p:cNvPicPr>
            <a:picLocks noChangeAspect="1"/>
          </p:cNvPicPr>
          <p:nvPr/>
        </p:nvPicPr>
        <p:blipFill>
          <a:blip r:embed="rId3"/>
          <a:stretch>
            <a:fillRect/>
          </a:stretch>
        </p:blipFill>
        <p:spPr>
          <a:xfrm>
            <a:off x="4215130" y="1762125"/>
            <a:ext cx="2667000" cy="5066030"/>
          </a:xfrm>
          <a:prstGeom prst="rect">
            <a:avLst/>
          </a:prstGeom>
        </p:spPr>
      </p:pic>
      <p:pic>
        <p:nvPicPr>
          <p:cNvPr id="6" name="图片 5"/>
          <p:cNvPicPr>
            <a:picLocks noChangeAspect="1"/>
          </p:cNvPicPr>
          <p:nvPr/>
        </p:nvPicPr>
        <p:blipFill>
          <a:blip r:embed="rId4"/>
          <a:stretch>
            <a:fillRect/>
          </a:stretch>
        </p:blipFill>
        <p:spPr>
          <a:xfrm>
            <a:off x="7346950" y="1683385"/>
            <a:ext cx="3651885" cy="5064760"/>
          </a:xfrm>
          <a:prstGeom prst="rect">
            <a:avLst/>
          </a:prstGeom>
        </p:spPr>
      </p:pic>
    </p:spTree>
  </p:cSld>
  <p:clrMapOvr>
    <a:masterClrMapping/>
  </p:clrMapOvr>
  <p:transition spd="slow"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结构</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后处理数据外部</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接口（</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FITKInterfaceStructuralPost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Part15</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405890"/>
            <a:ext cx="8134985" cy="368300"/>
          </a:xfrm>
          <a:prstGeom prst="rect">
            <a:avLst/>
          </a:prstGeom>
          <a:noFill/>
        </p:spPr>
        <p:txBody>
          <a:bodyPr wrap="square" rtlCol="0">
            <a:spAutoFit/>
          </a:bodyPr>
          <a:p>
            <a:r>
              <a:rPr lang="en-US" altLang="zh-CN" dirty="0">
                <a:latin typeface="微软雅黑" panose="020B0503020204020204" charset="-122"/>
                <a:ea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定义基础的后处理功能接口，实现变形、显式分析动画功能。</a:t>
            </a:r>
            <a:endParaRPr lang="en-US" altLang="zh-CN">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1772920" y="2381250"/>
            <a:ext cx="3086100" cy="3609975"/>
          </a:xfrm>
          <a:prstGeom prst="rect">
            <a:avLst/>
          </a:prstGeom>
        </p:spPr>
      </p:pic>
      <p:pic>
        <p:nvPicPr>
          <p:cNvPr id="5" name="图片 4"/>
          <p:cNvPicPr>
            <a:picLocks noChangeAspect="1"/>
          </p:cNvPicPr>
          <p:nvPr/>
        </p:nvPicPr>
        <p:blipFill>
          <a:blip r:embed="rId3"/>
          <a:stretch>
            <a:fillRect/>
          </a:stretch>
        </p:blipFill>
        <p:spPr>
          <a:xfrm>
            <a:off x="5411470" y="2355215"/>
            <a:ext cx="3267075" cy="2838450"/>
          </a:xfrm>
          <a:prstGeom prst="rect">
            <a:avLst/>
          </a:prstGeom>
        </p:spPr>
      </p:pic>
    </p:spTree>
  </p:cSld>
  <p:clrMapOvr>
    <a:masterClrMapping/>
  </p:clrMapOvr>
  <p:transition spd="slow" advClick="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软件点击事件操作器</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OperatorsModel</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3</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Part16</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40410" y="1299845"/>
            <a:ext cx="10452735" cy="368300"/>
          </a:xfrm>
          <a:prstGeom prst="rect">
            <a:avLst/>
          </a:prstGeom>
          <a:noFill/>
        </p:spPr>
        <p:txBody>
          <a:bodyPr wrap="square" rtlCol="0">
            <a:spAutoFit/>
          </a:bodyPr>
          <a:p>
            <a:r>
              <a:rPr lang="en-US" altLang="zh-CN" b="1"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a:latin typeface="微软雅黑" panose="020B0503020204020204" charset="-122"/>
                <a:ea typeface="微软雅黑" panose="020B0503020204020204" charset="-122"/>
                <a:cs typeface="微软雅黑" panose="020B0503020204020204" charset="-122"/>
                <a:sym typeface="微软雅黑" panose="020B0503020204020204" charset="-122"/>
              </a:rPr>
              <a:t>OperatorsModel软件点击事件操作器，用于软件大部分事件处理。</a:t>
            </a:r>
            <a:endParaRPr lang="zh-CN" altLang="en-US" b="1" dirty="0">
              <a:solidFill>
                <a:srgbClr val="000000"/>
              </a:solidFill>
              <a:latin typeface="微软雅黑" panose="020B0503020204020204" charset="-122"/>
              <a:ea typeface="微软雅黑" panose="020B0503020204020204" charset="-122"/>
              <a:sym typeface="微软雅黑" panose="020B0503020204020204" charset="-122"/>
            </a:endParaRPr>
          </a:p>
        </p:txBody>
      </p:sp>
      <p:pic>
        <p:nvPicPr>
          <p:cNvPr id="24" name="图片 23"/>
          <p:cNvPicPr>
            <a:picLocks noChangeAspect="1"/>
          </p:cNvPicPr>
          <p:nvPr/>
        </p:nvPicPr>
        <p:blipFill>
          <a:blip r:embed="rId2"/>
          <a:stretch>
            <a:fillRect/>
          </a:stretch>
        </p:blipFill>
        <p:spPr>
          <a:xfrm>
            <a:off x="993775" y="1830705"/>
            <a:ext cx="3409950" cy="4629150"/>
          </a:xfrm>
          <a:prstGeom prst="rect">
            <a:avLst/>
          </a:prstGeom>
        </p:spPr>
      </p:pic>
      <p:pic>
        <p:nvPicPr>
          <p:cNvPr id="25" name="图片 24"/>
          <p:cNvPicPr>
            <a:picLocks noChangeAspect="1"/>
          </p:cNvPicPr>
          <p:nvPr/>
        </p:nvPicPr>
        <p:blipFill>
          <a:blip r:embed="rId3"/>
          <a:stretch>
            <a:fillRect/>
          </a:stretch>
        </p:blipFill>
        <p:spPr>
          <a:xfrm>
            <a:off x="4403725" y="1835785"/>
            <a:ext cx="3933825" cy="4638675"/>
          </a:xfrm>
          <a:prstGeom prst="rect">
            <a:avLst/>
          </a:prstGeom>
        </p:spPr>
      </p:pic>
      <p:pic>
        <p:nvPicPr>
          <p:cNvPr id="26" name="图片 25"/>
          <p:cNvPicPr>
            <a:picLocks noChangeAspect="1"/>
          </p:cNvPicPr>
          <p:nvPr/>
        </p:nvPicPr>
        <p:blipFill>
          <a:blip r:embed="rId4"/>
          <a:stretch>
            <a:fillRect/>
          </a:stretch>
        </p:blipFill>
        <p:spPr>
          <a:xfrm>
            <a:off x="8337550" y="1821180"/>
            <a:ext cx="3381375" cy="4638675"/>
          </a:xfrm>
          <a:prstGeom prst="rect">
            <a:avLst/>
          </a:prstGeom>
        </p:spPr>
      </p:pic>
    </p:spTree>
  </p:cSld>
  <p:clrMapOvr>
    <a:masterClrMapping/>
  </p:clrMapOvr>
  <p:transition spd="slow" advClick="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299515" y="392057"/>
            <a:ext cx="3142321" cy="4707890"/>
          </a:xfrm>
          <a:prstGeom prst="rect">
            <a:avLst/>
          </a:prstGeom>
          <a:noFill/>
        </p:spPr>
        <p:txBody>
          <a:bodyPr wrap="square" rtlCol="0">
            <a:spAutoFit/>
          </a:bodyPr>
          <a:lstStyle/>
          <a:p>
            <a:r>
              <a:rPr lang="en-US" altLang="zh-CN" sz="30000" dirty="0">
                <a:latin typeface="Segoe UI Light" panose="020B0502040204020203" pitchFamily="34" charset="0"/>
              </a:rPr>
              <a:t>4</a:t>
            </a:r>
            <a:endParaRPr lang="en-US" altLang="zh-CN" sz="30000" dirty="0">
              <a:latin typeface="Segoe UI Light" panose="020B0502040204020203" pitchFamily="34" charset="0"/>
            </a:endParaRPr>
          </a:p>
        </p:txBody>
      </p:sp>
      <p:sp>
        <p:nvSpPr>
          <p:cNvPr id="14" name="文本框 58"/>
          <p:cNvSpPr txBox="1"/>
          <p:nvPr/>
        </p:nvSpPr>
        <p:spPr>
          <a:xfrm>
            <a:off x="2578100" y="1697355"/>
            <a:ext cx="4423410" cy="2306955"/>
          </a:xfrm>
          <a:prstGeom prst="rect">
            <a:avLst/>
          </a:prstGeom>
          <a:noFill/>
        </p:spPr>
        <p:txBody>
          <a:bodyPr wrap="square" rtlCol="0">
            <a:spAutoFit/>
          </a:bodyPr>
          <a:lstStyle/>
          <a:p>
            <a:r>
              <a:rPr lang="en-US" altLang="zh-CN" sz="7200" b="1" dirty="0">
                <a:latin typeface="Segoe UI Light" panose="020B0502040204020203" pitchFamily="34" charset="0"/>
              </a:rPr>
              <a:t>CHAPTER  </a:t>
            </a:r>
            <a:endParaRPr lang="en-US" altLang="zh-CN" sz="7200" b="1" dirty="0">
              <a:latin typeface="Segoe UI Light" panose="020B0502040204020203" pitchFamily="34" charset="0"/>
            </a:endParaRPr>
          </a:p>
          <a:p>
            <a:r>
              <a:rPr lang="en-US" altLang="zh-CN" sz="7200" b="1" dirty="0">
                <a:latin typeface="Segoe UI Light" panose="020B0502040204020203" pitchFamily="34" charset="0"/>
                <a:ea typeface="微软雅黑 Light" panose="020B0502040204020203" pitchFamily="34" charset="-122"/>
                <a:cs typeface="Segoe UI Light" panose="020B0502040204020203" pitchFamily="34" charset="0"/>
              </a:rPr>
              <a:t>FOUR</a:t>
            </a:r>
            <a:endParaRPr lang="en-US" altLang="zh-CN" sz="7200" b="1" dirty="0">
              <a:latin typeface="Segoe UI Light" panose="020B0502040204020203" pitchFamily="34" charset="0"/>
              <a:ea typeface="微软雅黑 Light" panose="020B0502040204020203" pitchFamily="34" charset="-122"/>
              <a:cs typeface="Segoe UI Light" panose="020B0502040204020203" pitchFamily="34" charset="0"/>
            </a:endParaRPr>
          </a:p>
        </p:txBody>
      </p:sp>
      <p:grpSp>
        <p:nvGrpSpPr>
          <p:cNvPr id="2" name="Group 12"/>
          <p:cNvGrpSpPr/>
          <p:nvPr/>
        </p:nvGrpSpPr>
        <p:grpSpPr>
          <a:xfrm>
            <a:off x="5997524" y="4581047"/>
            <a:ext cx="216000" cy="2295454"/>
            <a:chOff x="5997524" y="4571522"/>
            <a:chExt cx="216000" cy="2295454"/>
          </a:xfrm>
          <a:solidFill>
            <a:srgbClr val="002060"/>
          </a:solidFill>
        </p:grpSpPr>
        <p:cxnSp>
          <p:nvCxnSpPr>
            <p:cNvPr id="4" name="Straight Connector 7"/>
            <p:cNvCxnSpPr/>
            <p:nvPr/>
          </p:nvCxnSpPr>
          <p:spPr>
            <a:xfrm>
              <a:off x="6097936" y="4706976"/>
              <a:ext cx="0" cy="2160000"/>
            </a:xfrm>
            <a:prstGeom prst="line">
              <a:avLst/>
            </a:prstGeom>
            <a:grpFill/>
            <a:ln w="25400" cmpd="sng">
              <a:solidFill>
                <a:schemeClr val="accent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Group 11"/>
            <p:cNvGrpSpPr/>
            <p:nvPr/>
          </p:nvGrpSpPr>
          <p:grpSpPr>
            <a:xfrm>
              <a:off x="5997524" y="4571522"/>
              <a:ext cx="216000" cy="212400"/>
              <a:chOff x="9702774" y="956603"/>
              <a:chExt cx="216000" cy="212400"/>
            </a:xfrm>
            <a:grpFill/>
          </p:grpSpPr>
          <p:sp>
            <p:nvSpPr>
              <p:cNvPr id="19" name="Oval 9"/>
              <p:cNvSpPr/>
              <p:nvPr/>
            </p:nvSpPr>
            <p:spPr>
              <a:xfrm>
                <a:off x="9702774" y="956603"/>
                <a:ext cx="216000" cy="2124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sp>
            <p:nvSpPr>
              <p:cNvPr id="20" name="Oval 8"/>
              <p:cNvSpPr/>
              <p:nvPr/>
            </p:nvSpPr>
            <p:spPr>
              <a:xfrm>
                <a:off x="9738774" y="1007117"/>
                <a:ext cx="144000" cy="144000"/>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solidFill>
                    <a:srgbClr val="177977"/>
                  </a:solidFill>
                </a:endParaRPr>
              </a:p>
            </p:txBody>
          </p:sp>
        </p:grpSp>
      </p:grpSp>
      <p:sp>
        <p:nvSpPr>
          <p:cNvPr id="21" name="文本框 16"/>
          <p:cNvSpPr txBox="1"/>
          <p:nvPr/>
        </p:nvSpPr>
        <p:spPr>
          <a:xfrm>
            <a:off x="2578735" y="3957955"/>
            <a:ext cx="4422775" cy="583565"/>
          </a:xfrm>
          <a:prstGeom prst="rect">
            <a:avLst/>
          </a:prstGeom>
          <a:noFill/>
        </p:spPr>
        <p:txBody>
          <a:bodyPr wrap="square" rtlCol="0">
            <a:spAutoFit/>
          </a:bodyPr>
          <a:lstStyle/>
          <a:p>
            <a:pPr>
              <a:buClr>
                <a:srgbClr val="00517C"/>
              </a:buClr>
              <a:buSzPct val="80000"/>
            </a:pPr>
            <a:r>
              <a:rPr lang="zh-CN" altLang="en-US" sz="3200" b="1">
                <a:solidFill>
                  <a:srgbClr val="FF0000"/>
                </a:solidFill>
                <a:latin typeface="微软雅黑" panose="020B0503020204020204" charset="-122"/>
                <a:ea typeface="微软雅黑" panose="020B0503020204020204" charset="-122"/>
                <a:sym typeface="微软雅黑" panose="020B0503020204020204" charset="-122"/>
              </a:rPr>
              <a:t>核心数据结构</a:t>
            </a:r>
            <a:endParaRPr lang="zh-CN" sz="3200" b="1" dirty="0">
              <a:solidFill>
                <a:srgbClr val="FF0000"/>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advTm="0">
        <p:fade/>
      </p:transition>
    </mc:Choice>
    <mc:Fallback>
      <p:transition spd="med" advTm="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结构</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整体数据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2" name="文本框 21"/>
          <p:cNvSpPr txBox="1"/>
          <p:nvPr/>
        </p:nvSpPr>
        <p:spPr>
          <a:xfrm>
            <a:off x="740410" y="1100455"/>
            <a:ext cx="10782935" cy="506730"/>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a:t>
            </a:r>
            <a:r>
              <a:rPr lang="en-US" altLang="zh-CN">
                <a:latin typeface="微软雅黑" panose="020B0503020204020204" charset="-122"/>
                <a:ea typeface="微软雅黑" panose="020B0503020204020204" charset="-122"/>
                <a:cs typeface="微软雅黑" panose="020B0503020204020204" charset="-122"/>
                <a:sym typeface="+mn-ea"/>
              </a:rPr>
              <a:t>FITKAbaqusData</a:t>
            </a:r>
            <a:r>
              <a:rPr lang="zh-CN" altLang="en-US">
                <a:latin typeface="微软雅黑" panose="020B0503020204020204" charset="-122"/>
                <a:ea typeface="微软雅黑" panose="020B0503020204020204" charset="-122"/>
                <a:cs typeface="微软雅黑" panose="020B0503020204020204" charset="-122"/>
                <a:sym typeface="+mn-ea"/>
              </a:rPr>
              <a:t>是结构整体数据，里面具有算例管理和</a:t>
            </a:r>
            <a:r>
              <a:rPr lang="en-US" altLang="zh-CN">
                <a:latin typeface="微软雅黑" panose="020B0503020204020204" charset="-122"/>
                <a:ea typeface="微软雅黑" panose="020B0503020204020204" charset="-122"/>
                <a:cs typeface="微软雅黑" panose="020B0503020204020204" charset="-122"/>
                <a:sym typeface="+mn-ea"/>
              </a:rPr>
              <a:t>Job</a:t>
            </a:r>
            <a:r>
              <a:rPr lang="zh-CN" altLang="en-US">
                <a:latin typeface="微软雅黑" panose="020B0503020204020204" charset="-122"/>
                <a:ea typeface="微软雅黑" panose="020B0503020204020204" charset="-122"/>
                <a:cs typeface="微软雅黑" panose="020B0503020204020204" charset="-122"/>
                <a:sym typeface="+mn-ea"/>
              </a:rPr>
              <a:t>管理功能</a:t>
            </a:r>
            <a:r>
              <a:rPr lang="en-US" altLang="zh-CN">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56" name="组合 55"/>
          <p:cNvGrpSpPr/>
          <p:nvPr/>
        </p:nvGrpSpPr>
        <p:grpSpPr>
          <a:xfrm>
            <a:off x="427990" y="2656840"/>
            <a:ext cx="6449695" cy="2291271"/>
            <a:chOff x="573" y="3879"/>
            <a:chExt cx="11125" cy="4262"/>
          </a:xfrm>
        </p:grpSpPr>
        <p:sp>
          <p:nvSpPr>
            <p:cNvPr id="23" name="文本框 22"/>
            <p:cNvSpPr txBox="1"/>
            <p:nvPr/>
          </p:nvSpPr>
          <p:spPr>
            <a:xfrm>
              <a:off x="4128" y="3879"/>
              <a:ext cx="3915" cy="946"/>
            </a:xfrm>
            <a:prstGeom prst="rect">
              <a:avLst/>
            </a:prstGeom>
            <a:noFill/>
            <a:ln>
              <a:solidFill>
                <a:schemeClr val="tx1"/>
              </a:solidFill>
            </a:ln>
          </p:spPr>
          <p:txBody>
            <a:bodyPr wrap="square" rtlCol="0">
              <a:noAutofit/>
            </a:bodyPr>
            <a:p>
              <a:pPr algn="ctr"/>
              <a:r>
                <a:rPr lang="zh-CN" altLang="en-US" sz="1600">
                  <a:latin typeface="微软雅黑" panose="020B0503020204020204" charset="-122"/>
                  <a:ea typeface="微软雅黑" panose="020B0503020204020204" charset="-122"/>
                  <a:cs typeface="微软雅黑" panose="020B0503020204020204" charset="-122"/>
                  <a:sym typeface="+mn-ea"/>
                </a:rPr>
                <a:t>管理结构整体数据</a:t>
              </a:r>
              <a:endParaRPr lang="en-US" altLang="zh-CN" sz="1600">
                <a:latin typeface="微软雅黑" panose="020B0503020204020204" charset="-122"/>
                <a:ea typeface="微软雅黑" panose="020B0503020204020204" charset="-122"/>
                <a:cs typeface="微软雅黑" panose="020B0503020204020204" charset="-122"/>
                <a:sym typeface="+mn-ea"/>
              </a:endParaRPr>
            </a:p>
            <a:p>
              <a:pPr algn="ctr"/>
              <a:r>
                <a:rPr lang="zh-CN" altLang="en-US" sz="1600">
                  <a:latin typeface="微软雅黑" panose="020B0503020204020204" charset="-122"/>
                  <a:ea typeface="微软雅黑" panose="020B0503020204020204" charset="-122"/>
                  <a:cs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sym typeface="+mn-ea"/>
                </a:rPr>
                <a:t>FITKAbaqusData</a:t>
              </a:r>
              <a:r>
                <a:rPr lang="zh-CN" altLang="en-US" sz="1600">
                  <a:latin typeface="微软雅黑" panose="020B0503020204020204" charset="-122"/>
                  <a:ea typeface="微软雅黑" panose="020B0503020204020204" charset="-122"/>
                  <a:cs typeface="微软雅黑" panose="020B0503020204020204" charset="-122"/>
                  <a:sym typeface="+mn-ea"/>
                </a:rPr>
                <a:t>）</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
          <p:nvSpPr>
            <p:cNvPr id="24" name="文本框 23"/>
            <p:cNvSpPr txBox="1"/>
            <p:nvPr/>
          </p:nvSpPr>
          <p:spPr>
            <a:xfrm>
              <a:off x="573" y="6181"/>
              <a:ext cx="5355" cy="958"/>
            </a:xfrm>
            <a:prstGeom prst="rect">
              <a:avLst/>
            </a:prstGeom>
            <a:noFill/>
            <a:ln>
              <a:solidFill>
                <a:schemeClr val="tx1"/>
              </a:solidFill>
            </a:ln>
          </p:spPr>
          <p:txBody>
            <a:bodyPr wrap="square" rtlCol="0">
              <a:noAutofit/>
            </a:bodyPr>
            <a:p>
              <a:pPr algn="ctr"/>
              <a:r>
                <a:rPr lang="zh-CN" altLang="en-US" sz="1600">
                  <a:latin typeface="微软雅黑" panose="020B0503020204020204" charset="-122"/>
                  <a:ea typeface="微软雅黑" panose="020B0503020204020204" charset="-122"/>
                  <a:cs typeface="微软雅黑" panose="020B0503020204020204" charset="-122"/>
                  <a:sym typeface="+mn-ea"/>
                </a:rPr>
                <a:t>工作数据管理</a:t>
              </a:r>
              <a:endParaRPr lang="en-US" altLang="zh-CN" sz="1600">
                <a:latin typeface="微软雅黑" panose="020B0503020204020204" charset="-122"/>
                <a:ea typeface="微软雅黑" panose="020B0503020204020204" charset="-122"/>
                <a:cs typeface="微软雅黑" panose="020B0503020204020204" charset="-122"/>
                <a:sym typeface="+mn-ea"/>
              </a:endParaRPr>
            </a:p>
            <a:p>
              <a:pPr algn="ctr"/>
              <a:r>
                <a:rPr lang="zh-CN" altLang="en-US" sz="1600">
                  <a:latin typeface="微软雅黑" panose="020B0503020204020204" charset="-122"/>
                  <a:ea typeface="微软雅黑" panose="020B0503020204020204" charset="-122"/>
                  <a:cs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sym typeface="+mn-ea"/>
                </a:rPr>
                <a:t>FITKJobManager</a:t>
              </a:r>
              <a:r>
                <a:rPr lang="zh-CN" altLang="en-US" sz="1600">
                  <a:latin typeface="微软雅黑" panose="020B0503020204020204" charset="-122"/>
                  <a:ea typeface="微软雅黑" panose="020B0503020204020204" charset="-122"/>
                  <a:cs typeface="微软雅黑" panose="020B0503020204020204" charset="-122"/>
                  <a:sym typeface="+mn-ea"/>
                </a:rPr>
                <a:t>）</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6342" y="6192"/>
              <a:ext cx="5356" cy="959"/>
            </a:xfrm>
            <a:prstGeom prst="rect">
              <a:avLst/>
            </a:prstGeom>
            <a:noFill/>
            <a:ln>
              <a:solidFill>
                <a:schemeClr val="tx1"/>
              </a:solidFill>
            </a:ln>
          </p:spPr>
          <p:txBody>
            <a:bodyPr wrap="square" rtlCol="0">
              <a:noAutofit/>
            </a:bodyPr>
            <a:p>
              <a:pPr algn="ctr"/>
              <a:r>
                <a:rPr lang="zh-CN" altLang="en-US" sz="1600">
                  <a:latin typeface="微软雅黑" panose="020B0503020204020204" charset="-122"/>
                  <a:ea typeface="微软雅黑" panose="020B0503020204020204" charset="-122"/>
                  <a:cs typeface="微软雅黑" panose="020B0503020204020204" charset="-122"/>
                  <a:sym typeface="+mn-ea"/>
                </a:rPr>
                <a:t>算例数据管理</a:t>
              </a:r>
              <a:endParaRPr lang="en-US" altLang="zh-CN" sz="1600">
                <a:latin typeface="微软雅黑" panose="020B0503020204020204" charset="-122"/>
                <a:ea typeface="微软雅黑" panose="020B0503020204020204" charset="-122"/>
                <a:cs typeface="微软雅黑" panose="020B0503020204020204" charset="-122"/>
                <a:sym typeface="+mn-ea"/>
              </a:endParaRPr>
            </a:p>
            <a:p>
              <a:pPr algn="ctr"/>
              <a:r>
                <a:rPr lang="zh-CN" altLang="en-US" sz="1600">
                  <a:latin typeface="微软雅黑" panose="020B0503020204020204" charset="-122"/>
                  <a:ea typeface="微软雅黑" panose="020B0503020204020204" charset="-122"/>
                  <a:cs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sym typeface="+mn-ea"/>
                </a:rPr>
                <a:t>FITKDataCaseManager</a:t>
              </a:r>
              <a:r>
                <a:rPr lang="zh-CN" altLang="en-US" sz="1600">
                  <a:latin typeface="微软雅黑" panose="020B0503020204020204" charset="-122"/>
                  <a:ea typeface="微软雅黑" panose="020B0503020204020204" charset="-122"/>
                  <a:cs typeface="微软雅黑" panose="020B0503020204020204" charset="-122"/>
                  <a:sym typeface="+mn-ea"/>
                </a:rPr>
                <a:t>）</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cxnSp>
          <p:nvCxnSpPr>
            <p:cNvPr id="2" name="肘形连接符 1"/>
            <p:cNvCxnSpPr>
              <a:stCxn id="23" idx="2"/>
              <a:endCxn id="25" idx="0"/>
            </p:cNvCxnSpPr>
            <p:nvPr/>
          </p:nvCxnSpPr>
          <p:spPr>
            <a:xfrm rot="5400000" flipV="1">
              <a:off x="6870" y="4042"/>
              <a:ext cx="1367" cy="2934"/>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4" name="肘形连接符 3"/>
            <p:cNvCxnSpPr>
              <a:stCxn id="23" idx="2"/>
              <a:endCxn id="24" idx="0"/>
            </p:cNvCxnSpPr>
            <p:nvPr/>
          </p:nvCxnSpPr>
          <p:spPr>
            <a:xfrm rot="5400000">
              <a:off x="3991" y="4086"/>
              <a:ext cx="1356" cy="2835"/>
            </a:xfrm>
            <a:prstGeom prst="bentConnector3">
              <a:avLst>
                <a:gd name="adj1" fmla="val 49963"/>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435" y="7514"/>
              <a:ext cx="3631" cy="627"/>
            </a:xfrm>
            <a:prstGeom prst="rect">
              <a:avLst/>
            </a:prstGeom>
            <a:noFill/>
          </p:spPr>
          <p:txBody>
            <a:bodyPr wrap="square" rtlCol="0">
              <a:spAutoFit/>
            </a:bodyPr>
            <a:p>
              <a:pPr algn="ctr"/>
              <a:r>
                <a:rPr lang="zh-CN" altLang="en-US" sz="1600"/>
                <a:t>管理算例</a:t>
              </a:r>
              <a:endParaRPr lang="zh-CN" altLang="en-US" sz="1600"/>
            </a:p>
          </p:txBody>
        </p:sp>
        <p:sp>
          <p:nvSpPr>
            <p:cNvPr id="6" name="文本框 5"/>
            <p:cNvSpPr txBox="1"/>
            <p:nvPr/>
          </p:nvSpPr>
          <p:spPr>
            <a:xfrm>
              <a:off x="7342" y="7514"/>
              <a:ext cx="3894" cy="627"/>
            </a:xfrm>
            <a:prstGeom prst="rect">
              <a:avLst/>
            </a:prstGeom>
            <a:noFill/>
          </p:spPr>
          <p:txBody>
            <a:bodyPr wrap="square" rtlCol="0">
              <a:spAutoFit/>
            </a:bodyPr>
            <a:p>
              <a:pPr algn="ctr"/>
              <a:r>
                <a:rPr lang="zh-CN" altLang="en-US" sz="1600"/>
                <a:t>求解计算工作</a:t>
              </a:r>
              <a:r>
                <a:rPr lang="zh-CN" altLang="en-US" sz="1600"/>
                <a:t>管理</a:t>
              </a:r>
              <a:endParaRPr lang="zh-CN" altLang="en-US" sz="1600"/>
            </a:p>
          </p:txBody>
        </p:sp>
      </p:grpSp>
      <p:grpSp>
        <p:nvGrpSpPr>
          <p:cNvPr id="57" name="组合 56"/>
          <p:cNvGrpSpPr/>
          <p:nvPr/>
        </p:nvGrpSpPr>
        <p:grpSpPr>
          <a:xfrm>
            <a:off x="7397750" y="2573020"/>
            <a:ext cx="3470275" cy="2127250"/>
            <a:chOff x="12498" y="3091"/>
            <a:chExt cx="5465" cy="3350"/>
          </a:xfrm>
        </p:grpSpPr>
        <p:sp>
          <p:nvSpPr>
            <p:cNvPr id="7" name="文本框 6"/>
            <p:cNvSpPr txBox="1"/>
            <p:nvPr/>
          </p:nvSpPr>
          <p:spPr>
            <a:xfrm>
              <a:off x="12795" y="5000"/>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14929" y="3963"/>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12498" y="3980"/>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14681" y="3091"/>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15370" y="4049"/>
              <a:ext cx="512" cy="1392"/>
            </a:xfrm>
            <a:prstGeom prst="bentConnector3">
              <a:avLst>
                <a:gd name="adj1" fmla="val 49924"/>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14030" y="4100"/>
              <a:ext cx="495" cy="1306"/>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a:off x="16149" y="3789"/>
              <a:ext cx="346" cy="1"/>
            </a:xfrm>
            <a:prstGeom prst="bentConnector3">
              <a:avLst>
                <a:gd name="adj1" fmla="val 49887"/>
              </a:avLst>
            </a:prstGeom>
            <a:ln>
              <a:tailEnd type="arrow"/>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12795" y="5915"/>
              <a:ext cx="4271" cy="526"/>
            </a:xfrm>
            <a:prstGeom prst="rect">
              <a:avLst/>
            </a:prstGeom>
            <a:noFill/>
            <a:ln>
              <a:solidFill>
                <a:schemeClr val="tx1"/>
              </a:solidFill>
            </a:ln>
          </p:spPr>
          <p:txBody>
            <a:bodyPr wrap="square" rtlCol="0" anchor="ctr" anchorCtr="0">
              <a:noAutofit/>
            </a:bodyPr>
            <a:p>
              <a:pPr algn="ctr"/>
              <a:r>
                <a:rPr lang="en-US" altLang="zh-CN" sz="1000"/>
                <a:t>FITKAbaqusData</a:t>
              </a:r>
              <a:endParaRPr lang="en-US" altLang="zh-CN" sz="1000"/>
            </a:p>
          </p:txBody>
        </p:sp>
        <p:cxnSp>
          <p:nvCxnSpPr>
            <p:cNvPr id="29" name="肘形连接符 28"/>
            <p:cNvCxnSpPr>
              <a:stCxn id="7" idx="2"/>
              <a:endCxn id="21" idx="0"/>
            </p:cNvCxnSpPr>
            <p:nvPr/>
          </p:nvCxnSpPr>
          <p:spPr>
            <a:xfrm rot="5400000" flipV="1">
              <a:off x="14737" y="5721"/>
              <a:ext cx="38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
        <p:nvSpPr>
          <p:cNvPr id="31" name="文本框 30"/>
          <p:cNvSpPr txBox="1"/>
          <p:nvPr/>
        </p:nvSpPr>
        <p:spPr>
          <a:xfrm>
            <a:off x="7627620" y="4817745"/>
            <a:ext cx="2670175" cy="368300"/>
          </a:xfrm>
          <a:prstGeom prst="rect">
            <a:avLst/>
          </a:prstGeom>
          <a:noFill/>
        </p:spPr>
        <p:txBody>
          <a:bodyPr wrap="square" rtlCol="0">
            <a:spAutoFit/>
          </a:bodyPr>
          <a:p>
            <a:pPr algn="ctr"/>
            <a:r>
              <a:rPr lang="zh-CN" altLang="en-US"/>
              <a:t>继承</a:t>
            </a:r>
            <a:r>
              <a:rPr lang="zh-CN" altLang="en-US"/>
              <a:t>图</a:t>
            </a:r>
            <a:endParaRPr lang="zh-CN" altLang="en-US"/>
          </a:p>
        </p:txBody>
      </p:sp>
    </p:spTree>
  </p:cSld>
  <p:clrMapOvr>
    <a:masterClrMapping/>
  </p:clrMapOvr>
  <p:transition spd="slow" advClick="0"/>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文本框 53"/>
          <p:cNvSpPr txBox="1"/>
          <p:nvPr/>
        </p:nvSpPr>
        <p:spPr>
          <a:xfrm>
            <a:off x="240030" y="1692910"/>
            <a:ext cx="11719560" cy="4951730"/>
          </a:xfrm>
          <a:prstGeom prst="rect">
            <a:avLst/>
          </a:prstGeom>
          <a:solidFill>
            <a:schemeClr val="accent2"/>
          </a:solidFill>
        </p:spPr>
        <p:txBody>
          <a:bodyPr wrap="square" rtlCol="0">
            <a:noAutofit/>
          </a:bodyPr>
          <a:p>
            <a:endParaRPr lang="zh-CN" altLang="en-US"/>
          </a:p>
        </p:txBody>
      </p:sp>
      <p:sp>
        <p:nvSpPr>
          <p:cNvPr id="55" name="文本框 54"/>
          <p:cNvSpPr txBox="1"/>
          <p:nvPr/>
        </p:nvSpPr>
        <p:spPr>
          <a:xfrm>
            <a:off x="322580" y="2597150"/>
            <a:ext cx="11555730" cy="3983355"/>
          </a:xfrm>
          <a:prstGeom prst="rect">
            <a:avLst/>
          </a:prstGeom>
          <a:solidFill>
            <a:schemeClr val="accent1"/>
          </a:solidFill>
        </p:spPr>
        <p:txBody>
          <a:bodyPr wrap="square" rtlCol="0">
            <a:noAutofit/>
          </a:bodyPr>
          <a:p>
            <a:endParaRPr lang="zh-CN" altLang="en-US"/>
          </a:p>
        </p:txBody>
      </p:sp>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算例</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Part02</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2" name="文本框 21"/>
          <p:cNvSpPr txBox="1"/>
          <p:nvPr/>
        </p:nvSpPr>
        <p:spPr>
          <a:xfrm>
            <a:off x="740410" y="1100455"/>
            <a:ext cx="10782935" cy="506730"/>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FITKDataCase算例数据，存储模型、材料、求解工况</a:t>
            </a:r>
            <a:r>
              <a:rPr lang="zh-CN" altLang="en-US">
                <a:latin typeface="微软雅黑" panose="020B0503020204020204" charset="-122"/>
                <a:ea typeface="微软雅黑" panose="020B0503020204020204" charset="-122"/>
                <a:cs typeface="微软雅黑" panose="020B0503020204020204" charset="-122"/>
                <a:sym typeface="+mn-ea"/>
              </a:rPr>
              <a:t>等</a:t>
            </a:r>
            <a:r>
              <a:rPr lang="en-US" altLang="zh-CN">
                <a:latin typeface="微软雅黑" panose="020B0503020204020204" charset="-122"/>
                <a:ea typeface="微软雅黑" panose="020B0503020204020204" charset="-122"/>
                <a:cs typeface="微软雅黑" panose="020B0503020204020204" charset="-122"/>
                <a:sym typeface="+mn-ea"/>
              </a:rPr>
              <a:t>数据。</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582795" y="1838960"/>
            <a:ext cx="3028315" cy="687705"/>
          </a:xfrm>
          <a:prstGeom prst="rect">
            <a:avLst/>
          </a:prstGeom>
          <a:noFill/>
          <a:ln>
            <a:solidFill>
              <a:schemeClr val="tx1"/>
            </a:solidFill>
          </a:ln>
        </p:spPr>
        <p:txBody>
          <a:bodyPr wrap="square" rtlCol="0">
            <a:noAutofit/>
          </a:bodyPr>
          <a:p>
            <a:pPr algn="ctr"/>
            <a:r>
              <a:rPr lang="zh-CN" altLang="en-US">
                <a:latin typeface="微软雅黑" panose="020B0503020204020204" charset="-122"/>
                <a:ea typeface="微软雅黑" panose="020B0503020204020204" charset="-122"/>
                <a:cs typeface="微软雅黑" panose="020B0503020204020204" charset="-122"/>
                <a:sym typeface="+mn-ea"/>
              </a:rPr>
              <a:t>算例数据</a:t>
            </a:r>
            <a:endParaRPr lang="en-US" altLang="zh-CN">
              <a:latin typeface="微软雅黑" panose="020B0503020204020204" charset="-122"/>
              <a:ea typeface="微软雅黑" panose="020B0503020204020204" charset="-122"/>
              <a:cs typeface="微软雅黑" panose="020B0503020204020204" charset="-122"/>
              <a:sym typeface="+mn-ea"/>
            </a:endParaRPr>
          </a:p>
          <a:p>
            <a:pPr algn="ct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FITKDataCase</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4302125" y="273240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部件数据管理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FITKAbaqusPartManager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38" name="文本框 37"/>
          <p:cNvSpPr txBox="1"/>
          <p:nvPr/>
        </p:nvSpPr>
        <p:spPr>
          <a:xfrm>
            <a:off x="417830" y="272986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材料数据管理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FITKMaterialManager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39" name="文本框 38"/>
          <p:cNvSpPr txBox="1"/>
          <p:nvPr/>
        </p:nvSpPr>
        <p:spPr>
          <a:xfrm>
            <a:off x="8201025" y="2740660"/>
            <a:ext cx="3590290" cy="529590"/>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梁截面数据管理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FITKAbaProfileManager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0" name="文本框 39"/>
          <p:cNvSpPr txBox="1"/>
          <p:nvPr/>
        </p:nvSpPr>
        <p:spPr>
          <a:xfrm>
            <a:off x="417830" y="337502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截面数据管理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FITKAbstractSectionManager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nvSpPr>
        <p:spPr>
          <a:xfrm>
            <a:off x="4295140" y="337248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装配体</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FITKAbaqusAssembly</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nvSpPr>
        <p:spPr>
          <a:xfrm>
            <a:off x="8201660" y="337248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分析步</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FITKAbaStepManager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3" name="文本框 42"/>
          <p:cNvSpPr txBox="1"/>
          <p:nvPr/>
        </p:nvSpPr>
        <p:spPr>
          <a:xfrm>
            <a:off x="408305" y="467169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相互作用</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FITKAbaInteractionManager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4" name="文本框 43"/>
          <p:cNvSpPr txBox="1"/>
          <p:nvPr/>
        </p:nvSpPr>
        <p:spPr>
          <a:xfrm>
            <a:off x="4297680" y="466407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约束数据管理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FITKAbaConstraintManager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5" name="文本框 44"/>
          <p:cNvSpPr txBox="1"/>
          <p:nvPr/>
        </p:nvSpPr>
        <p:spPr>
          <a:xfrm>
            <a:off x="8201025" y="402399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场输出</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FITKAbaFieldOutputManager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408305" y="532320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相互作用属性</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FITKAbaInteractionPropertyManager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7" name="文本框 46"/>
          <p:cNvSpPr txBox="1"/>
          <p:nvPr/>
        </p:nvSpPr>
        <p:spPr>
          <a:xfrm>
            <a:off x="4298315" y="531558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边界条件</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FITKAbaBoundaryConditionManager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8" name="文本框 47"/>
          <p:cNvSpPr txBox="1"/>
          <p:nvPr/>
        </p:nvSpPr>
        <p:spPr>
          <a:xfrm>
            <a:off x="8201660" y="467550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历程输出数据管理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FITKAbaHistoryOutputManager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49" name="文本框 48"/>
          <p:cNvSpPr txBox="1"/>
          <p:nvPr/>
        </p:nvSpPr>
        <p:spPr>
          <a:xfrm>
            <a:off x="408305" y="597471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连接器截面数据管理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FITKAbaConnectorSectionManager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50" name="文本框 49"/>
          <p:cNvSpPr txBox="1"/>
          <p:nvPr/>
        </p:nvSpPr>
        <p:spPr>
          <a:xfrm>
            <a:off x="4298315" y="596709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预定义场数据管理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FITKAbaPredefinedFieldManager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51" name="文本框 50"/>
          <p:cNvSpPr txBox="1"/>
          <p:nvPr/>
        </p:nvSpPr>
        <p:spPr>
          <a:xfrm>
            <a:off x="8201660" y="5327015"/>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场数据管理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FITKFieldsManager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407670" y="4023360"/>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幅值数据管理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FITKAbaAmplitudeManager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4304030" y="402526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时间点数据管理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FITKAbaTimePointsManager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slow" advClick="0"/>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部件数据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Part03</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278130" y="2458085"/>
            <a:ext cx="11719560" cy="3091180"/>
          </a:xfrm>
          <a:prstGeom prst="rect">
            <a:avLst/>
          </a:prstGeom>
          <a:solidFill>
            <a:schemeClr val="accent2"/>
          </a:solidFill>
        </p:spPr>
        <p:txBody>
          <a:bodyPr wrap="square" rtlCol="0">
            <a:noAutofit/>
          </a:bodyPr>
          <a:p>
            <a:endParaRPr lang="zh-CN" altLang="en-US"/>
          </a:p>
        </p:txBody>
      </p:sp>
      <p:sp>
        <p:nvSpPr>
          <p:cNvPr id="4" name="文本框 3"/>
          <p:cNvSpPr txBox="1"/>
          <p:nvPr/>
        </p:nvSpPr>
        <p:spPr>
          <a:xfrm>
            <a:off x="360680" y="3362325"/>
            <a:ext cx="11555730" cy="2074545"/>
          </a:xfrm>
          <a:prstGeom prst="rect">
            <a:avLst/>
          </a:prstGeom>
          <a:solidFill>
            <a:schemeClr val="accent1"/>
          </a:solidFill>
        </p:spPr>
        <p:txBody>
          <a:bodyPr wrap="square" rtlCol="0">
            <a:noAutofit/>
          </a:bodyPr>
          <a:p>
            <a:endParaRPr lang="zh-CN" altLang="en-US"/>
          </a:p>
        </p:txBody>
      </p:sp>
      <p:sp>
        <p:nvSpPr>
          <p:cNvPr id="5" name="文本框 4"/>
          <p:cNvSpPr txBox="1"/>
          <p:nvPr/>
        </p:nvSpPr>
        <p:spPr>
          <a:xfrm>
            <a:off x="740410" y="1176655"/>
            <a:ext cx="10782935" cy="922020"/>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FITKAbaqusPart部件数据，</a:t>
            </a:r>
            <a:r>
              <a:rPr lang="zh-CN" altLang="en-US">
                <a:latin typeface="微软雅黑" panose="020B0503020204020204" charset="-122"/>
                <a:ea typeface="微软雅黑" panose="020B0503020204020204" charset="-122"/>
                <a:cs typeface="微软雅黑" panose="020B0503020204020204" charset="-122"/>
                <a:sym typeface="+mn-ea"/>
              </a:rPr>
              <a:t>具有</a:t>
            </a:r>
            <a:r>
              <a:rPr lang="en-US" altLang="zh-CN">
                <a:latin typeface="微软雅黑" panose="020B0503020204020204" charset="-122"/>
                <a:ea typeface="微软雅黑" panose="020B0503020204020204" charset="-122"/>
                <a:cs typeface="微软雅黑" panose="020B0503020204020204" charset="-122"/>
                <a:sym typeface="+mn-ea"/>
              </a:rPr>
              <a:t>存储模型、</a:t>
            </a:r>
            <a:r>
              <a:rPr lang="zh-CN" altLang="en-US">
                <a:latin typeface="微软雅黑" panose="020B0503020204020204" charset="-122"/>
                <a:ea typeface="微软雅黑" panose="020B0503020204020204" charset="-122"/>
                <a:cs typeface="微软雅黑" panose="020B0503020204020204" charset="-122"/>
                <a:sym typeface="+mn-ea"/>
              </a:rPr>
              <a:t>集合</a:t>
            </a:r>
            <a:r>
              <a:rPr lang="zh-CN" altLang="en-US">
                <a:latin typeface="微软雅黑" panose="020B0503020204020204" charset="-122"/>
                <a:ea typeface="微软雅黑" panose="020B0503020204020204" charset="-122"/>
                <a:cs typeface="微软雅黑" panose="020B0503020204020204" charset="-122"/>
                <a:sym typeface="+mn-ea"/>
              </a:rPr>
              <a:t>管理等。将复杂模型拆分为多个独立部件，便于管理和复用，其部件数据管理是建模和分析的核心环节</a:t>
            </a:r>
            <a:r>
              <a:rPr lang="en-US" altLang="zh-CN">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4620895" y="2604135"/>
            <a:ext cx="3028315" cy="687705"/>
          </a:xfrm>
          <a:prstGeom prst="rect">
            <a:avLst/>
          </a:prstGeom>
          <a:noFill/>
          <a:ln>
            <a:solidFill>
              <a:schemeClr val="tx1"/>
            </a:solidFill>
          </a:ln>
        </p:spPr>
        <p:txBody>
          <a:bodyPr wrap="square" rtlCol="0">
            <a:noAutofit/>
          </a:bodyPr>
          <a:p>
            <a:pPr algn="ctr"/>
            <a:r>
              <a:rPr lang="zh-CN" altLang="en-US">
                <a:latin typeface="微软雅黑" panose="020B0503020204020204" charset="-122"/>
                <a:ea typeface="微软雅黑" panose="020B0503020204020204" charset="-122"/>
                <a:cs typeface="微软雅黑" panose="020B0503020204020204" charset="-122"/>
                <a:sym typeface="+mn-ea"/>
              </a:rPr>
              <a:t>部件</a:t>
            </a:r>
            <a:r>
              <a:rPr lang="zh-CN" altLang="en-US">
                <a:latin typeface="微软雅黑" panose="020B0503020204020204" charset="-122"/>
                <a:ea typeface="微软雅黑" panose="020B0503020204020204" charset="-122"/>
                <a:cs typeface="微软雅黑" panose="020B0503020204020204" charset="-122"/>
                <a:sym typeface="+mn-ea"/>
              </a:rPr>
              <a:t>数据</a:t>
            </a:r>
            <a:endParaRPr lang="en-US" altLang="zh-CN">
              <a:latin typeface="微软雅黑" panose="020B0503020204020204" charset="-122"/>
              <a:ea typeface="微软雅黑" panose="020B0503020204020204" charset="-122"/>
              <a:cs typeface="微软雅黑" panose="020B0503020204020204" charset="-122"/>
              <a:sym typeface="+mn-ea"/>
            </a:endParaRPr>
          </a:p>
          <a:p>
            <a:pPr algn="ct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FITKAbaqusPart</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4340225" y="3497580"/>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集合</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表面数据管理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FITKComponentManager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455930" y="3495040"/>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网格数据</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FITKAbaMeshPartVTK</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8239125" y="3505835"/>
            <a:ext cx="3590290" cy="529590"/>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截面指派数据管理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FITKSectionAssignManager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455930" y="4140200"/>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工程特征数据</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FITKAbaPartEngineeringFeature</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4333240" y="4137660"/>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局部坐标系</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zh-CN" altLang="en-US"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FITKCoordinateSystemManager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nvSpPr>
        <p:spPr>
          <a:xfrm>
            <a:off x="8239760" y="4137660"/>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材料方向数据管理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FITKAbaMaterialOrientationManager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445770" y="478853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梁方向</a:t>
            </a:r>
            <a:r>
              <a:rPr lang="zh-CN" altLang="en-US" sz="1400">
                <a:latin typeface="微软雅黑" panose="020B0503020204020204" charset="-122"/>
                <a:ea typeface="微软雅黑" panose="020B0503020204020204" charset="-122"/>
                <a:cs typeface="微软雅黑" panose="020B0503020204020204" charset="-122"/>
                <a:sym typeface="+mn-ea"/>
              </a:rPr>
              <a:t>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FITKAbaBeamOrientationManager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slow" advClick="0"/>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装配体数据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Part04</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278130" y="2705735"/>
            <a:ext cx="11719560" cy="3091180"/>
          </a:xfrm>
          <a:prstGeom prst="rect">
            <a:avLst/>
          </a:prstGeom>
          <a:solidFill>
            <a:schemeClr val="accent2"/>
          </a:solidFill>
        </p:spPr>
        <p:txBody>
          <a:bodyPr wrap="square" rtlCol="0">
            <a:noAutofit/>
          </a:bodyPr>
          <a:p>
            <a:endParaRPr lang="zh-CN" altLang="en-US"/>
          </a:p>
        </p:txBody>
      </p:sp>
      <p:sp>
        <p:nvSpPr>
          <p:cNvPr id="4" name="文本框 3"/>
          <p:cNvSpPr txBox="1"/>
          <p:nvPr/>
        </p:nvSpPr>
        <p:spPr>
          <a:xfrm>
            <a:off x="360680" y="3609975"/>
            <a:ext cx="11555730" cy="2074545"/>
          </a:xfrm>
          <a:prstGeom prst="rect">
            <a:avLst/>
          </a:prstGeom>
          <a:solidFill>
            <a:schemeClr val="accent1"/>
          </a:solidFill>
        </p:spPr>
        <p:txBody>
          <a:bodyPr wrap="square" rtlCol="0">
            <a:noAutofit/>
          </a:bodyPr>
          <a:p>
            <a:endParaRPr lang="zh-CN" altLang="en-US"/>
          </a:p>
        </p:txBody>
      </p:sp>
      <p:sp>
        <p:nvSpPr>
          <p:cNvPr id="5" name="文本框 4"/>
          <p:cNvSpPr txBox="1"/>
          <p:nvPr/>
        </p:nvSpPr>
        <p:spPr>
          <a:xfrm>
            <a:off x="740410" y="1071880"/>
            <a:ext cx="10782935" cy="1337945"/>
          </a:xfrm>
          <a:prstGeom prst="rect">
            <a:avLst/>
          </a:prstGeom>
          <a:noFill/>
        </p:spPr>
        <p:txBody>
          <a:bodyPr wrap="square" rtlCol="0">
            <a:spAutoFit/>
          </a:bodyPr>
          <a:p>
            <a:pPr>
              <a:lnSpc>
                <a:spcPct val="150000"/>
              </a:lnSpc>
            </a:pPr>
            <a:r>
              <a:rPr lang="en-US" altLang="zh-CN">
                <a:latin typeface="微软雅黑" panose="020B0503020204020204" charset="-122"/>
                <a:ea typeface="微软雅黑" panose="020B0503020204020204" charset="-122"/>
                <a:cs typeface="微软雅黑" panose="020B0503020204020204" charset="-122"/>
                <a:sym typeface="+mn-ea"/>
              </a:rPr>
              <a:t>       FITKAbaqusAssembly</a:t>
            </a:r>
            <a:r>
              <a:rPr lang="zh-CN" altLang="en-US">
                <a:latin typeface="微软雅黑" panose="020B0503020204020204" charset="-122"/>
                <a:ea typeface="微软雅黑" panose="020B0503020204020204" charset="-122"/>
                <a:cs typeface="微软雅黑" panose="020B0503020204020204" charset="-122"/>
                <a:sym typeface="+mn-ea"/>
              </a:rPr>
              <a:t>装配体</a:t>
            </a:r>
            <a:r>
              <a:rPr lang="en-US" altLang="zh-CN">
                <a:latin typeface="微软雅黑" panose="020B0503020204020204" charset="-122"/>
                <a:ea typeface="微软雅黑" panose="020B0503020204020204" charset="-122"/>
                <a:cs typeface="微软雅黑" panose="020B0503020204020204" charset="-122"/>
                <a:sym typeface="+mn-ea"/>
              </a:rPr>
              <a:t>数据。</a:t>
            </a:r>
            <a:r>
              <a:rPr lang="zh-CN" altLang="en-US">
                <a:latin typeface="微软雅黑" panose="020B0503020204020204" charset="-122"/>
                <a:ea typeface="微软雅黑" panose="020B0503020204020204" charset="-122"/>
                <a:cs typeface="微软雅黑" panose="020B0503020204020204" charset="-122"/>
                <a:sym typeface="+mn-ea"/>
              </a:rPr>
              <a:t>是将多个独立部件（</a:t>
            </a:r>
            <a:r>
              <a:rPr lang="en-US" altLang="zh-CN">
                <a:latin typeface="微软雅黑" panose="020B0503020204020204" charset="-122"/>
                <a:ea typeface="微软雅黑" panose="020B0503020204020204" charset="-122"/>
                <a:cs typeface="微软雅黑" panose="020B0503020204020204" charset="-122"/>
                <a:sym typeface="+mn-ea"/>
              </a:rPr>
              <a:t>Parts</a:t>
            </a:r>
            <a:r>
              <a:rPr lang="zh-CN" altLang="en-US">
                <a:latin typeface="微软雅黑" panose="020B0503020204020204" charset="-122"/>
                <a:ea typeface="微软雅黑" panose="020B0503020204020204" charset="-122"/>
                <a:cs typeface="微软雅黑" panose="020B0503020204020204" charset="-122"/>
                <a:sym typeface="+mn-ea"/>
              </a:rPr>
              <a:t>）组合成一个完整模型的关键环节。装配体数据管理涉及部件定位、连接关系定义以及整体拓扑结构的组织，直接影响分析结果的准确性和计算效率。</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4620895" y="2851785"/>
            <a:ext cx="3028315" cy="687705"/>
          </a:xfrm>
          <a:prstGeom prst="rect">
            <a:avLst/>
          </a:prstGeom>
          <a:noFill/>
          <a:ln>
            <a:solidFill>
              <a:schemeClr val="tx1"/>
            </a:solidFill>
          </a:ln>
        </p:spPr>
        <p:txBody>
          <a:bodyPr wrap="square" rtlCol="0">
            <a:noAutofit/>
          </a:bodyPr>
          <a:p>
            <a:pPr algn="ctr"/>
            <a:r>
              <a:rPr lang="zh-CN" altLang="en-US">
                <a:latin typeface="微软雅黑" panose="020B0503020204020204" charset="-122"/>
                <a:ea typeface="微软雅黑" panose="020B0503020204020204" charset="-122"/>
                <a:cs typeface="微软雅黑" panose="020B0503020204020204" charset="-122"/>
                <a:sym typeface="微软雅黑" panose="020B0503020204020204" charset="-122"/>
              </a:rPr>
              <a:t>装配体</a:t>
            </a:r>
            <a:r>
              <a:rPr lang="zh-CN" altLang="en-US">
                <a:latin typeface="微软雅黑" panose="020B0503020204020204" charset="-122"/>
                <a:ea typeface="微软雅黑" panose="020B0503020204020204" charset="-122"/>
                <a:cs typeface="微软雅黑" panose="020B0503020204020204" charset="-122"/>
                <a:sym typeface="+mn-ea"/>
              </a:rPr>
              <a:t>数据</a:t>
            </a:r>
            <a:endParaRPr lang="en-US" altLang="zh-CN">
              <a:latin typeface="微软雅黑" panose="020B0503020204020204" charset="-122"/>
              <a:ea typeface="微软雅黑" panose="020B0503020204020204" charset="-122"/>
              <a:cs typeface="微软雅黑" panose="020B0503020204020204" charset="-122"/>
              <a:sym typeface="+mn-ea"/>
            </a:endParaRPr>
          </a:p>
          <a:p>
            <a:pPr algn="ct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FITKAbaqusAssembly</a:t>
            </a:r>
            <a:r>
              <a:rPr lang="zh-CN" altLang="en-US">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4244975" y="3745230"/>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集合</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表面数据管理</a:t>
            </a:r>
            <a:endParaRPr lang="en-US" altLang="zh-CN"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FITKComponentManager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455930" y="3742690"/>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参考点管理器</a:t>
            </a:r>
            <a:endParaRPr lang="zh-CN" altLang="en-US"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FITKAbaRefPointManager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8049260" y="3753485"/>
            <a:ext cx="3780155" cy="529590"/>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坐标变换管理器（</a:t>
            </a:r>
            <a:r>
              <a:rPr lang="en-US" altLang="zh-CN" sz="1400">
                <a:latin typeface="微软雅黑" panose="020B0503020204020204" charset="-122"/>
                <a:ea typeface="微软雅黑" panose="020B0503020204020204" charset="-122"/>
                <a:cs typeface="微软雅黑" panose="020B0503020204020204" charset="-122"/>
                <a:sym typeface="+mn-ea"/>
              </a:rPr>
              <a:t>FITKAbaTransformManager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455930" y="4387850"/>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线特征管理器</a:t>
            </a:r>
            <a:endParaRPr lang="zh-CN" altLang="en-US"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FITKAbaWireManager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4237990" y="4385310"/>
            <a:ext cx="35902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工程特征</a:t>
            </a:r>
            <a:endParaRPr lang="zh-CN" altLang="en-US"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FITKAbaAssemblyEngineeringFeature</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nvSpPr>
        <p:spPr>
          <a:xfrm>
            <a:off x="8036560" y="4385310"/>
            <a:ext cx="3793490" cy="54927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连接器指派管理器（</a:t>
            </a:r>
            <a:r>
              <a:rPr lang="en-US" altLang="zh-CN" sz="1400">
                <a:latin typeface="微软雅黑" panose="020B0503020204020204" charset="-122"/>
                <a:ea typeface="微软雅黑" panose="020B0503020204020204" charset="-122"/>
                <a:cs typeface="微软雅黑" panose="020B0503020204020204" charset="-122"/>
                <a:sym typeface="+mn-ea"/>
              </a:rPr>
              <a:t>FITKAbaConnectorAssignmentManager</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445770" y="5036185"/>
            <a:ext cx="3575685" cy="546735"/>
          </a:xfrm>
          <a:prstGeom prst="rect">
            <a:avLst/>
          </a:prstGeom>
          <a:noFill/>
          <a:ln>
            <a:solidFill>
              <a:schemeClr val="tx1"/>
            </a:solidFill>
          </a:ln>
        </p:spPr>
        <p:txBody>
          <a:bodyPr wrap="square" rtlCol="0">
            <a:noAutofit/>
          </a:bodyPr>
          <a:p>
            <a:pPr algn="ctr"/>
            <a:r>
              <a:rPr lang="zh-CN" altLang="en-US" sz="1400">
                <a:latin typeface="微软雅黑" panose="020B0503020204020204" charset="-122"/>
                <a:ea typeface="微软雅黑" panose="020B0503020204020204" charset="-122"/>
                <a:cs typeface="微软雅黑" panose="020B0503020204020204" charset="-122"/>
                <a:sym typeface="+mn-ea"/>
              </a:rPr>
              <a:t>点列表</a:t>
            </a:r>
            <a:endParaRPr lang="zh-CN" altLang="en-US" sz="1400">
              <a:latin typeface="微软雅黑" panose="020B0503020204020204" charset="-122"/>
              <a:ea typeface="微软雅黑" panose="020B0503020204020204" charset="-122"/>
              <a:cs typeface="微软雅黑" panose="020B0503020204020204" charset="-122"/>
              <a:sym typeface="+mn-ea"/>
            </a:endParaRPr>
          </a:p>
          <a:p>
            <a:pPr algn="ctr"/>
            <a:r>
              <a:rPr lang="zh-CN" altLang="en-US" sz="1400">
                <a:latin typeface="微软雅黑" panose="020B0503020204020204" charset="-122"/>
                <a:ea typeface="微软雅黑" panose="020B0503020204020204" charset="-122"/>
                <a:cs typeface="微软雅黑" panose="020B0503020204020204" charset="-122"/>
                <a:sym typeface="+mn-ea"/>
              </a:rPr>
              <a:t>（</a:t>
            </a:r>
            <a:r>
              <a:rPr lang="en-US" altLang="zh-CN" sz="1400">
                <a:latin typeface="微软雅黑" panose="020B0503020204020204" charset="-122"/>
                <a:ea typeface="微软雅黑" panose="020B0503020204020204" charset="-122"/>
                <a:cs typeface="微软雅黑" panose="020B0503020204020204" charset="-122"/>
                <a:sym typeface="+mn-ea"/>
              </a:rPr>
              <a:t>FITKNodeList</a:t>
            </a:r>
            <a:r>
              <a:rPr lang="zh-CN" altLang="en-US" sz="1400">
                <a:latin typeface="微软雅黑" panose="020B0503020204020204" charset="-122"/>
                <a:ea typeface="微软雅黑" panose="020B0503020204020204" charset="-122"/>
                <a:cs typeface="微软雅黑" panose="020B0503020204020204" charset="-122"/>
                <a:sym typeface="+mn-ea"/>
              </a:rPr>
              <a:t>）</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slow" advClick="0"/>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集合</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Part05</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39775" y="1059815"/>
            <a:ext cx="10126345" cy="1337945"/>
          </a:xfrm>
          <a:prstGeom prst="rect">
            <a:avLst/>
          </a:prstGeom>
          <a:noFill/>
        </p:spPr>
        <p:txBody>
          <a:bodyPr wrap="square" rtlCol="0">
            <a:spAutoFit/>
          </a:bodyPr>
          <a:p>
            <a:pPr>
              <a:lnSpc>
                <a:spcPct val="150000"/>
              </a:lnSpc>
            </a:pPr>
            <a:r>
              <a:rPr lang="en-US" altLang="zh-CN"/>
              <a:t>       </a:t>
            </a:r>
            <a:r>
              <a:rPr lang="en-US" altLang="zh-CN">
                <a:sym typeface="+mn-ea"/>
              </a:rPr>
              <a:t>FITKModelSet</a:t>
            </a:r>
            <a:r>
              <a:rPr lang="en-US" altLang="zh-CN">
                <a:sym typeface="微软雅黑" panose="020B0503020204020204" charset="-122"/>
              </a:rPr>
              <a:t>集合数据</a:t>
            </a:r>
            <a:r>
              <a:rPr lang="zh-CN" altLang="en-US">
                <a:sym typeface="微软雅黑" panose="020B0503020204020204" charset="-122"/>
              </a:rPr>
              <a:t>是一种用于组织和管理模型组件（如节点、单元、表面等）的重要数据结构。</a:t>
            </a:r>
            <a:r>
              <a:rPr lang="zh-CN" altLang="en-US"/>
              <a:t>集合是物理属性、材料数据、载荷工况、边界数据与网格数据关联的中间数据。通过创建集合，可以方便地定义载荷、边界条件、材料属性等，提高模型的可维护性和分析效率。</a:t>
            </a:r>
            <a:endParaRPr lang="zh-CN" altLang="en-US"/>
          </a:p>
        </p:txBody>
      </p:sp>
      <p:grpSp>
        <p:nvGrpSpPr>
          <p:cNvPr id="30" name="组合 29"/>
          <p:cNvGrpSpPr/>
          <p:nvPr/>
        </p:nvGrpSpPr>
        <p:grpSpPr>
          <a:xfrm>
            <a:off x="4859020" y="2695575"/>
            <a:ext cx="6719570" cy="3377398"/>
            <a:chOff x="698" y="3393"/>
            <a:chExt cx="17936" cy="6797"/>
          </a:xfrm>
        </p:grpSpPr>
        <p:sp>
          <p:nvSpPr>
            <p:cNvPr id="4" name="文本框 3"/>
            <p:cNvSpPr txBox="1"/>
            <p:nvPr/>
          </p:nvSpPr>
          <p:spPr>
            <a:xfrm>
              <a:off x="5375" y="9697"/>
              <a:ext cx="7378" cy="493"/>
            </a:xfrm>
            <a:prstGeom prst="rect">
              <a:avLst/>
            </a:prstGeom>
            <a:noFill/>
            <a:ln>
              <a:solidFill>
                <a:schemeClr val="tx1"/>
              </a:solidFill>
            </a:ln>
          </p:spPr>
          <p:txBody>
            <a:bodyPr wrap="square" rtlCol="0" anchor="ctr" anchorCtr="0">
              <a:spAutoFit/>
            </a:bodyPr>
            <a:p>
              <a:pPr algn="ctr"/>
              <a:r>
                <a:rPr lang="en-US" altLang="zh-CN" sz="1000"/>
                <a:t>FITKModelSet</a:t>
              </a:r>
              <a:endParaRPr lang="en-US" altLang="zh-CN" sz="1000"/>
            </a:p>
          </p:txBody>
        </p:sp>
        <p:sp>
          <p:nvSpPr>
            <p:cNvPr id="5" name="文本框 4"/>
            <p:cNvSpPr txBox="1"/>
            <p:nvPr/>
          </p:nvSpPr>
          <p:spPr>
            <a:xfrm>
              <a:off x="9871" y="8366"/>
              <a:ext cx="7240" cy="672"/>
            </a:xfrm>
            <a:prstGeom prst="rect">
              <a:avLst/>
            </a:prstGeom>
            <a:noFill/>
            <a:ln>
              <a:solidFill>
                <a:schemeClr val="tx1"/>
              </a:solidFill>
            </a:ln>
          </p:spPr>
          <p:txBody>
            <a:bodyPr wrap="square" rtlCol="0" anchor="ctr" anchorCtr="0">
              <a:noAutofit/>
            </a:bodyPr>
            <a:p>
              <a:pPr algn="ctr"/>
              <a:r>
                <a:rPr lang="en-US" altLang="zh-CN" sz="1000"/>
                <a:t>FITKAbstractModelComponent</a:t>
              </a:r>
              <a:endParaRPr lang="en-US" altLang="zh-CN" sz="1000"/>
            </a:p>
          </p:txBody>
        </p:sp>
        <p:sp>
          <p:nvSpPr>
            <p:cNvPr id="6" name="文本框 5"/>
            <p:cNvSpPr txBox="1"/>
            <p:nvPr/>
          </p:nvSpPr>
          <p:spPr>
            <a:xfrm>
              <a:off x="9871" y="7084"/>
              <a:ext cx="7239" cy="672"/>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9872" y="5833"/>
              <a:ext cx="7239" cy="672"/>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8" name="文本框 7"/>
            <p:cNvSpPr txBox="1"/>
            <p:nvPr/>
          </p:nvSpPr>
          <p:spPr>
            <a:xfrm>
              <a:off x="698" y="8362"/>
              <a:ext cx="8380" cy="680"/>
            </a:xfrm>
            <a:prstGeom prst="rect">
              <a:avLst/>
            </a:prstGeom>
            <a:noFill/>
            <a:ln>
              <a:solidFill>
                <a:schemeClr val="tx1"/>
              </a:solidFill>
            </a:ln>
          </p:spPr>
          <p:txBody>
            <a:bodyPr wrap="square" rtlCol="0" anchor="ctr" anchorCtr="0">
              <a:noAutofit/>
            </a:bodyPr>
            <a:p>
              <a:r>
                <a:rPr lang="en-US" altLang="zh-CN" sz="1000"/>
                <a:t>Core::FITKAbstractDataManager&lt;FITKModelSet&gt;</a:t>
              </a:r>
              <a:endParaRPr lang="en-US" altLang="zh-CN" sz="1000"/>
            </a:p>
          </p:txBody>
        </p:sp>
        <p:sp>
          <p:nvSpPr>
            <p:cNvPr id="11" name="文本框 10"/>
            <p:cNvSpPr txBox="1"/>
            <p:nvPr/>
          </p:nvSpPr>
          <p:spPr>
            <a:xfrm>
              <a:off x="13489" y="4507"/>
              <a:ext cx="4724" cy="672"/>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9370" y="4529"/>
              <a:ext cx="3815" cy="672"/>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13069" y="3393"/>
              <a:ext cx="5565" cy="672"/>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sp>
          <p:nvSpPr>
            <p:cNvPr id="21" name="文本框 20"/>
            <p:cNvSpPr txBox="1"/>
            <p:nvPr/>
          </p:nvSpPr>
          <p:spPr>
            <a:xfrm>
              <a:off x="698" y="7098"/>
              <a:ext cx="8379" cy="672"/>
            </a:xfrm>
            <a:prstGeom prst="rect">
              <a:avLst/>
            </a:prstGeom>
            <a:noFill/>
            <a:ln>
              <a:solidFill>
                <a:schemeClr val="tx1"/>
              </a:solidFill>
            </a:ln>
          </p:spPr>
          <p:txBody>
            <a:bodyPr wrap="square" rtlCol="0" anchor="ctr" anchorCtr="0">
              <a:noAutofit/>
            </a:bodyPr>
            <a:p>
              <a:pPr algn="ctr"/>
              <a:r>
                <a:rPr lang="en-US" altLang="zh-CN" sz="1000"/>
                <a:t>Core::FITKAbstractDataManagerPrivate</a:t>
              </a:r>
              <a:endParaRPr lang="en-US" altLang="zh-CN" sz="1000"/>
            </a:p>
          </p:txBody>
        </p:sp>
        <p:cxnSp>
          <p:nvCxnSpPr>
            <p:cNvPr id="22" name="肘形连接符 21"/>
            <p:cNvCxnSpPr>
              <a:stCxn id="5" idx="2"/>
              <a:endCxn id="4" idx="0"/>
            </p:cNvCxnSpPr>
            <p:nvPr/>
          </p:nvCxnSpPr>
          <p:spPr>
            <a:xfrm rot="5400000">
              <a:off x="10948" y="7154"/>
              <a:ext cx="659" cy="4427"/>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3" name="肘形连接符 22"/>
            <p:cNvCxnSpPr/>
            <p:nvPr/>
          </p:nvCxnSpPr>
          <p:spPr>
            <a:xfrm rot="5400000" flipV="1">
              <a:off x="6666" y="7325"/>
              <a:ext cx="621" cy="4176"/>
            </a:xfrm>
            <a:prstGeom prst="bentConnector3">
              <a:avLst>
                <a:gd name="adj1" fmla="val 42592"/>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肘形连接符 23"/>
            <p:cNvCxnSpPr>
              <a:stCxn id="6" idx="2"/>
              <a:endCxn id="5" idx="0"/>
            </p:cNvCxnSpPr>
            <p:nvPr/>
          </p:nvCxnSpPr>
          <p:spPr>
            <a:xfrm rot="5400000" flipV="1">
              <a:off x="13186" y="8061"/>
              <a:ext cx="610"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肘形连接符 24"/>
            <p:cNvCxnSpPr>
              <a:stCxn id="7" idx="2"/>
              <a:endCxn id="6" idx="0"/>
            </p:cNvCxnSpPr>
            <p:nvPr/>
          </p:nvCxnSpPr>
          <p:spPr>
            <a:xfrm rot="5400000">
              <a:off x="13202" y="6793"/>
              <a:ext cx="579" cy="5"/>
            </a:xfrm>
            <a:prstGeom prst="bentConnector3">
              <a:avLst>
                <a:gd name="adj1" fmla="val 50086"/>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11" idx="2"/>
              <a:endCxn id="7" idx="0"/>
            </p:cNvCxnSpPr>
            <p:nvPr/>
          </p:nvCxnSpPr>
          <p:spPr>
            <a:xfrm rot="5400000">
              <a:off x="14345" y="4327"/>
              <a:ext cx="654" cy="2359"/>
            </a:xfrm>
            <a:prstGeom prst="bentConnector3">
              <a:avLst>
                <a:gd name="adj1" fmla="val 49924"/>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12069" y="4410"/>
              <a:ext cx="632" cy="2214"/>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肘形连接符 27"/>
            <p:cNvCxnSpPr>
              <a:stCxn id="20" idx="2"/>
              <a:endCxn id="11" idx="0"/>
            </p:cNvCxnSpPr>
            <p:nvPr/>
          </p:nvCxnSpPr>
          <p:spPr>
            <a:xfrm rot="5400000">
              <a:off x="15631" y="4286"/>
              <a:ext cx="442" cy="1"/>
            </a:xfrm>
            <a:prstGeom prst="bentConnector3">
              <a:avLst>
                <a:gd name="adj1" fmla="val 49887"/>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21" idx="2"/>
              <a:endCxn id="8" idx="0"/>
            </p:cNvCxnSpPr>
            <p:nvPr/>
          </p:nvCxnSpPr>
          <p:spPr>
            <a:xfrm rot="5400000" flipV="1">
              <a:off x="4592" y="8066"/>
              <a:ext cx="592"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
        <p:nvSpPr>
          <p:cNvPr id="31" name="文本框 30"/>
          <p:cNvSpPr txBox="1"/>
          <p:nvPr/>
        </p:nvSpPr>
        <p:spPr>
          <a:xfrm>
            <a:off x="6372860" y="6208395"/>
            <a:ext cx="4064000" cy="368300"/>
          </a:xfrm>
          <a:prstGeom prst="rect">
            <a:avLst/>
          </a:prstGeom>
          <a:noFill/>
        </p:spPr>
        <p:txBody>
          <a:bodyPr wrap="square" rtlCol="0">
            <a:spAutoFit/>
          </a:bodyPr>
          <a:p>
            <a:pPr algn="ctr"/>
            <a:r>
              <a:rPr lang="zh-CN" altLang="en-US"/>
              <a:t>继承</a:t>
            </a:r>
            <a:r>
              <a:rPr lang="zh-CN" altLang="en-US"/>
              <a:t>图</a:t>
            </a:r>
            <a:endParaRPr lang="zh-CN" altLang="en-US"/>
          </a:p>
        </p:txBody>
      </p:sp>
      <p:pic>
        <p:nvPicPr>
          <p:cNvPr id="39" name="图片 38"/>
          <p:cNvPicPr>
            <a:picLocks noChangeAspect="1"/>
          </p:cNvPicPr>
          <p:nvPr/>
        </p:nvPicPr>
        <p:blipFill>
          <a:blip r:embed="rId2"/>
          <a:stretch>
            <a:fillRect/>
          </a:stretch>
        </p:blipFill>
        <p:spPr>
          <a:xfrm>
            <a:off x="556260" y="2558415"/>
            <a:ext cx="4248150" cy="3908425"/>
          </a:xfrm>
          <a:prstGeom prst="rect">
            <a:avLst/>
          </a:prstGeom>
        </p:spPr>
      </p:pic>
    </p:spTree>
  </p:cSld>
  <p:clrMapOvr>
    <a:masterClrMapping/>
  </p:clrMapOvr>
  <p:transition spd="slow" advClick="0"/>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集合</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Part06</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grpSp>
        <p:nvGrpSpPr>
          <p:cNvPr id="58" name="组合 57"/>
          <p:cNvGrpSpPr/>
          <p:nvPr/>
        </p:nvGrpSpPr>
        <p:grpSpPr>
          <a:xfrm>
            <a:off x="925195" y="2068830"/>
            <a:ext cx="10292715" cy="4456430"/>
            <a:chOff x="1457" y="3281"/>
            <a:chExt cx="16209" cy="7018"/>
          </a:xfrm>
        </p:grpSpPr>
        <p:pic>
          <p:nvPicPr>
            <p:cNvPr id="8" name="图片 7"/>
            <p:cNvPicPr>
              <a:picLocks noChangeAspect="1"/>
            </p:cNvPicPr>
            <p:nvPr/>
          </p:nvPicPr>
          <p:blipFill>
            <a:blip r:embed="rId2"/>
            <a:stretch>
              <a:fillRect/>
            </a:stretch>
          </p:blipFill>
          <p:spPr>
            <a:xfrm>
              <a:off x="1473" y="3281"/>
              <a:ext cx="14865" cy="450"/>
            </a:xfrm>
            <a:prstGeom prst="rect">
              <a:avLst/>
            </a:prstGeom>
          </p:spPr>
        </p:pic>
        <p:pic>
          <p:nvPicPr>
            <p:cNvPr id="10" name="图片 9"/>
            <p:cNvPicPr>
              <a:picLocks noChangeAspect="1"/>
            </p:cNvPicPr>
            <p:nvPr/>
          </p:nvPicPr>
          <p:blipFill>
            <a:blip r:embed="rId3"/>
            <a:stretch>
              <a:fillRect/>
            </a:stretch>
          </p:blipFill>
          <p:spPr>
            <a:xfrm>
              <a:off x="12859" y="3304"/>
              <a:ext cx="4155" cy="405"/>
            </a:xfrm>
            <a:prstGeom prst="rect">
              <a:avLst/>
            </a:prstGeom>
          </p:spPr>
        </p:pic>
        <p:pic>
          <p:nvPicPr>
            <p:cNvPr id="11" name="图片 10"/>
            <p:cNvPicPr>
              <a:picLocks noChangeAspect="1"/>
            </p:cNvPicPr>
            <p:nvPr/>
          </p:nvPicPr>
          <p:blipFill>
            <a:blip r:embed="rId4"/>
            <a:stretch>
              <a:fillRect/>
            </a:stretch>
          </p:blipFill>
          <p:spPr>
            <a:xfrm>
              <a:off x="1473" y="3708"/>
              <a:ext cx="13920" cy="420"/>
            </a:xfrm>
            <a:prstGeom prst="rect">
              <a:avLst/>
            </a:prstGeom>
          </p:spPr>
        </p:pic>
        <p:pic>
          <p:nvPicPr>
            <p:cNvPr id="19" name="图片 18"/>
            <p:cNvPicPr>
              <a:picLocks noChangeAspect="1"/>
            </p:cNvPicPr>
            <p:nvPr/>
          </p:nvPicPr>
          <p:blipFill>
            <a:blip r:embed="rId5"/>
            <a:stretch>
              <a:fillRect/>
            </a:stretch>
          </p:blipFill>
          <p:spPr>
            <a:xfrm>
              <a:off x="12882" y="3723"/>
              <a:ext cx="4590" cy="405"/>
            </a:xfrm>
            <a:prstGeom prst="rect">
              <a:avLst/>
            </a:prstGeom>
          </p:spPr>
        </p:pic>
        <p:pic>
          <p:nvPicPr>
            <p:cNvPr id="20" name="图片 19"/>
            <p:cNvPicPr>
              <a:picLocks noChangeAspect="1"/>
            </p:cNvPicPr>
            <p:nvPr/>
          </p:nvPicPr>
          <p:blipFill>
            <a:blip r:embed="rId6"/>
            <a:stretch>
              <a:fillRect/>
            </a:stretch>
          </p:blipFill>
          <p:spPr>
            <a:xfrm>
              <a:off x="1473" y="4128"/>
              <a:ext cx="12690" cy="435"/>
            </a:xfrm>
            <a:prstGeom prst="rect">
              <a:avLst/>
            </a:prstGeom>
          </p:spPr>
        </p:pic>
        <p:pic>
          <p:nvPicPr>
            <p:cNvPr id="21" name="图片 20"/>
            <p:cNvPicPr>
              <a:picLocks noChangeAspect="1"/>
            </p:cNvPicPr>
            <p:nvPr/>
          </p:nvPicPr>
          <p:blipFill>
            <a:blip r:embed="rId7"/>
            <a:stretch>
              <a:fillRect/>
            </a:stretch>
          </p:blipFill>
          <p:spPr>
            <a:xfrm>
              <a:off x="12882" y="4128"/>
              <a:ext cx="4035" cy="390"/>
            </a:xfrm>
            <a:prstGeom prst="rect">
              <a:avLst/>
            </a:prstGeom>
          </p:spPr>
        </p:pic>
        <p:pic>
          <p:nvPicPr>
            <p:cNvPr id="22" name="图片 21"/>
            <p:cNvPicPr>
              <a:picLocks noChangeAspect="1"/>
            </p:cNvPicPr>
            <p:nvPr/>
          </p:nvPicPr>
          <p:blipFill>
            <a:blip r:embed="rId8"/>
            <a:stretch>
              <a:fillRect/>
            </a:stretch>
          </p:blipFill>
          <p:spPr>
            <a:xfrm>
              <a:off x="1473" y="4518"/>
              <a:ext cx="11775" cy="435"/>
            </a:xfrm>
            <a:prstGeom prst="rect">
              <a:avLst/>
            </a:prstGeom>
          </p:spPr>
        </p:pic>
        <p:pic>
          <p:nvPicPr>
            <p:cNvPr id="23" name="图片 22"/>
            <p:cNvPicPr>
              <a:picLocks noChangeAspect="1"/>
            </p:cNvPicPr>
            <p:nvPr/>
          </p:nvPicPr>
          <p:blipFill>
            <a:blip r:embed="rId9"/>
            <a:stretch>
              <a:fillRect/>
            </a:stretch>
          </p:blipFill>
          <p:spPr>
            <a:xfrm>
              <a:off x="12882" y="4518"/>
              <a:ext cx="4440" cy="420"/>
            </a:xfrm>
            <a:prstGeom prst="rect">
              <a:avLst/>
            </a:prstGeom>
          </p:spPr>
        </p:pic>
        <p:pic>
          <p:nvPicPr>
            <p:cNvPr id="24" name="图片 23"/>
            <p:cNvPicPr>
              <a:picLocks noChangeAspect="1"/>
            </p:cNvPicPr>
            <p:nvPr/>
          </p:nvPicPr>
          <p:blipFill>
            <a:blip r:embed="rId10"/>
            <a:stretch>
              <a:fillRect/>
            </a:stretch>
          </p:blipFill>
          <p:spPr>
            <a:xfrm>
              <a:off x="1473" y="4938"/>
              <a:ext cx="11445" cy="435"/>
            </a:xfrm>
            <a:prstGeom prst="rect">
              <a:avLst/>
            </a:prstGeom>
          </p:spPr>
        </p:pic>
        <p:pic>
          <p:nvPicPr>
            <p:cNvPr id="25" name="图片 24"/>
            <p:cNvPicPr>
              <a:picLocks noChangeAspect="1"/>
            </p:cNvPicPr>
            <p:nvPr/>
          </p:nvPicPr>
          <p:blipFill>
            <a:blip r:embed="rId11"/>
            <a:stretch>
              <a:fillRect/>
            </a:stretch>
          </p:blipFill>
          <p:spPr>
            <a:xfrm>
              <a:off x="12882" y="4983"/>
              <a:ext cx="4125" cy="405"/>
            </a:xfrm>
            <a:prstGeom prst="rect">
              <a:avLst/>
            </a:prstGeom>
          </p:spPr>
        </p:pic>
        <p:pic>
          <p:nvPicPr>
            <p:cNvPr id="26" name="图片 25"/>
            <p:cNvPicPr>
              <a:picLocks noChangeAspect="1"/>
            </p:cNvPicPr>
            <p:nvPr/>
          </p:nvPicPr>
          <p:blipFill>
            <a:blip r:embed="rId12"/>
            <a:stretch>
              <a:fillRect/>
            </a:stretch>
          </p:blipFill>
          <p:spPr>
            <a:xfrm>
              <a:off x="1473" y="5328"/>
              <a:ext cx="12270" cy="420"/>
            </a:xfrm>
            <a:prstGeom prst="rect">
              <a:avLst/>
            </a:prstGeom>
          </p:spPr>
        </p:pic>
        <p:pic>
          <p:nvPicPr>
            <p:cNvPr id="27" name="图片 26"/>
            <p:cNvPicPr>
              <a:picLocks noChangeAspect="1"/>
            </p:cNvPicPr>
            <p:nvPr/>
          </p:nvPicPr>
          <p:blipFill>
            <a:blip r:embed="rId13"/>
            <a:stretch>
              <a:fillRect/>
            </a:stretch>
          </p:blipFill>
          <p:spPr>
            <a:xfrm>
              <a:off x="12872" y="5328"/>
              <a:ext cx="4260" cy="420"/>
            </a:xfrm>
            <a:prstGeom prst="rect">
              <a:avLst/>
            </a:prstGeom>
          </p:spPr>
        </p:pic>
        <p:pic>
          <p:nvPicPr>
            <p:cNvPr id="28" name="图片 27"/>
            <p:cNvPicPr>
              <a:picLocks noChangeAspect="1"/>
            </p:cNvPicPr>
            <p:nvPr/>
          </p:nvPicPr>
          <p:blipFill>
            <a:blip r:embed="rId14"/>
            <a:stretch>
              <a:fillRect/>
            </a:stretch>
          </p:blipFill>
          <p:spPr>
            <a:xfrm>
              <a:off x="1473" y="5725"/>
              <a:ext cx="12030" cy="450"/>
            </a:xfrm>
            <a:prstGeom prst="rect">
              <a:avLst/>
            </a:prstGeom>
          </p:spPr>
        </p:pic>
        <p:pic>
          <p:nvPicPr>
            <p:cNvPr id="29" name="图片 28"/>
            <p:cNvPicPr>
              <a:picLocks noChangeAspect="1"/>
            </p:cNvPicPr>
            <p:nvPr/>
          </p:nvPicPr>
          <p:blipFill>
            <a:blip r:embed="rId15"/>
            <a:stretch>
              <a:fillRect/>
            </a:stretch>
          </p:blipFill>
          <p:spPr>
            <a:xfrm>
              <a:off x="12859" y="5763"/>
              <a:ext cx="3300" cy="420"/>
            </a:xfrm>
            <a:prstGeom prst="rect">
              <a:avLst/>
            </a:prstGeom>
          </p:spPr>
        </p:pic>
        <p:pic>
          <p:nvPicPr>
            <p:cNvPr id="30" name="图片 29"/>
            <p:cNvPicPr>
              <a:picLocks noChangeAspect="1"/>
            </p:cNvPicPr>
            <p:nvPr/>
          </p:nvPicPr>
          <p:blipFill>
            <a:blip r:embed="rId16"/>
            <a:stretch>
              <a:fillRect/>
            </a:stretch>
          </p:blipFill>
          <p:spPr>
            <a:xfrm>
              <a:off x="1473" y="6137"/>
              <a:ext cx="10230" cy="435"/>
            </a:xfrm>
            <a:prstGeom prst="rect">
              <a:avLst/>
            </a:prstGeom>
          </p:spPr>
        </p:pic>
        <p:pic>
          <p:nvPicPr>
            <p:cNvPr id="31" name="图片 30"/>
            <p:cNvPicPr>
              <a:picLocks noChangeAspect="1"/>
            </p:cNvPicPr>
            <p:nvPr/>
          </p:nvPicPr>
          <p:blipFill>
            <a:blip r:embed="rId17"/>
            <a:stretch>
              <a:fillRect/>
            </a:stretch>
          </p:blipFill>
          <p:spPr>
            <a:xfrm>
              <a:off x="12872" y="6183"/>
              <a:ext cx="4425" cy="420"/>
            </a:xfrm>
            <a:prstGeom prst="rect">
              <a:avLst/>
            </a:prstGeom>
          </p:spPr>
        </p:pic>
        <p:pic>
          <p:nvPicPr>
            <p:cNvPr id="38" name="图片 37"/>
            <p:cNvPicPr>
              <a:picLocks noChangeAspect="1"/>
            </p:cNvPicPr>
            <p:nvPr/>
          </p:nvPicPr>
          <p:blipFill>
            <a:blip r:embed="rId18"/>
            <a:stretch>
              <a:fillRect/>
            </a:stretch>
          </p:blipFill>
          <p:spPr>
            <a:xfrm>
              <a:off x="1473" y="6548"/>
              <a:ext cx="12960" cy="450"/>
            </a:xfrm>
            <a:prstGeom prst="rect">
              <a:avLst/>
            </a:prstGeom>
          </p:spPr>
        </p:pic>
        <p:pic>
          <p:nvPicPr>
            <p:cNvPr id="39" name="图片 38"/>
            <p:cNvPicPr>
              <a:picLocks noChangeAspect="1"/>
            </p:cNvPicPr>
            <p:nvPr/>
          </p:nvPicPr>
          <p:blipFill>
            <a:blip r:embed="rId19"/>
            <a:stretch>
              <a:fillRect/>
            </a:stretch>
          </p:blipFill>
          <p:spPr>
            <a:xfrm>
              <a:off x="12859" y="6580"/>
              <a:ext cx="4545" cy="405"/>
            </a:xfrm>
            <a:prstGeom prst="rect">
              <a:avLst/>
            </a:prstGeom>
          </p:spPr>
        </p:pic>
        <p:pic>
          <p:nvPicPr>
            <p:cNvPr id="40" name="图片 39"/>
            <p:cNvPicPr>
              <a:picLocks noChangeAspect="1"/>
            </p:cNvPicPr>
            <p:nvPr/>
          </p:nvPicPr>
          <p:blipFill>
            <a:blip r:embed="rId20"/>
            <a:stretch>
              <a:fillRect/>
            </a:stretch>
          </p:blipFill>
          <p:spPr>
            <a:xfrm>
              <a:off x="1473" y="6962"/>
              <a:ext cx="13755" cy="450"/>
            </a:xfrm>
            <a:prstGeom prst="rect">
              <a:avLst/>
            </a:prstGeom>
          </p:spPr>
        </p:pic>
        <p:pic>
          <p:nvPicPr>
            <p:cNvPr id="41" name="图片 40"/>
            <p:cNvPicPr>
              <a:picLocks noChangeAspect="1"/>
            </p:cNvPicPr>
            <p:nvPr/>
          </p:nvPicPr>
          <p:blipFill>
            <a:blip r:embed="rId21"/>
            <a:stretch>
              <a:fillRect/>
            </a:stretch>
          </p:blipFill>
          <p:spPr>
            <a:xfrm>
              <a:off x="12859" y="6978"/>
              <a:ext cx="4320" cy="435"/>
            </a:xfrm>
            <a:prstGeom prst="rect">
              <a:avLst/>
            </a:prstGeom>
          </p:spPr>
        </p:pic>
        <p:pic>
          <p:nvPicPr>
            <p:cNvPr id="42" name="图片 41"/>
            <p:cNvPicPr>
              <a:picLocks noChangeAspect="1"/>
            </p:cNvPicPr>
            <p:nvPr/>
          </p:nvPicPr>
          <p:blipFill>
            <a:blip r:embed="rId22"/>
            <a:stretch>
              <a:fillRect/>
            </a:stretch>
          </p:blipFill>
          <p:spPr>
            <a:xfrm>
              <a:off x="1473" y="7366"/>
              <a:ext cx="11925" cy="450"/>
            </a:xfrm>
            <a:prstGeom prst="rect">
              <a:avLst/>
            </a:prstGeom>
          </p:spPr>
        </p:pic>
        <p:pic>
          <p:nvPicPr>
            <p:cNvPr id="43" name="图片 42"/>
            <p:cNvPicPr>
              <a:picLocks noChangeAspect="1"/>
            </p:cNvPicPr>
            <p:nvPr/>
          </p:nvPicPr>
          <p:blipFill>
            <a:blip r:embed="rId23"/>
            <a:stretch>
              <a:fillRect/>
            </a:stretch>
          </p:blipFill>
          <p:spPr>
            <a:xfrm>
              <a:off x="12872" y="7389"/>
              <a:ext cx="3420" cy="390"/>
            </a:xfrm>
            <a:prstGeom prst="rect">
              <a:avLst/>
            </a:prstGeom>
          </p:spPr>
        </p:pic>
        <p:pic>
          <p:nvPicPr>
            <p:cNvPr id="44" name="图片 43"/>
            <p:cNvPicPr>
              <a:picLocks noChangeAspect="1"/>
            </p:cNvPicPr>
            <p:nvPr/>
          </p:nvPicPr>
          <p:blipFill>
            <a:blip r:embed="rId24"/>
            <a:stretch>
              <a:fillRect/>
            </a:stretch>
          </p:blipFill>
          <p:spPr>
            <a:xfrm>
              <a:off x="1473" y="7794"/>
              <a:ext cx="12465" cy="435"/>
            </a:xfrm>
            <a:prstGeom prst="rect">
              <a:avLst/>
            </a:prstGeom>
          </p:spPr>
        </p:pic>
        <p:pic>
          <p:nvPicPr>
            <p:cNvPr id="45" name="图片 44"/>
            <p:cNvPicPr>
              <a:picLocks noChangeAspect="1"/>
            </p:cNvPicPr>
            <p:nvPr/>
          </p:nvPicPr>
          <p:blipFill>
            <a:blip r:embed="rId25"/>
            <a:stretch>
              <a:fillRect/>
            </a:stretch>
          </p:blipFill>
          <p:spPr>
            <a:xfrm>
              <a:off x="12836" y="7795"/>
              <a:ext cx="4365" cy="420"/>
            </a:xfrm>
            <a:prstGeom prst="rect">
              <a:avLst/>
            </a:prstGeom>
          </p:spPr>
        </p:pic>
        <p:pic>
          <p:nvPicPr>
            <p:cNvPr id="46" name="图片 45"/>
            <p:cNvPicPr>
              <a:picLocks noChangeAspect="1"/>
            </p:cNvPicPr>
            <p:nvPr/>
          </p:nvPicPr>
          <p:blipFill>
            <a:blip r:embed="rId26"/>
            <a:stretch>
              <a:fillRect/>
            </a:stretch>
          </p:blipFill>
          <p:spPr>
            <a:xfrm>
              <a:off x="1473" y="8185"/>
              <a:ext cx="13620" cy="435"/>
            </a:xfrm>
            <a:prstGeom prst="rect">
              <a:avLst/>
            </a:prstGeom>
          </p:spPr>
        </p:pic>
        <p:pic>
          <p:nvPicPr>
            <p:cNvPr id="47" name="图片 46"/>
            <p:cNvPicPr>
              <a:picLocks noChangeAspect="1"/>
            </p:cNvPicPr>
            <p:nvPr/>
          </p:nvPicPr>
          <p:blipFill>
            <a:blip r:embed="rId27"/>
            <a:stretch>
              <a:fillRect/>
            </a:stretch>
          </p:blipFill>
          <p:spPr>
            <a:xfrm>
              <a:off x="12836" y="8208"/>
              <a:ext cx="4830" cy="420"/>
            </a:xfrm>
            <a:prstGeom prst="rect">
              <a:avLst/>
            </a:prstGeom>
          </p:spPr>
        </p:pic>
        <p:pic>
          <p:nvPicPr>
            <p:cNvPr id="48" name="图片 47"/>
            <p:cNvPicPr>
              <a:picLocks noChangeAspect="1"/>
            </p:cNvPicPr>
            <p:nvPr/>
          </p:nvPicPr>
          <p:blipFill>
            <a:blip r:embed="rId28"/>
            <a:stretch>
              <a:fillRect/>
            </a:stretch>
          </p:blipFill>
          <p:spPr>
            <a:xfrm>
              <a:off x="1457" y="8608"/>
              <a:ext cx="12660" cy="435"/>
            </a:xfrm>
            <a:prstGeom prst="rect">
              <a:avLst/>
            </a:prstGeom>
          </p:spPr>
        </p:pic>
        <p:pic>
          <p:nvPicPr>
            <p:cNvPr id="49" name="图片 48"/>
            <p:cNvPicPr>
              <a:picLocks noChangeAspect="1"/>
            </p:cNvPicPr>
            <p:nvPr/>
          </p:nvPicPr>
          <p:blipFill>
            <a:blip r:embed="rId29"/>
            <a:stretch>
              <a:fillRect/>
            </a:stretch>
          </p:blipFill>
          <p:spPr>
            <a:xfrm>
              <a:off x="12859" y="8667"/>
              <a:ext cx="3735" cy="405"/>
            </a:xfrm>
            <a:prstGeom prst="rect">
              <a:avLst/>
            </a:prstGeom>
          </p:spPr>
        </p:pic>
        <p:pic>
          <p:nvPicPr>
            <p:cNvPr id="50" name="图片 49"/>
            <p:cNvPicPr>
              <a:picLocks noChangeAspect="1"/>
            </p:cNvPicPr>
            <p:nvPr/>
          </p:nvPicPr>
          <p:blipFill>
            <a:blip r:embed="rId30"/>
            <a:stretch>
              <a:fillRect/>
            </a:stretch>
          </p:blipFill>
          <p:spPr>
            <a:xfrm>
              <a:off x="1473" y="9017"/>
              <a:ext cx="14325" cy="435"/>
            </a:xfrm>
            <a:prstGeom prst="rect">
              <a:avLst/>
            </a:prstGeom>
          </p:spPr>
        </p:pic>
        <p:pic>
          <p:nvPicPr>
            <p:cNvPr id="51" name="图片 50"/>
            <p:cNvPicPr>
              <a:picLocks noChangeAspect="1"/>
            </p:cNvPicPr>
            <p:nvPr/>
          </p:nvPicPr>
          <p:blipFill>
            <a:blip r:embed="rId31"/>
            <a:stretch>
              <a:fillRect/>
            </a:stretch>
          </p:blipFill>
          <p:spPr>
            <a:xfrm>
              <a:off x="12836" y="9058"/>
              <a:ext cx="4335" cy="420"/>
            </a:xfrm>
            <a:prstGeom prst="rect">
              <a:avLst/>
            </a:prstGeom>
          </p:spPr>
        </p:pic>
        <p:pic>
          <p:nvPicPr>
            <p:cNvPr id="53" name="图片 52"/>
            <p:cNvPicPr>
              <a:picLocks noChangeAspect="1"/>
            </p:cNvPicPr>
            <p:nvPr/>
          </p:nvPicPr>
          <p:blipFill>
            <a:blip r:embed="rId32"/>
            <a:stretch>
              <a:fillRect/>
            </a:stretch>
          </p:blipFill>
          <p:spPr>
            <a:xfrm>
              <a:off x="1459" y="9442"/>
              <a:ext cx="11745" cy="435"/>
            </a:xfrm>
            <a:prstGeom prst="rect">
              <a:avLst/>
            </a:prstGeom>
          </p:spPr>
        </p:pic>
        <p:pic>
          <p:nvPicPr>
            <p:cNvPr id="54" name="图片 53"/>
            <p:cNvPicPr>
              <a:picLocks noChangeAspect="1"/>
            </p:cNvPicPr>
            <p:nvPr/>
          </p:nvPicPr>
          <p:blipFill>
            <a:blip r:embed="rId33"/>
            <a:stretch>
              <a:fillRect/>
            </a:stretch>
          </p:blipFill>
          <p:spPr>
            <a:xfrm>
              <a:off x="12836" y="9508"/>
              <a:ext cx="3930" cy="405"/>
            </a:xfrm>
            <a:prstGeom prst="rect">
              <a:avLst/>
            </a:prstGeom>
          </p:spPr>
        </p:pic>
        <p:pic>
          <p:nvPicPr>
            <p:cNvPr id="55" name="图片 54"/>
            <p:cNvPicPr>
              <a:picLocks noChangeAspect="1"/>
            </p:cNvPicPr>
            <p:nvPr/>
          </p:nvPicPr>
          <p:blipFill>
            <a:blip r:embed="rId34"/>
            <a:stretch>
              <a:fillRect/>
            </a:stretch>
          </p:blipFill>
          <p:spPr>
            <a:xfrm>
              <a:off x="1473" y="9864"/>
              <a:ext cx="10200" cy="435"/>
            </a:xfrm>
            <a:prstGeom prst="rect">
              <a:avLst/>
            </a:prstGeom>
          </p:spPr>
        </p:pic>
        <p:pic>
          <p:nvPicPr>
            <p:cNvPr id="56" name="图片 55"/>
            <p:cNvPicPr>
              <a:picLocks noChangeAspect="1"/>
            </p:cNvPicPr>
            <p:nvPr/>
          </p:nvPicPr>
          <p:blipFill>
            <a:blip r:embed="rId35"/>
            <a:stretch>
              <a:fillRect/>
            </a:stretch>
          </p:blipFill>
          <p:spPr>
            <a:xfrm>
              <a:off x="12813" y="9844"/>
              <a:ext cx="4245" cy="435"/>
            </a:xfrm>
            <a:prstGeom prst="rect">
              <a:avLst/>
            </a:prstGeom>
          </p:spPr>
        </p:pic>
      </p:grpSp>
      <p:sp>
        <p:nvSpPr>
          <p:cNvPr id="57" name="文本框 56"/>
          <p:cNvSpPr txBox="1"/>
          <p:nvPr/>
        </p:nvSpPr>
        <p:spPr>
          <a:xfrm>
            <a:off x="740410" y="1459230"/>
            <a:ext cx="4064000" cy="368300"/>
          </a:xfrm>
          <a:prstGeom prst="rect">
            <a:avLst/>
          </a:prstGeom>
          <a:noFill/>
        </p:spPr>
        <p:txBody>
          <a:bodyPr wrap="square" rtlCol="0">
            <a:spAutoFit/>
          </a:bodyPr>
          <a:p>
            <a:r>
              <a:rPr lang="en-US" altLang="zh-CN"/>
              <a:t>       </a:t>
            </a:r>
            <a:r>
              <a:rPr lang="zh-CN" altLang="en-US"/>
              <a:t>集合数据</a:t>
            </a:r>
            <a:r>
              <a:rPr lang="zh-CN" altLang="en-US"/>
              <a:t>接口：</a:t>
            </a:r>
            <a:endParaRPr lang="zh-CN" altLang="en-US"/>
          </a:p>
        </p:txBody>
      </p:sp>
    </p:spTree>
  </p:cSld>
  <p:clrMapOvr>
    <a:masterClrMapping/>
  </p:clrMapOvr>
  <p:transition spd="slow" advClick="0"/>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分析</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步数据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Part07</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4" name="文本框 3"/>
          <p:cNvSpPr txBox="1"/>
          <p:nvPr/>
        </p:nvSpPr>
        <p:spPr>
          <a:xfrm>
            <a:off x="706755" y="990600"/>
            <a:ext cx="10227310" cy="1753235"/>
          </a:xfrm>
          <a:prstGeom prst="rect">
            <a:avLst/>
          </a:prstGeom>
          <a:noFill/>
        </p:spPr>
        <p:txBody>
          <a:bodyPr wrap="square" rtlCol="0">
            <a:spAutoFit/>
          </a:bodyPr>
          <a:p>
            <a:pPr>
              <a:lnSpc>
                <a:spcPct val="150000"/>
              </a:lnSpc>
            </a:pPr>
            <a:r>
              <a:rPr lang="en-US" altLang="zh-CN"/>
              <a:t>       </a:t>
            </a:r>
            <a:r>
              <a:rPr lang="zh-CN" altLang="en-US">
                <a:sym typeface="微软雅黑" panose="020B0503020204020204" charset="-122"/>
              </a:rPr>
              <a:t>分析步数据</a:t>
            </a:r>
            <a:r>
              <a:rPr lang="zh-CN" altLang="en-US"/>
              <a:t>是定义分析过程的核心单元，用于控制载荷施加方式、时间历程、求解方法及输出请求等参数。分析步数据管理直接影响分析结果的准确性、计算效率以及对物理现象的模拟能力。</a:t>
            </a:r>
            <a:endParaRPr lang="zh-CN" altLang="en-US"/>
          </a:p>
          <a:p>
            <a:pPr>
              <a:lnSpc>
                <a:spcPct val="150000"/>
              </a:lnSpc>
            </a:pPr>
            <a:r>
              <a:rPr lang="en-US" altLang="zh-CN"/>
              <a:t>       </a:t>
            </a:r>
            <a:r>
              <a:rPr lang="zh-CN" altLang="en-US"/>
              <a:t>结构里的分析类型有静态分析步、模态分析</a:t>
            </a:r>
            <a:r>
              <a:rPr lang="zh-CN" altLang="en-US"/>
              <a:t>步、温度位移耦合显式动力学分析步。</a:t>
            </a:r>
            <a:endParaRPr lang="zh-CN" altLang="en-US"/>
          </a:p>
          <a:p>
            <a:pPr>
              <a:lnSpc>
                <a:spcPct val="150000"/>
              </a:lnSpc>
            </a:pPr>
            <a:r>
              <a:rPr lang="en-US" altLang="zh-CN"/>
              <a:t>       </a:t>
            </a:r>
            <a:r>
              <a:rPr lang="en-US" altLang="zh-CN">
                <a:sym typeface="+mn-ea"/>
              </a:rPr>
              <a:t>FITKAbaAbstractSte</a:t>
            </a:r>
            <a:r>
              <a:rPr lang="zh-CN" altLang="en-US">
                <a:sym typeface="+mn-ea"/>
              </a:rPr>
              <a:t>p分析步基类，具有分析步</a:t>
            </a:r>
            <a:r>
              <a:rPr lang="zh-CN" altLang="en-US">
                <a:sym typeface="+mn-ea"/>
              </a:rPr>
              <a:t>描述、时间、几何非线性三个属性。</a:t>
            </a:r>
            <a:endParaRPr lang="zh-CN" altLang="en-US">
              <a:sym typeface="+mn-ea"/>
            </a:endParaRPr>
          </a:p>
        </p:txBody>
      </p:sp>
      <p:grpSp>
        <p:nvGrpSpPr>
          <p:cNvPr id="39" name="组合 38"/>
          <p:cNvGrpSpPr/>
          <p:nvPr/>
        </p:nvGrpSpPr>
        <p:grpSpPr>
          <a:xfrm>
            <a:off x="558165" y="2860040"/>
            <a:ext cx="3470910" cy="2962910"/>
            <a:chOff x="2416" y="3622"/>
            <a:chExt cx="5466" cy="4666"/>
          </a:xfrm>
        </p:grpSpPr>
        <p:sp>
          <p:nvSpPr>
            <p:cNvPr id="6" name="文本框 5"/>
            <p:cNvSpPr txBox="1"/>
            <p:nvPr/>
          </p:nvSpPr>
          <p:spPr>
            <a:xfrm>
              <a:off x="2713" y="6727"/>
              <a:ext cx="4272" cy="526"/>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2713" y="5692"/>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4847" y="4640"/>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2416" y="4657"/>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4599" y="3622"/>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5282" y="4733"/>
              <a:ext cx="526" cy="139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3941" y="4784"/>
              <a:ext cx="509" cy="1307"/>
            </a:xfrm>
            <a:prstGeom prst="bentConnector3">
              <a:avLst>
                <a:gd name="adj1" fmla="val 4715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flipV="1">
              <a:off x="5995" y="4394"/>
              <a:ext cx="492"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7" idx="2"/>
              <a:endCxn id="6" idx="0"/>
            </p:cNvCxnSpPr>
            <p:nvPr/>
          </p:nvCxnSpPr>
          <p:spPr>
            <a:xfrm rot="5400000" flipV="1">
              <a:off x="4595" y="6473"/>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2713" y="7762"/>
              <a:ext cx="4272" cy="526"/>
            </a:xfrm>
            <a:prstGeom prst="rect">
              <a:avLst/>
            </a:prstGeom>
            <a:noFill/>
            <a:ln>
              <a:solidFill>
                <a:schemeClr val="tx1"/>
              </a:solidFill>
            </a:ln>
          </p:spPr>
          <p:txBody>
            <a:bodyPr wrap="square" rtlCol="0" anchor="ctr" anchorCtr="0">
              <a:noAutofit/>
            </a:bodyPr>
            <a:p>
              <a:pPr algn="ctr"/>
              <a:r>
                <a:rPr lang="en-US" altLang="zh-CN" sz="1000">
                  <a:sym typeface="+mn-ea"/>
                </a:rPr>
                <a:t>FITKAbaAbstractSte</a:t>
              </a:r>
              <a:r>
                <a:rPr lang="zh-CN" altLang="en-US" sz="1000">
                  <a:sym typeface="+mn-ea"/>
                </a:rPr>
                <a:t>p</a:t>
              </a:r>
              <a:endParaRPr lang="en-US" altLang="zh-CN" sz="1000"/>
            </a:p>
          </p:txBody>
        </p:sp>
        <p:cxnSp>
          <p:nvCxnSpPr>
            <p:cNvPr id="10" name="肘形连接符 9"/>
            <p:cNvCxnSpPr>
              <a:stCxn id="6" idx="2"/>
              <a:endCxn id="5" idx="0"/>
            </p:cNvCxnSpPr>
            <p:nvPr/>
          </p:nvCxnSpPr>
          <p:spPr>
            <a:xfrm rot="5400000" flipV="1">
              <a:off x="4595" y="7507"/>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
        <p:nvSpPr>
          <p:cNvPr id="31" name="文本框 30"/>
          <p:cNvSpPr txBox="1"/>
          <p:nvPr/>
        </p:nvSpPr>
        <p:spPr>
          <a:xfrm>
            <a:off x="529590" y="5964555"/>
            <a:ext cx="3168650" cy="368300"/>
          </a:xfrm>
          <a:prstGeom prst="rect">
            <a:avLst/>
          </a:prstGeom>
          <a:noFill/>
        </p:spPr>
        <p:txBody>
          <a:bodyPr wrap="square" rtlCol="0">
            <a:spAutoFit/>
          </a:bodyPr>
          <a:p>
            <a:pPr algn="ctr"/>
            <a:r>
              <a:rPr lang="zh-CN" altLang="en-US"/>
              <a:t>继承</a:t>
            </a:r>
            <a:r>
              <a:rPr lang="zh-CN" altLang="en-US"/>
              <a:t>图</a:t>
            </a:r>
            <a:endParaRPr lang="zh-CN" altLang="en-US"/>
          </a:p>
        </p:txBody>
      </p:sp>
      <p:sp>
        <p:nvSpPr>
          <p:cNvPr id="42" name="文本框 41"/>
          <p:cNvSpPr txBox="1"/>
          <p:nvPr/>
        </p:nvSpPr>
        <p:spPr>
          <a:xfrm>
            <a:off x="4386580" y="2753360"/>
            <a:ext cx="4064000" cy="368300"/>
          </a:xfrm>
          <a:prstGeom prst="rect">
            <a:avLst/>
          </a:prstGeom>
          <a:noFill/>
        </p:spPr>
        <p:txBody>
          <a:bodyPr wrap="square" rtlCol="0">
            <a:spAutoFit/>
          </a:bodyPr>
          <a:p>
            <a:r>
              <a:rPr lang="en-US" altLang="zh-CN"/>
              <a:t>       </a:t>
            </a:r>
            <a:r>
              <a:rPr lang="zh-CN" altLang="en-US"/>
              <a:t>数据</a:t>
            </a:r>
            <a:r>
              <a:rPr lang="zh-CN" altLang="en-US"/>
              <a:t>接口：</a:t>
            </a:r>
            <a:endParaRPr lang="zh-CN" altLang="en-US"/>
          </a:p>
        </p:txBody>
      </p:sp>
      <p:grpSp>
        <p:nvGrpSpPr>
          <p:cNvPr id="24" name="组合 23"/>
          <p:cNvGrpSpPr/>
          <p:nvPr/>
        </p:nvGrpSpPr>
        <p:grpSpPr>
          <a:xfrm>
            <a:off x="4081145" y="3195955"/>
            <a:ext cx="7915910" cy="2867660"/>
            <a:chOff x="6742" y="5033"/>
            <a:chExt cx="12466" cy="4516"/>
          </a:xfrm>
        </p:grpSpPr>
        <p:pic>
          <p:nvPicPr>
            <p:cNvPr id="22" name="图片 21"/>
            <p:cNvPicPr>
              <a:picLocks noChangeAspect="1"/>
            </p:cNvPicPr>
            <p:nvPr/>
          </p:nvPicPr>
          <p:blipFill>
            <a:blip r:embed="rId2"/>
            <a:stretch>
              <a:fillRect/>
            </a:stretch>
          </p:blipFill>
          <p:spPr>
            <a:xfrm>
              <a:off x="12942" y="5033"/>
              <a:ext cx="6266" cy="4517"/>
            </a:xfrm>
            <a:prstGeom prst="rect">
              <a:avLst/>
            </a:prstGeom>
          </p:spPr>
        </p:pic>
        <p:pic>
          <p:nvPicPr>
            <p:cNvPr id="21" name="图片 20"/>
            <p:cNvPicPr>
              <a:picLocks noChangeAspect="1"/>
            </p:cNvPicPr>
            <p:nvPr/>
          </p:nvPicPr>
          <p:blipFill>
            <a:blip r:embed="rId3"/>
            <a:stretch>
              <a:fillRect/>
            </a:stretch>
          </p:blipFill>
          <p:spPr>
            <a:xfrm>
              <a:off x="6742" y="5033"/>
              <a:ext cx="7751" cy="3952"/>
            </a:xfrm>
            <a:prstGeom prst="rect">
              <a:avLst/>
            </a:prstGeom>
          </p:spPr>
        </p:pic>
        <p:pic>
          <p:nvPicPr>
            <p:cNvPr id="23" name="图片 22"/>
            <p:cNvPicPr>
              <a:picLocks noChangeAspect="1"/>
            </p:cNvPicPr>
            <p:nvPr/>
          </p:nvPicPr>
          <p:blipFill>
            <a:blip r:embed="rId4"/>
            <a:stretch>
              <a:fillRect/>
            </a:stretch>
          </p:blipFill>
          <p:spPr>
            <a:xfrm>
              <a:off x="6742" y="8972"/>
              <a:ext cx="6795" cy="563"/>
            </a:xfrm>
            <a:prstGeom prst="rect">
              <a:avLst/>
            </a:prstGeom>
          </p:spPr>
        </p:pic>
      </p:grpSp>
    </p:spTree>
  </p:cSld>
  <p:clrMapOvr>
    <a:masterClrMapping/>
  </p:clrMapOvr>
  <p:transition spd="slow" advClick="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分析</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步数据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Part08</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4" name="文本框 3"/>
          <p:cNvSpPr txBox="1"/>
          <p:nvPr/>
        </p:nvSpPr>
        <p:spPr>
          <a:xfrm>
            <a:off x="706755" y="1085850"/>
            <a:ext cx="10227310" cy="1337945"/>
          </a:xfrm>
          <a:prstGeom prst="rect">
            <a:avLst/>
          </a:prstGeom>
          <a:noFill/>
        </p:spPr>
        <p:txBody>
          <a:bodyPr wrap="square" rtlCol="0">
            <a:spAutoFit/>
          </a:bodyPr>
          <a:p>
            <a:pPr>
              <a:lnSpc>
                <a:spcPct val="150000"/>
              </a:lnSpc>
            </a:pPr>
            <a:r>
              <a:rPr lang="en-US" altLang="zh-CN"/>
              <a:t>       </a:t>
            </a:r>
            <a:r>
              <a:rPr lang="en-US" altLang="zh-CN">
                <a:sym typeface="微软雅黑" panose="020B0503020204020204" charset="-122"/>
              </a:rPr>
              <a:t>FITKAbaStepGeneralStatic</a:t>
            </a:r>
            <a:r>
              <a:rPr lang="zh-CN" altLang="en-US">
                <a:sym typeface="+mn-ea"/>
              </a:rPr>
              <a:t>静态分析步</a:t>
            </a:r>
            <a:r>
              <a:rPr lang="zh-CN" altLang="en-US"/>
              <a:t>是用于求解结构在静载荷作用下的平衡状态。这种分析步考虑几何非线性（如大变形、大转动）和材料非线性（如塑性、蠕变），适用于求解各类静态问题。</a:t>
            </a:r>
            <a:endParaRPr lang="zh-CN" altLang="en-US">
              <a:sym typeface="+mn-ea"/>
            </a:endParaRPr>
          </a:p>
        </p:txBody>
      </p:sp>
      <p:sp>
        <p:nvSpPr>
          <p:cNvPr id="31" name="文本框 30"/>
          <p:cNvSpPr txBox="1"/>
          <p:nvPr/>
        </p:nvSpPr>
        <p:spPr>
          <a:xfrm>
            <a:off x="4053840" y="6218555"/>
            <a:ext cx="3168650" cy="368300"/>
          </a:xfrm>
          <a:prstGeom prst="rect">
            <a:avLst/>
          </a:prstGeom>
          <a:noFill/>
        </p:spPr>
        <p:txBody>
          <a:bodyPr wrap="square" rtlCol="0">
            <a:spAutoFit/>
          </a:bodyPr>
          <a:p>
            <a:pPr algn="ctr"/>
            <a:r>
              <a:rPr lang="zh-CN" altLang="en-US"/>
              <a:t>继承</a:t>
            </a:r>
            <a:r>
              <a:rPr lang="zh-CN" altLang="en-US"/>
              <a:t>图</a:t>
            </a:r>
            <a:endParaRPr lang="zh-CN" altLang="en-US"/>
          </a:p>
        </p:txBody>
      </p:sp>
      <p:grpSp>
        <p:nvGrpSpPr>
          <p:cNvPr id="49" name="组合 48"/>
          <p:cNvGrpSpPr/>
          <p:nvPr/>
        </p:nvGrpSpPr>
        <p:grpSpPr>
          <a:xfrm>
            <a:off x="4025265" y="2374265"/>
            <a:ext cx="3470275" cy="3620135"/>
            <a:chOff x="1344" y="3934"/>
            <a:chExt cx="5465" cy="5701"/>
          </a:xfrm>
        </p:grpSpPr>
        <p:sp>
          <p:nvSpPr>
            <p:cNvPr id="6" name="文本框 5"/>
            <p:cNvSpPr txBox="1"/>
            <p:nvPr/>
          </p:nvSpPr>
          <p:spPr>
            <a:xfrm>
              <a:off x="1641" y="7039"/>
              <a:ext cx="4272" cy="526"/>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1641" y="6004"/>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3775" y="4952"/>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1344" y="4969"/>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3527" y="3934"/>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4210" y="5045"/>
              <a:ext cx="526" cy="139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2869" y="5096"/>
              <a:ext cx="509" cy="1307"/>
            </a:xfrm>
            <a:prstGeom prst="bentConnector3">
              <a:avLst>
                <a:gd name="adj1" fmla="val 50098"/>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flipV="1">
              <a:off x="4923" y="4706"/>
              <a:ext cx="492"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7" idx="2"/>
              <a:endCxn id="6" idx="0"/>
            </p:cNvCxnSpPr>
            <p:nvPr/>
          </p:nvCxnSpPr>
          <p:spPr>
            <a:xfrm rot="5400000" flipV="1">
              <a:off x="3523" y="6785"/>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641" y="8074"/>
              <a:ext cx="4272" cy="526"/>
            </a:xfrm>
            <a:prstGeom prst="rect">
              <a:avLst/>
            </a:prstGeom>
            <a:noFill/>
            <a:ln>
              <a:solidFill>
                <a:schemeClr val="tx1"/>
              </a:solidFill>
            </a:ln>
          </p:spPr>
          <p:txBody>
            <a:bodyPr wrap="square" rtlCol="0" anchor="ctr" anchorCtr="0">
              <a:noAutofit/>
            </a:bodyPr>
            <a:p>
              <a:pPr algn="ctr"/>
              <a:r>
                <a:rPr lang="en-US" altLang="zh-CN" sz="1000">
                  <a:sym typeface="+mn-ea"/>
                </a:rPr>
                <a:t>FITKAbaAbstractSte</a:t>
              </a:r>
              <a:r>
                <a:rPr lang="zh-CN" altLang="en-US" sz="1000">
                  <a:sym typeface="+mn-ea"/>
                </a:rPr>
                <a:t>p</a:t>
              </a:r>
              <a:endParaRPr lang="en-US" altLang="zh-CN" sz="1000"/>
            </a:p>
          </p:txBody>
        </p:sp>
        <p:cxnSp>
          <p:nvCxnSpPr>
            <p:cNvPr id="10" name="肘形连接符 9"/>
            <p:cNvCxnSpPr>
              <a:stCxn id="6" idx="2"/>
              <a:endCxn id="5" idx="0"/>
            </p:cNvCxnSpPr>
            <p:nvPr/>
          </p:nvCxnSpPr>
          <p:spPr>
            <a:xfrm rot="5400000" flipV="1">
              <a:off x="3523" y="7819"/>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1641" y="9109"/>
              <a:ext cx="4272" cy="526"/>
            </a:xfrm>
            <a:prstGeom prst="rect">
              <a:avLst/>
            </a:prstGeom>
            <a:noFill/>
            <a:ln>
              <a:solidFill>
                <a:schemeClr val="tx1"/>
              </a:solidFill>
            </a:ln>
          </p:spPr>
          <p:txBody>
            <a:bodyPr wrap="square" rtlCol="0" anchor="ctr" anchorCtr="0">
              <a:noAutofit/>
            </a:bodyPr>
            <a:p>
              <a:pPr algn="ctr"/>
              <a:r>
                <a:rPr lang="en-US" altLang="zh-CN" sz="1000"/>
                <a:t>FITKAbaStepGeneralStatic</a:t>
              </a:r>
              <a:endParaRPr lang="en-US" altLang="zh-CN" sz="1000"/>
            </a:p>
          </p:txBody>
        </p:sp>
        <p:cxnSp>
          <p:nvCxnSpPr>
            <p:cNvPr id="48" name="肘形连接符 47"/>
            <p:cNvCxnSpPr>
              <a:stCxn id="5" idx="2"/>
              <a:endCxn id="47" idx="0"/>
            </p:cNvCxnSpPr>
            <p:nvPr/>
          </p:nvCxnSpPr>
          <p:spPr>
            <a:xfrm rot="5400000" flipV="1">
              <a:off x="3523" y="8854"/>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Tree>
  </p:cSld>
  <p:clrMapOvr>
    <a:masterClrMapping/>
  </p:clrMapOvr>
  <p:transition spd="slow" advClick="0"/>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分析</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步数据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Part09</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4" name="文本框 3"/>
          <p:cNvSpPr txBox="1"/>
          <p:nvPr/>
        </p:nvSpPr>
        <p:spPr>
          <a:xfrm>
            <a:off x="706755" y="1066800"/>
            <a:ext cx="10227310" cy="1337945"/>
          </a:xfrm>
          <a:prstGeom prst="rect">
            <a:avLst/>
          </a:prstGeom>
          <a:noFill/>
        </p:spPr>
        <p:txBody>
          <a:bodyPr wrap="square" rtlCol="0">
            <a:spAutoFit/>
          </a:bodyPr>
          <a:p>
            <a:pPr>
              <a:lnSpc>
                <a:spcPct val="150000"/>
              </a:lnSpc>
            </a:pPr>
            <a:r>
              <a:rPr lang="en-US" altLang="zh-CN"/>
              <a:t>       </a:t>
            </a:r>
            <a:r>
              <a:rPr lang="en-US" altLang="zh-CN">
                <a:sym typeface="+mn-ea"/>
              </a:rPr>
              <a:t>FITKAbaStepFrequency</a:t>
            </a:r>
            <a:r>
              <a:rPr lang="zh-CN" altLang="en-US">
                <a:sym typeface="微软雅黑" panose="020B0503020204020204" charset="-122"/>
              </a:rPr>
              <a:t>模态分析步</a:t>
            </a:r>
            <a:r>
              <a:rPr lang="zh-CN" altLang="en-US"/>
              <a:t>是</a:t>
            </a:r>
            <a:r>
              <a:rPr lang="zh-CN" altLang="en-US">
                <a:sym typeface="+mn-ea"/>
              </a:rPr>
              <a:t>用于求解结构的固有频率和振型（模态），是动力学分析的基础。模态分析不考虑阻尼和外部载荷，仅关注结构的固有动力学特性，广泛应用于振动控制、噪声分析、结构优化等领域。</a:t>
            </a:r>
            <a:endParaRPr lang="zh-CN" altLang="en-US">
              <a:sym typeface="+mn-ea"/>
            </a:endParaRPr>
          </a:p>
        </p:txBody>
      </p:sp>
      <p:sp>
        <p:nvSpPr>
          <p:cNvPr id="31" name="文本框 30"/>
          <p:cNvSpPr txBox="1"/>
          <p:nvPr/>
        </p:nvSpPr>
        <p:spPr>
          <a:xfrm>
            <a:off x="4053840" y="6218555"/>
            <a:ext cx="3168650" cy="368300"/>
          </a:xfrm>
          <a:prstGeom prst="rect">
            <a:avLst/>
          </a:prstGeom>
          <a:noFill/>
        </p:spPr>
        <p:txBody>
          <a:bodyPr wrap="square" rtlCol="0">
            <a:spAutoFit/>
          </a:bodyPr>
          <a:p>
            <a:pPr algn="ctr"/>
            <a:r>
              <a:rPr lang="zh-CN" altLang="en-US"/>
              <a:t>继承</a:t>
            </a:r>
            <a:r>
              <a:rPr lang="zh-CN" altLang="en-US"/>
              <a:t>图</a:t>
            </a:r>
            <a:endParaRPr lang="zh-CN" altLang="en-US"/>
          </a:p>
        </p:txBody>
      </p:sp>
      <p:grpSp>
        <p:nvGrpSpPr>
          <p:cNvPr id="49" name="组合 48"/>
          <p:cNvGrpSpPr/>
          <p:nvPr/>
        </p:nvGrpSpPr>
        <p:grpSpPr>
          <a:xfrm>
            <a:off x="4025265" y="2374265"/>
            <a:ext cx="3470275" cy="3620135"/>
            <a:chOff x="1344" y="3934"/>
            <a:chExt cx="5465" cy="5701"/>
          </a:xfrm>
        </p:grpSpPr>
        <p:sp>
          <p:nvSpPr>
            <p:cNvPr id="6" name="文本框 5"/>
            <p:cNvSpPr txBox="1"/>
            <p:nvPr/>
          </p:nvSpPr>
          <p:spPr>
            <a:xfrm>
              <a:off x="1641" y="7039"/>
              <a:ext cx="4272" cy="526"/>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1641" y="6004"/>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3775" y="4952"/>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1344" y="4969"/>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3527" y="3934"/>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4210" y="5045"/>
              <a:ext cx="526" cy="139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2869" y="5096"/>
              <a:ext cx="509" cy="1307"/>
            </a:xfrm>
            <a:prstGeom prst="bentConnector3">
              <a:avLst>
                <a:gd name="adj1" fmla="val 50098"/>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flipV="1">
              <a:off x="4923" y="4706"/>
              <a:ext cx="492"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7" idx="2"/>
              <a:endCxn id="6" idx="0"/>
            </p:cNvCxnSpPr>
            <p:nvPr/>
          </p:nvCxnSpPr>
          <p:spPr>
            <a:xfrm rot="5400000" flipV="1">
              <a:off x="3523" y="6785"/>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1641" y="8074"/>
              <a:ext cx="4272" cy="526"/>
            </a:xfrm>
            <a:prstGeom prst="rect">
              <a:avLst/>
            </a:prstGeom>
            <a:noFill/>
            <a:ln>
              <a:solidFill>
                <a:schemeClr val="tx1"/>
              </a:solidFill>
            </a:ln>
          </p:spPr>
          <p:txBody>
            <a:bodyPr wrap="square" rtlCol="0" anchor="ctr" anchorCtr="0">
              <a:noAutofit/>
            </a:bodyPr>
            <a:p>
              <a:pPr algn="ctr"/>
              <a:r>
                <a:rPr lang="en-US" altLang="zh-CN" sz="1000">
                  <a:sym typeface="+mn-ea"/>
                </a:rPr>
                <a:t>FITKAbaAbstractSte</a:t>
              </a:r>
              <a:r>
                <a:rPr lang="zh-CN" altLang="en-US" sz="1000">
                  <a:sym typeface="+mn-ea"/>
                </a:rPr>
                <a:t>p</a:t>
              </a:r>
              <a:endParaRPr lang="en-US" altLang="zh-CN" sz="1000"/>
            </a:p>
          </p:txBody>
        </p:sp>
        <p:cxnSp>
          <p:nvCxnSpPr>
            <p:cNvPr id="10" name="肘形连接符 9"/>
            <p:cNvCxnSpPr>
              <a:stCxn id="6" idx="2"/>
              <a:endCxn id="5" idx="0"/>
            </p:cNvCxnSpPr>
            <p:nvPr/>
          </p:nvCxnSpPr>
          <p:spPr>
            <a:xfrm rot="5400000" flipV="1">
              <a:off x="3523" y="7819"/>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1641" y="9109"/>
              <a:ext cx="4272" cy="526"/>
            </a:xfrm>
            <a:prstGeom prst="rect">
              <a:avLst/>
            </a:prstGeom>
            <a:noFill/>
            <a:ln>
              <a:solidFill>
                <a:schemeClr val="tx1"/>
              </a:solidFill>
            </a:ln>
          </p:spPr>
          <p:txBody>
            <a:bodyPr wrap="square" rtlCol="0" anchor="ctr" anchorCtr="0">
              <a:noAutofit/>
            </a:bodyPr>
            <a:p>
              <a:pPr algn="ctr"/>
              <a:r>
                <a:rPr lang="en-US" altLang="zh-CN" sz="1000">
                  <a:sym typeface="+mn-ea"/>
                </a:rPr>
                <a:t>FITKAbaStepFrequency</a:t>
              </a:r>
              <a:endParaRPr lang="en-US" altLang="zh-CN" sz="1000"/>
            </a:p>
          </p:txBody>
        </p:sp>
        <p:cxnSp>
          <p:nvCxnSpPr>
            <p:cNvPr id="48" name="肘形连接符 47"/>
            <p:cNvCxnSpPr>
              <a:stCxn id="5" idx="2"/>
              <a:endCxn id="47" idx="0"/>
            </p:cNvCxnSpPr>
            <p:nvPr/>
          </p:nvCxnSpPr>
          <p:spPr>
            <a:xfrm rot="5400000" flipV="1">
              <a:off x="3523" y="8854"/>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Tree>
  </p:cSld>
  <p:clrMapOvr>
    <a:masterClrMapping/>
  </p:clrMapOvr>
  <p:transition spd="slow" advClick="0"/>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分析</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步数据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Part010</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4" name="文本框 3"/>
          <p:cNvSpPr txBox="1"/>
          <p:nvPr/>
        </p:nvSpPr>
        <p:spPr>
          <a:xfrm>
            <a:off x="706755" y="1047750"/>
            <a:ext cx="10227310" cy="1337945"/>
          </a:xfrm>
          <a:prstGeom prst="rect">
            <a:avLst/>
          </a:prstGeom>
          <a:noFill/>
        </p:spPr>
        <p:txBody>
          <a:bodyPr wrap="square" rtlCol="0">
            <a:spAutoFit/>
          </a:bodyPr>
          <a:p>
            <a:pPr>
              <a:lnSpc>
                <a:spcPct val="150000"/>
              </a:lnSpc>
            </a:pPr>
            <a:r>
              <a:rPr lang="en-US" altLang="zh-CN"/>
              <a:t>       </a:t>
            </a:r>
            <a:r>
              <a:rPr lang="en-US" altLang="zh-CN">
                <a:sym typeface="微软雅黑" panose="020B0503020204020204" charset="-122"/>
              </a:rPr>
              <a:t>FITKAbaStepDynamicTempDispExplicit</a:t>
            </a:r>
            <a:r>
              <a:rPr lang="zh-CN" altLang="en-US">
                <a:sym typeface="微软雅黑" panose="020B0503020204020204" charset="-122"/>
              </a:rPr>
              <a:t>温度位移耦合显式动力学分析步</a:t>
            </a:r>
            <a:r>
              <a:rPr lang="zh-CN" altLang="en-US"/>
              <a:t>是</a:t>
            </a:r>
            <a:r>
              <a:rPr lang="zh-CN" altLang="en-US">
                <a:sym typeface="+mn-ea"/>
              </a:rPr>
              <a:t>用于求解热与结构相互作用的瞬态问题，特别适用于高速冲击、爆炸、金属成型等涉及大变形和热效应的场景。这种分析步通过显式积分方法求解热传导方程和结构动力学方程的耦合问题。</a:t>
            </a:r>
            <a:endParaRPr lang="zh-CN" altLang="en-US">
              <a:sym typeface="+mn-ea"/>
            </a:endParaRPr>
          </a:p>
        </p:txBody>
      </p:sp>
      <p:sp>
        <p:nvSpPr>
          <p:cNvPr id="31" name="文本框 30"/>
          <p:cNvSpPr txBox="1"/>
          <p:nvPr/>
        </p:nvSpPr>
        <p:spPr>
          <a:xfrm>
            <a:off x="4022090" y="6429375"/>
            <a:ext cx="3168650" cy="368300"/>
          </a:xfrm>
          <a:prstGeom prst="rect">
            <a:avLst/>
          </a:prstGeom>
          <a:noFill/>
        </p:spPr>
        <p:txBody>
          <a:bodyPr wrap="square" rtlCol="0">
            <a:spAutoFit/>
          </a:bodyPr>
          <a:p>
            <a:pPr algn="ctr"/>
            <a:r>
              <a:rPr lang="zh-CN" altLang="en-US"/>
              <a:t>继承</a:t>
            </a:r>
            <a:r>
              <a:rPr lang="zh-CN" altLang="en-US"/>
              <a:t>图</a:t>
            </a:r>
            <a:endParaRPr lang="zh-CN" altLang="en-US"/>
          </a:p>
        </p:txBody>
      </p:sp>
      <p:grpSp>
        <p:nvGrpSpPr>
          <p:cNvPr id="22" name="组合 21"/>
          <p:cNvGrpSpPr/>
          <p:nvPr/>
        </p:nvGrpSpPr>
        <p:grpSpPr>
          <a:xfrm>
            <a:off x="4025265" y="2374265"/>
            <a:ext cx="3470275" cy="4010660"/>
            <a:chOff x="6339" y="3739"/>
            <a:chExt cx="5465" cy="6316"/>
          </a:xfrm>
        </p:grpSpPr>
        <p:sp>
          <p:nvSpPr>
            <p:cNvPr id="6" name="文本框 5"/>
            <p:cNvSpPr txBox="1"/>
            <p:nvPr/>
          </p:nvSpPr>
          <p:spPr>
            <a:xfrm>
              <a:off x="6636" y="6664"/>
              <a:ext cx="4272" cy="526"/>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6636" y="5708"/>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8770" y="4644"/>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6339" y="4653"/>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8522" y="3739"/>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9199" y="4743"/>
              <a:ext cx="538" cy="139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7854" y="4790"/>
              <a:ext cx="529" cy="1307"/>
            </a:xfrm>
            <a:prstGeom prst="bentConnector3">
              <a:avLst>
                <a:gd name="adj1" fmla="val 50095"/>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flipV="1">
              <a:off x="9975" y="4455"/>
              <a:ext cx="37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7" idx="2"/>
              <a:endCxn id="6" idx="0"/>
            </p:cNvCxnSpPr>
            <p:nvPr/>
          </p:nvCxnSpPr>
          <p:spPr>
            <a:xfrm rot="5400000" flipV="1">
              <a:off x="8557" y="6449"/>
              <a:ext cx="430"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6636" y="7609"/>
              <a:ext cx="4272" cy="526"/>
            </a:xfrm>
            <a:prstGeom prst="rect">
              <a:avLst/>
            </a:prstGeom>
            <a:noFill/>
            <a:ln>
              <a:solidFill>
                <a:schemeClr val="tx1"/>
              </a:solidFill>
            </a:ln>
          </p:spPr>
          <p:txBody>
            <a:bodyPr wrap="square" rtlCol="0" anchor="ctr" anchorCtr="0">
              <a:noAutofit/>
            </a:bodyPr>
            <a:p>
              <a:pPr algn="ctr"/>
              <a:r>
                <a:rPr lang="en-US" altLang="zh-CN" sz="1000">
                  <a:sym typeface="+mn-ea"/>
                </a:rPr>
                <a:t>FITKAbaAbstractSte</a:t>
              </a:r>
              <a:r>
                <a:rPr lang="zh-CN" altLang="en-US" sz="1000">
                  <a:sym typeface="+mn-ea"/>
                </a:rPr>
                <a:t>p</a:t>
              </a:r>
              <a:endParaRPr lang="en-US" altLang="zh-CN" sz="1000"/>
            </a:p>
          </p:txBody>
        </p:sp>
        <p:cxnSp>
          <p:nvCxnSpPr>
            <p:cNvPr id="10" name="肘形连接符 9"/>
            <p:cNvCxnSpPr>
              <a:stCxn id="6" idx="2"/>
              <a:endCxn id="5" idx="0"/>
            </p:cNvCxnSpPr>
            <p:nvPr/>
          </p:nvCxnSpPr>
          <p:spPr>
            <a:xfrm rot="5400000" flipV="1">
              <a:off x="8563" y="7400"/>
              <a:ext cx="41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6636" y="8569"/>
              <a:ext cx="4272" cy="526"/>
            </a:xfrm>
            <a:prstGeom prst="rect">
              <a:avLst/>
            </a:prstGeom>
            <a:noFill/>
            <a:ln>
              <a:solidFill>
                <a:schemeClr val="tx1"/>
              </a:solidFill>
            </a:ln>
          </p:spPr>
          <p:txBody>
            <a:bodyPr wrap="square" rtlCol="0" anchor="ctr" anchorCtr="0">
              <a:noAutofit/>
            </a:bodyPr>
            <a:p>
              <a:pPr algn="ctr"/>
              <a:r>
                <a:rPr lang="en-US" altLang="zh-CN" sz="1000"/>
                <a:t>FITKAbaStepDynamicExplicit</a:t>
              </a:r>
              <a:endParaRPr lang="en-US" altLang="zh-CN" sz="1000"/>
            </a:p>
          </p:txBody>
        </p:sp>
        <p:cxnSp>
          <p:nvCxnSpPr>
            <p:cNvPr id="48" name="肘形连接符 47"/>
            <p:cNvCxnSpPr>
              <a:stCxn id="5" idx="2"/>
              <a:endCxn id="47" idx="0"/>
            </p:cNvCxnSpPr>
            <p:nvPr/>
          </p:nvCxnSpPr>
          <p:spPr>
            <a:xfrm rot="5400000" flipV="1">
              <a:off x="8555" y="8352"/>
              <a:ext cx="434"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6635" y="9529"/>
              <a:ext cx="4272" cy="526"/>
            </a:xfrm>
            <a:prstGeom prst="rect">
              <a:avLst/>
            </a:prstGeom>
            <a:noFill/>
            <a:ln>
              <a:solidFill>
                <a:schemeClr val="tx1"/>
              </a:solidFill>
            </a:ln>
          </p:spPr>
          <p:txBody>
            <a:bodyPr wrap="square" rtlCol="0" anchor="ctr" anchorCtr="0">
              <a:noAutofit/>
            </a:bodyPr>
            <a:p>
              <a:pPr algn="ctr"/>
              <a:r>
                <a:rPr lang="en-US" altLang="zh-CN" sz="1000"/>
                <a:t>FITKAbaStepDynamicTempDispExplicit</a:t>
              </a:r>
              <a:endParaRPr lang="en-US" altLang="zh-CN" sz="1000"/>
            </a:p>
          </p:txBody>
        </p:sp>
        <p:cxnSp>
          <p:nvCxnSpPr>
            <p:cNvPr id="21" name="肘形连接符 20"/>
            <p:cNvCxnSpPr>
              <a:stCxn id="47" idx="2"/>
              <a:endCxn id="2" idx="0"/>
            </p:cNvCxnSpPr>
            <p:nvPr/>
          </p:nvCxnSpPr>
          <p:spPr>
            <a:xfrm rot="5400000">
              <a:off x="8554" y="9311"/>
              <a:ext cx="434" cy="5"/>
            </a:xfrm>
            <a:prstGeom prst="bentConnector3">
              <a:avLst>
                <a:gd name="adj1" fmla="val 49885"/>
              </a:avLst>
            </a:prstGeom>
            <a:ln>
              <a:tailEnd type="arrow"/>
            </a:ln>
          </p:spPr>
          <p:style>
            <a:lnRef idx="2">
              <a:schemeClr val="accent1"/>
            </a:lnRef>
            <a:fillRef idx="0">
              <a:srgbClr val="FFFFFF"/>
            </a:fillRef>
            <a:effectRef idx="0">
              <a:srgbClr val="FFFFFF"/>
            </a:effectRef>
            <a:fontRef idx="minor">
              <a:schemeClr val="tx1"/>
            </a:fontRef>
          </p:style>
        </p:cxnSp>
      </p:grpSp>
    </p:spTree>
  </p:cSld>
  <p:clrMapOvr>
    <a:masterClrMapping/>
  </p:clrMapOvr>
  <p:transition spd="slow" advClick="0"/>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5393" y="6842094"/>
            <a:ext cx="12202786" cy="15906"/>
            <a:chOff x="0" y="6829262"/>
            <a:chExt cx="12202786" cy="15906"/>
          </a:xfrm>
        </p:grpSpPr>
        <p:cxnSp>
          <p:nvCxnSpPr>
            <p:cNvPr id="33"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组合 54"/>
          <p:cNvGrpSpPr/>
          <p:nvPr/>
        </p:nvGrpSpPr>
        <p:grpSpPr>
          <a:xfrm>
            <a:off x="2400580" y="478732"/>
            <a:ext cx="8100000" cy="398780"/>
            <a:chOff x="3329659" y="684634"/>
            <a:chExt cx="6942353" cy="398780"/>
          </a:xfrm>
        </p:grpSpPr>
        <p:cxnSp>
          <p:nvCxnSpPr>
            <p:cNvPr id="9" name="直接连接符 8"/>
            <p:cNvCxnSpPr/>
            <p:nvPr/>
          </p:nvCxnSpPr>
          <p:spPr>
            <a:xfrm>
              <a:off x="3425371" y="1030675"/>
              <a:ext cx="6183085"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56"/>
            <p:cNvSpPr txBox="1"/>
            <p:nvPr/>
          </p:nvSpPr>
          <p:spPr>
            <a:xfrm>
              <a:off x="3329659" y="684634"/>
              <a:ext cx="6942353" cy="398780"/>
            </a:xfrm>
            <a:prstGeom prst="rect">
              <a:avLst/>
            </a:prstGeom>
            <a:noFill/>
          </p:spPr>
          <p:txBody>
            <a:bodyPr wrap="square" rtlCol="0">
              <a:spAutoFit/>
            </a:bodyPr>
            <a:p>
              <a:pPr lvl="0">
                <a:buClr>
                  <a:srgbClr val="00517C"/>
                </a:buClr>
                <a:buSzPct val="80000"/>
                <a:defRPr/>
              </a:pP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核心数据</a:t>
              </a:r>
              <a:r>
                <a:rPr lang="en-US" altLang="zh-CN" sz="2000" b="1" dirty="0">
                  <a:solidFill>
                    <a:srgbClr val="000000"/>
                  </a:solidFill>
                  <a:latin typeface="微软雅黑" panose="020B0503020204020204" charset="-122"/>
                  <a:ea typeface="微软雅黑" panose="020B0503020204020204" charset="-122"/>
                  <a:sym typeface="微软雅黑" panose="020B0503020204020204" charset="-122"/>
                </a:rPr>
                <a:t>-Job</a:t>
              </a:r>
              <a:r>
                <a:rPr lang="zh-CN" altLang="en-US" sz="2000" b="1" dirty="0">
                  <a:solidFill>
                    <a:srgbClr val="000000"/>
                  </a:solidFill>
                  <a:latin typeface="微软雅黑" panose="020B0503020204020204" charset="-122"/>
                  <a:ea typeface="微软雅黑" panose="020B0503020204020204" charset="-122"/>
                  <a:sym typeface="微软雅黑" panose="020B0503020204020204" charset="-122"/>
                </a:rPr>
                <a:t>数据</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nvGrpSpPr>
        <p:grpSpPr>
          <a:xfrm>
            <a:off x="531813" y="438512"/>
            <a:ext cx="1990507" cy="460800"/>
            <a:chOff x="531813" y="438512"/>
            <a:chExt cx="1990507" cy="460800"/>
          </a:xfrm>
        </p:grpSpPr>
        <p:grpSp>
          <p:nvGrpSpPr>
            <p:cNvPr id="14" name="组合 69"/>
            <p:cNvGrpSpPr/>
            <p:nvPr/>
          </p:nvGrpSpPr>
          <p:grpSpPr>
            <a:xfrm>
              <a:off x="531813" y="438512"/>
              <a:ext cx="1781401" cy="460800"/>
              <a:chOff x="2305585" y="1928066"/>
              <a:chExt cx="2104868" cy="521276"/>
            </a:xfrm>
          </p:grpSpPr>
          <p:sp>
            <p:nvSpPr>
              <p:cNvPr id="15" name="圆角矩形 14"/>
              <p:cNvSpPr/>
              <p:nvPr/>
            </p:nvSpPr>
            <p:spPr>
              <a:xfrm>
                <a:off x="2380633" y="2009297"/>
                <a:ext cx="2029820" cy="372517"/>
              </a:xfrm>
              <a:prstGeom prst="roundRect">
                <a:avLst>
                  <a:gd name="adj" fmla="val 50000"/>
                </a:avLst>
              </a:prstGeom>
              <a:solidFill>
                <a:schemeClr val="bg1"/>
              </a:solidFill>
              <a:ln w="19050">
                <a:solidFill>
                  <a:srgbClr val="075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2305585" y="1928066"/>
                <a:ext cx="545850" cy="521276"/>
              </a:xfrm>
              <a:prstGeom prst="ellipse">
                <a:avLst/>
              </a:prstGeom>
              <a:solidFill>
                <a:srgbClr val="07538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dirty="0">
                    <a:latin typeface="微软雅黑 Light" panose="020B0502040204020203" pitchFamily="34" charset="-122"/>
                    <a:ea typeface="微软雅黑 Light" panose="020B0502040204020203" pitchFamily="34" charset="-122"/>
                  </a:rPr>
                  <a:t>4</a:t>
                </a:r>
                <a:endParaRPr lang="en-US" altLang="zh-CN" sz="2400" dirty="0">
                  <a:latin typeface="微软雅黑 Light" panose="020B0502040204020203" pitchFamily="34" charset="-122"/>
                  <a:ea typeface="微软雅黑 Light" panose="020B0502040204020203" pitchFamily="34" charset="-122"/>
                </a:endParaRPr>
              </a:p>
            </p:txBody>
          </p:sp>
        </p:grpSp>
        <p:sp>
          <p:nvSpPr>
            <p:cNvPr id="17" name="文本框 71"/>
            <p:cNvSpPr txBox="1"/>
            <p:nvPr/>
          </p:nvSpPr>
          <p:spPr>
            <a:xfrm>
              <a:off x="740395" y="511712"/>
              <a:ext cx="1781925" cy="337185"/>
            </a:xfrm>
            <a:prstGeom prst="rect">
              <a:avLst/>
            </a:prstGeom>
            <a:noFill/>
          </p:spPr>
          <p:txBody>
            <a:bodyPr wrap="square" rtlCol="0">
              <a:spAutoFit/>
            </a:bodyPr>
            <a:p>
              <a:pPr algn="ctr"/>
              <a:r>
                <a:rPr lang="en-US" altLang="zh-CN" sz="1600" dirty="0">
                  <a:latin typeface="微软雅黑 Light" panose="020B0502040204020203" pitchFamily="34" charset="-122"/>
                  <a:ea typeface="微软雅黑 Light" panose="020B0502040204020203" pitchFamily="34" charset="-122"/>
                </a:rPr>
                <a:t>Part011</a:t>
              </a:r>
              <a:endParaRPr lang="zh-CN" altLang="en-US" sz="1600" dirty="0">
                <a:latin typeface="微软雅黑 Light" panose="020B0502040204020203" pitchFamily="34" charset="-122"/>
                <a:ea typeface="微软雅黑 Light" panose="020B0502040204020203"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
        <p:nvSpPr>
          <p:cNvPr id="2" name="文本框 1"/>
          <p:cNvSpPr txBox="1"/>
          <p:nvPr/>
        </p:nvSpPr>
        <p:spPr>
          <a:xfrm>
            <a:off x="715645" y="1161415"/>
            <a:ext cx="10375265" cy="922020"/>
          </a:xfrm>
          <a:prstGeom prst="rect">
            <a:avLst/>
          </a:prstGeom>
          <a:noFill/>
        </p:spPr>
        <p:txBody>
          <a:bodyPr wrap="square" rtlCol="0">
            <a:spAutoFit/>
          </a:bodyPr>
          <a:p>
            <a:pPr>
              <a:lnSpc>
                <a:spcPct val="150000"/>
              </a:lnSpc>
            </a:pPr>
            <a:r>
              <a:rPr lang="en-US" altLang="zh-CN"/>
              <a:t>       </a:t>
            </a:r>
            <a:r>
              <a:rPr lang="en-US" altLang="zh-CN">
                <a:sym typeface="+mn-ea"/>
              </a:rPr>
              <a:t>FITKJob</a:t>
            </a:r>
            <a:r>
              <a:rPr lang="zh-CN" altLang="en-US"/>
              <a:t>用于存储求解作业计算配置，里面具有求解器类型、计算所需的</a:t>
            </a:r>
            <a:r>
              <a:rPr lang="en-US" altLang="zh-CN"/>
              <a:t>CPU</a:t>
            </a:r>
            <a:r>
              <a:rPr lang="zh-CN" altLang="en-US"/>
              <a:t>数量、是否并行计算、当前作业算例</a:t>
            </a:r>
            <a:r>
              <a:rPr lang="zh-CN" altLang="en-US"/>
              <a:t>等。</a:t>
            </a:r>
            <a:endParaRPr lang="zh-CN" altLang="en-US"/>
          </a:p>
        </p:txBody>
      </p:sp>
      <p:grpSp>
        <p:nvGrpSpPr>
          <p:cNvPr id="39" name="组合 38"/>
          <p:cNvGrpSpPr/>
          <p:nvPr/>
        </p:nvGrpSpPr>
        <p:grpSpPr>
          <a:xfrm>
            <a:off x="777240" y="2476500"/>
            <a:ext cx="3470275" cy="2870200"/>
            <a:chOff x="2416" y="3768"/>
            <a:chExt cx="5465" cy="4520"/>
          </a:xfrm>
        </p:grpSpPr>
        <p:sp>
          <p:nvSpPr>
            <p:cNvPr id="6" name="文本框 5"/>
            <p:cNvSpPr txBox="1"/>
            <p:nvPr/>
          </p:nvSpPr>
          <p:spPr>
            <a:xfrm>
              <a:off x="2713" y="6727"/>
              <a:ext cx="4272" cy="526"/>
            </a:xfrm>
            <a:prstGeom prst="rect">
              <a:avLst/>
            </a:prstGeom>
            <a:noFill/>
            <a:ln>
              <a:solidFill>
                <a:schemeClr val="tx1"/>
              </a:solidFill>
            </a:ln>
          </p:spPr>
          <p:txBody>
            <a:bodyPr wrap="square" rtlCol="0" anchor="ctr" anchorCtr="0">
              <a:noAutofit/>
            </a:bodyPr>
            <a:p>
              <a:pPr algn="ctr"/>
              <a:r>
                <a:rPr lang="en-US" altLang="zh-CN" sz="1000"/>
                <a:t>Core::FITKAbstractNDataObject</a:t>
              </a:r>
              <a:endParaRPr lang="en-US" altLang="zh-CN" sz="1000"/>
            </a:p>
          </p:txBody>
        </p:sp>
        <p:sp>
          <p:nvSpPr>
            <p:cNvPr id="7" name="文本框 6"/>
            <p:cNvSpPr txBox="1"/>
            <p:nvPr/>
          </p:nvSpPr>
          <p:spPr>
            <a:xfrm>
              <a:off x="2713" y="5692"/>
              <a:ext cx="4271"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FITKAbstractDataObject</a:t>
              </a:r>
              <a:endParaRPr lang="en-US" altLang="zh-CN" sz="1000"/>
            </a:p>
          </p:txBody>
        </p:sp>
        <p:sp>
          <p:nvSpPr>
            <p:cNvPr id="11" name="文本框 10"/>
            <p:cNvSpPr txBox="1"/>
            <p:nvPr/>
          </p:nvSpPr>
          <p:spPr>
            <a:xfrm>
              <a:off x="4847" y="4640"/>
              <a:ext cx="2787"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a:t>
              </a:r>
              <a:endParaRPr lang="en-US" altLang="zh-CN" sz="1000"/>
            </a:p>
          </p:txBody>
        </p:sp>
        <p:sp>
          <p:nvSpPr>
            <p:cNvPr id="19" name="文本框 18"/>
            <p:cNvSpPr txBox="1"/>
            <p:nvPr/>
          </p:nvSpPr>
          <p:spPr>
            <a:xfrm>
              <a:off x="2416" y="4657"/>
              <a:ext cx="2251" cy="526"/>
            </a:xfrm>
            <a:prstGeom prst="rect">
              <a:avLst/>
            </a:prstGeom>
            <a:noFill/>
            <a:ln>
              <a:solidFill>
                <a:schemeClr val="tx1"/>
              </a:solidFill>
            </a:ln>
          </p:spPr>
          <p:txBody>
            <a:bodyPr wrap="square" rtlCol="0" anchor="ctr" anchorCtr="0">
              <a:noAutofit/>
            </a:bodyPr>
            <a:p>
              <a:pPr algn="ctr"/>
              <a:r>
                <a:rPr lang="en-US" altLang="zh-CN" sz="1000"/>
                <a:t>QObject</a:t>
              </a:r>
              <a:endParaRPr lang="en-US" altLang="zh-CN" sz="1000"/>
            </a:p>
          </p:txBody>
        </p:sp>
        <p:sp>
          <p:nvSpPr>
            <p:cNvPr id="20" name="文本框 19"/>
            <p:cNvSpPr txBox="1"/>
            <p:nvPr/>
          </p:nvSpPr>
          <p:spPr>
            <a:xfrm>
              <a:off x="4599" y="3768"/>
              <a:ext cx="3283" cy="526"/>
            </a:xfrm>
            <a:prstGeom prst="rect">
              <a:avLst/>
            </a:prstGeom>
            <a:noFill/>
            <a:ln>
              <a:solidFill>
                <a:schemeClr val="tx1"/>
              </a:solidFill>
            </a:ln>
          </p:spPr>
          <p:txBody>
            <a:bodyPr wrap="square" rtlCol="0" anchor="ctr" anchorCtr="0">
              <a:noAutofit/>
            </a:bodyPr>
            <a:p>
              <a:pPr algn="ctr"/>
              <a:r>
                <a:rPr lang="en-US" altLang="zh-CN" sz="1000">
                  <a:sym typeface="+mn-ea"/>
                </a:rPr>
                <a:t>Core::</a:t>
              </a:r>
              <a:r>
                <a:rPr lang="en-US" altLang="zh-CN" sz="1000"/>
                <a:t>FITKAbstractObjectPrivate</a:t>
              </a:r>
              <a:endParaRPr lang="en-US" altLang="zh-CN" sz="1000"/>
            </a:p>
          </p:txBody>
        </p:sp>
        <p:cxnSp>
          <p:nvCxnSpPr>
            <p:cNvPr id="26" name="肘形连接符 25"/>
            <p:cNvCxnSpPr>
              <a:stCxn id="11" idx="2"/>
              <a:endCxn id="7" idx="0"/>
            </p:cNvCxnSpPr>
            <p:nvPr/>
          </p:nvCxnSpPr>
          <p:spPr>
            <a:xfrm rot="5400000">
              <a:off x="5282" y="4733"/>
              <a:ext cx="526" cy="139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肘形连接符 26"/>
            <p:cNvCxnSpPr>
              <a:stCxn id="19" idx="2"/>
              <a:endCxn id="7" idx="0"/>
            </p:cNvCxnSpPr>
            <p:nvPr/>
          </p:nvCxnSpPr>
          <p:spPr>
            <a:xfrm rot="5400000" flipV="1">
              <a:off x="3941" y="4784"/>
              <a:ext cx="509" cy="1307"/>
            </a:xfrm>
            <a:prstGeom prst="bentConnector3">
              <a:avLst>
                <a:gd name="adj1" fmla="val 50098"/>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20" idx="2"/>
              <a:endCxn id="11" idx="0"/>
            </p:cNvCxnSpPr>
            <p:nvPr/>
          </p:nvCxnSpPr>
          <p:spPr>
            <a:xfrm rot="5400000">
              <a:off x="6067" y="4466"/>
              <a:ext cx="346" cy="1"/>
            </a:xfrm>
            <a:prstGeom prst="bentConnector3">
              <a:avLst>
                <a:gd name="adj1" fmla="val 49887"/>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7" idx="2"/>
              <a:endCxn id="6" idx="0"/>
            </p:cNvCxnSpPr>
            <p:nvPr/>
          </p:nvCxnSpPr>
          <p:spPr>
            <a:xfrm rot="5400000" flipV="1">
              <a:off x="4595" y="6473"/>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2713" y="7762"/>
              <a:ext cx="4272" cy="526"/>
            </a:xfrm>
            <a:prstGeom prst="rect">
              <a:avLst/>
            </a:prstGeom>
            <a:noFill/>
            <a:ln>
              <a:solidFill>
                <a:schemeClr val="tx1"/>
              </a:solidFill>
            </a:ln>
          </p:spPr>
          <p:txBody>
            <a:bodyPr wrap="square" rtlCol="0" anchor="ctr" anchorCtr="0">
              <a:noAutofit/>
            </a:bodyPr>
            <a:p>
              <a:pPr algn="ctr"/>
              <a:r>
                <a:rPr lang="en-US" altLang="zh-CN" sz="1000"/>
                <a:t>FITKJob</a:t>
              </a:r>
              <a:endParaRPr lang="en-US" altLang="zh-CN" sz="1000"/>
            </a:p>
          </p:txBody>
        </p:sp>
        <p:cxnSp>
          <p:nvCxnSpPr>
            <p:cNvPr id="5" name="肘形连接符 4"/>
            <p:cNvCxnSpPr>
              <a:stCxn id="6" idx="2"/>
              <a:endCxn id="4" idx="0"/>
            </p:cNvCxnSpPr>
            <p:nvPr/>
          </p:nvCxnSpPr>
          <p:spPr>
            <a:xfrm rot="5400000" flipV="1">
              <a:off x="4595" y="7507"/>
              <a:ext cx="509" cy="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
        <p:nvSpPr>
          <p:cNvPr id="31" name="文本框 30"/>
          <p:cNvSpPr txBox="1"/>
          <p:nvPr/>
        </p:nvSpPr>
        <p:spPr>
          <a:xfrm>
            <a:off x="777240" y="5551805"/>
            <a:ext cx="3168650" cy="368300"/>
          </a:xfrm>
          <a:prstGeom prst="rect">
            <a:avLst/>
          </a:prstGeom>
          <a:noFill/>
        </p:spPr>
        <p:txBody>
          <a:bodyPr wrap="square" rtlCol="0">
            <a:spAutoFit/>
          </a:bodyPr>
          <a:p>
            <a:pPr algn="ctr"/>
            <a:r>
              <a:rPr lang="zh-CN" altLang="en-US"/>
              <a:t>继承</a:t>
            </a:r>
            <a:r>
              <a:rPr lang="zh-CN" altLang="en-US"/>
              <a:t>图</a:t>
            </a:r>
            <a:endParaRPr lang="zh-CN" altLang="en-US"/>
          </a:p>
        </p:txBody>
      </p:sp>
      <p:grpSp>
        <p:nvGrpSpPr>
          <p:cNvPr id="43" name="组合 42"/>
          <p:cNvGrpSpPr/>
          <p:nvPr/>
        </p:nvGrpSpPr>
        <p:grpSpPr>
          <a:xfrm>
            <a:off x="4518660" y="2658110"/>
            <a:ext cx="7444740" cy="3591560"/>
            <a:chOff x="7356" y="4141"/>
            <a:chExt cx="11724" cy="5656"/>
          </a:xfrm>
        </p:grpSpPr>
        <p:pic>
          <p:nvPicPr>
            <p:cNvPr id="30" name="图片 29"/>
            <p:cNvPicPr>
              <a:picLocks noChangeAspect="1"/>
            </p:cNvPicPr>
            <p:nvPr>
              <p:custDataLst>
                <p:tags r:id="rId2"/>
              </p:custDataLst>
            </p:nvPr>
          </p:nvPicPr>
          <p:blipFill>
            <a:blip r:embed="rId3"/>
            <a:stretch>
              <a:fillRect/>
            </a:stretch>
          </p:blipFill>
          <p:spPr>
            <a:xfrm>
              <a:off x="7356" y="4141"/>
              <a:ext cx="5604" cy="5657"/>
            </a:xfrm>
            <a:prstGeom prst="rect">
              <a:avLst/>
            </a:prstGeom>
          </p:spPr>
        </p:pic>
        <p:pic>
          <p:nvPicPr>
            <p:cNvPr id="40" name="图片 39"/>
            <p:cNvPicPr>
              <a:picLocks noChangeAspect="1"/>
            </p:cNvPicPr>
            <p:nvPr>
              <p:custDataLst>
                <p:tags r:id="rId4"/>
              </p:custDataLst>
            </p:nvPr>
          </p:nvPicPr>
          <p:blipFill>
            <a:blip r:embed="rId5"/>
            <a:stretch>
              <a:fillRect/>
            </a:stretch>
          </p:blipFill>
          <p:spPr>
            <a:xfrm>
              <a:off x="12960" y="4141"/>
              <a:ext cx="6121" cy="5657"/>
            </a:xfrm>
            <a:prstGeom prst="rect">
              <a:avLst/>
            </a:prstGeom>
          </p:spPr>
        </p:pic>
      </p:grpSp>
      <p:sp>
        <p:nvSpPr>
          <p:cNvPr id="42" name="文本框 41"/>
          <p:cNvSpPr txBox="1"/>
          <p:nvPr/>
        </p:nvSpPr>
        <p:spPr>
          <a:xfrm>
            <a:off x="4537710" y="2261235"/>
            <a:ext cx="4064000" cy="368300"/>
          </a:xfrm>
          <a:prstGeom prst="rect">
            <a:avLst/>
          </a:prstGeom>
          <a:noFill/>
        </p:spPr>
        <p:txBody>
          <a:bodyPr wrap="square" rtlCol="0">
            <a:spAutoFit/>
          </a:bodyPr>
          <a:p>
            <a:r>
              <a:rPr lang="en-US" altLang="zh-CN"/>
              <a:t>       </a:t>
            </a:r>
            <a:r>
              <a:rPr lang="zh-CN" altLang="en-US"/>
              <a:t>数据</a:t>
            </a:r>
            <a:r>
              <a:rPr lang="zh-CN" altLang="en-US"/>
              <a:t>接口：</a:t>
            </a:r>
            <a:endParaRPr lang="zh-CN" altLang="en-US"/>
          </a:p>
        </p:txBody>
      </p:sp>
    </p:spTree>
  </p:cSld>
  <p:clrMapOvr>
    <a:masterClrMapping/>
  </p:clrMapOvr>
  <p:transition spd="slow" advClick="0"/>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45417" y="2105025"/>
            <a:ext cx="10256109" cy="1457326"/>
          </a:xfrm>
          <a:prstGeom prst="rect">
            <a:avLst/>
          </a:prstGeom>
          <a:solidFill>
            <a:srgbClr val="075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6" name="组合 5"/>
          <p:cNvGrpSpPr/>
          <p:nvPr/>
        </p:nvGrpSpPr>
        <p:grpSpPr>
          <a:xfrm>
            <a:off x="-5393" y="6842094"/>
            <a:ext cx="12202786" cy="15906"/>
            <a:chOff x="0" y="6829262"/>
            <a:chExt cx="12202786" cy="15906"/>
          </a:xfrm>
        </p:grpSpPr>
        <p:cxnSp>
          <p:nvCxnSpPr>
            <p:cNvPr id="9" name="Straight Connector 540"/>
            <p:cNvCxnSpPr/>
            <p:nvPr/>
          </p:nvCxnSpPr>
          <p:spPr>
            <a:xfrm flipV="1">
              <a:off x="0" y="6829262"/>
              <a:ext cx="2418194" cy="15906"/>
            </a:xfrm>
            <a:prstGeom prst="line">
              <a:avLst/>
            </a:prstGeom>
            <a:ln w="571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541"/>
            <p:cNvCxnSpPr/>
            <p:nvPr/>
          </p:nvCxnSpPr>
          <p:spPr>
            <a:xfrm>
              <a:off x="2452342" y="6829262"/>
              <a:ext cx="2412000" cy="0"/>
            </a:xfrm>
            <a:prstGeom prst="line">
              <a:avLst/>
            </a:prstGeom>
            <a:ln w="57150">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542"/>
            <p:cNvCxnSpPr/>
            <p:nvPr/>
          </p:nvCxnSpPr>
          <p:spPr>
            <a:xfrm>
              <a:off x="4898490" y="6829262"/>
              <a:ext cx="2412000" cy="0"/>
            </a:xfrm>
            <a:prstGeom prst="line">
              <a:avLst/>
            </a:prstGeom>
            <a:ln w="57150">
              <a:solidFill>
                <a:srgbClr val="A6D659"/>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543"/>
            <p:cNvCxnSpPr/>
            <p:nvPr/>
          </p:nvCxnSpPr>
          <p:spPr>
            <a:xfrm>
              <a:off x="7344638" y="6829262"/>
              <a:ext cx="2412000" cy="0"/>
            </a:xfrm>
            <a:prstGeom prst="line">
              <a:avLst/>
            </a:prstGeom>
            <a:ln w="571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544"/>
            <p:cNvCxnSpPr/>
            <p:nvPr/>
          </p:nvCxnSpPr>
          <p:spPr>
            <a:xfrm>
              <a:off x="9790786" y="6829262"/>
              <a:ext cx="2412000" cy="0"/>
            </a:xfrm>
            <a:prstGeom prst="line">
              <a:avLst/>
            </a:prstGeom>
            <a:ln w="57150">
              <a:solidFill>
                <a:schemeClr val="accent5"/>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6" name="矩形 15"/>
          <p:cNvSpPr/>
          <p:nvPr/>
        </p:nvSpPr>
        <p:spPr>
          <a:xfrm>
            <a:off x="9525" y="2105025"/>
            <a:ext cx="1861751" cy="14573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TextBox 1"/>
          <p:cNvSpPr txBox="1"/>
          <p:nvPr/>
        </p:nvSpPr>
        <p:spPr>
          <a:xfrm>
            <a:off x="4295887" y="6375964"/>
            <a:ext cx="4148701" cy="369332"/>
          </a:xfrm>
          <a:prstGeom prst="rect">
            <a:avLst/>
          </a:prstGeom>
          <a:noFill/>
        </p:spPr>
        <p:txBody>
          <a:bodyPr wrap="none" rtlCol="0">
            <a:spAutoFit/>
          </a:bodyPr>
          <a:lstStyle/>
          <a:p>
            <a:pPr algn="ctr"/>
            <a:r>
              <a:rPr lang="zh-CN" altLang="en-US" b="1" dirty="0">
                <a:solidFill>
                  <a:srgbClr val="4472C4"/>
                </a:solidFill>
                <a:latin typeface="微软雅黑" panose="020B0503020204020204" charset="-122"/>
                <a:ea typeface="微软雅黑" panose="020B0503020204020204" charset="-122"/>
              </a:rPr>
              <a:t>官方网站：</a:t>
            </a:r>
            <a:r>
              <a:rPr lang="en-US" altLang="zh-CN" b="1" dirty="0">
                <a:solidFill>
                  <a:srgbClr val="4472C4"/>
                </a:solidFill>
                <a:latin typeface="微软雅黑" panose="020B0503020204020204" charset="-122"/>
                <a:ea typeface="微软雅黑" panose="020B0503020204020204" charset="-122"/>
              </a:rPr>
              <a:t>http://www.fastcae.com</a:t>
            </a:r>
            <a:endParaRPr lang="zh-CN" altLang="en-US" b="1" dirty="0">
              <a:solidFill>
                <a:srgbClr val="4472C4"/>
              </a:solidFill>
              <a:latin typeface="微软雅黑" panose="020B0503020204020204" charset="-122"/>
              <a:ea typeface="微软雅黑" panose="020B0503020204020204" charset="-122"/>
            </a:endParaRPr>
          </a:p>
        </p:txBody>
      </p:sp>
      <p:sp>
        <p:nvSpPr>
          <p:cNvPr id="20" name="TextBox 3"/>
          <p:cNvSpPr txBox="1"/>
          <p:nvPr/>
        </p:nvSpPr>
        <p:spPr>
          <a:xfrm>
            <a:off x="3654228" y="2510523"/>
            <a:ext cx="7389083" cy="645160"/>
          </a:xfrm>
          <a:prstGeom prst="rect">
            <a:avLst/>
          </a:prstGeom>
          <a:noFill/>
        </p:spPr>
        <p:txBody>
          <a:bodyPr wrap="square" rtlCol="0">
            <a:spAutoFit/>
          </a:bodyPr>
          <a:lstStyle/>
          <a:p>
            <a:pPr algn="ctr"/>
            <a:r>
              <a:rPr lang="zh-CN" altLang="en-US" sz="3600" b="1" dirty="0">
                <a:solidFill>
                  <a:schemeClr val="bg1"/>
                </a:solidFill>
                <a:latin typeface="微软雅黑" panose="020B0503020204020204" charset="-122"/>
                <a:ea typeface="微软雅黑" panose="020B0503020204020204" charset="-122"/>
              </a:rPr>
              <a:t>欢迎加入</a:t>
            </a:r>
            <a:r>
              <a:rPr lang="en-US" altLang="zh-CN" sz="3600" b="1" dirty="0">
                <a:solidFill>
                  <a:schemeClr val="bg1"/>
                </a:solidFill>
                <a:latin typeface="微软雅黑" panose="020B0503020204020204" charset="-122"/>
                <a:ea typeface="微软雅黑" panose="020B0503020204020204" charset="-122"/>
              </a:rPr>
              <a:t>FastCAE</a:t>
            </a:r>
            <a:r>
              <a:rPr lang="zh-CN" altLang="en-US" sz="3600" b="1" dirty="0">
                <a:solidFill>
                  <a:schemeClr val="bg1"/>
                </a:solidFill>
                <a:latin typeface="微软雅黑" panose="020B0503020204020204" charset="-122"/>
                <a:ea typeface="微软雅黑" panose="020B0503020204020204" charset="-122"/>
              </a:rPr>
              <a:t>开源社区</a:t>
            </a:r>
            <a:endParaRPr lang="zh-CN" altLang="en-US" sz="3600" b="1" dirty="0">
              <a:solidFill>
                <a:schemeClr val="bg1"/>
              </a:solidFill>
              <a:latin typeface="微软雅黑" panose="020B0503020204020204" charset="-122"/>
              <a:ea typeface="微软雅黑" panose="020B0503020204020204" charset="-122"/>
            </a:endParaRPr>
          </a:p>
        </p:txBody>
      </p:sp>
      <p:pic>
        <p:nvPicPr>
          <p:cNvPr id="22" name="图片 21"/>
          <p:cNvPicPr/>
          <p:nvPr/>
        </p:nvPicPr>
        <p:blipFill>
          <a:blip r:embed="rId1"/>
          <a:stretch>
            <a:fillRect/>
          </a:stretch>
        </p:blipFill>
        <p:spPr>
          <a:xfrm>
            <a:off x="1589183" y="1984907"/>
            <a:ext cx="1709248" cy="1709248"/>
          </a:xfrm>
          <a:prstGeom prst="rect">
            <a:avLst/>
          </a:prstGeom>
        </p:spPr>
      </p:pic>
      <p:sp>
        <p:nvSpPr>
          <p:cNvPr id="5" name="文本框 4"/>
          <p:cNvSpPr txBox="1"/>
          <p:nvPr/>
        </p:nvSpPr>
        <p:spPr>
          <a:xfrm>
            <a:off x="88265" y="1586230"/>
            <a:ext cx="3636645" cy="398780"/>
          </a:xfrm>
          <a:prstGeom prst="rect">
            <a:avLst/>
          </a:prstGeom>
          <a:noFill/>
        </p:spPr>
        <p:txBody>
          <a:bodyPr wrap="square" rtlCol="0" anchor="t">
            <a:spAutoFit/>
          </a:bodyPr>
          <a:lstStyle/>
          <a:p>
            <a:pPr algn="r"/>
            <a:r>
              <a:rPr lang="zh-CN" altLang="en-US" sz="2000" u="sng">
                <a:latin typeface="微软雅黑" panose="020B0503020204020204" charset="-122"/>
                <a:ea typeface="微软雅黑" panose="020B0503020204020204" charset="-122"/>
                <a:sym typeface="+mn-ea"/>
              </a:rPr>
              <a:t>开源聚智</a:t>
            </a:r>
            <a:r>
              <a:rPr lang="en-US" altLang="zh-CN" sz="2000" u="sng">
                <a:latin typeface="微软雅黑" panose="020B0503020204020204" charset="-122"/>
                <a:ea typeface="微软雅黑" panose="020B0503020204020204" charset="-122"/>
                <a:sym typeface="+mn-ea"/>
              </a:rPr>
              <a:t>  </a:t>
            </a:r>
            <a:r>
              <a:rPr lang="zh-CN" altLang="en-US" sz="2000" u="sng">
                <a:latin typeface="微软雅黑" panose="020B0503020204020204" charset="-122"/>
                <a:ea typeface="微软雅黑" panose="020B0503020204020204" charset="-122"/>
                <a:sym typeface="+mn-ea"/>
              </a:rPr>
              <a:t>集成赋能</a:t>
            </a:r>
            <a:r>
              <a:rPr lang="en-US" altLang="zh-CN" sz="2000" u="sng">
                <a:latin typeface="微软雅黑" panose="020B0503020204020204" charset="-122"/>
                <a:ea typeface="微软雅黑" panose="020B0503020204020204" charset="-122"/>
                <a:sym typeface="+mn-ea"/>
              </a:rPr>
              <a:t>  </a:t>
            </a:r>
            <a:r>
              <a:rPr lang="zh-CN" altLang="en-US" sz="2000" u="sng">
                <a:latin typeface="微软雅黑" panose="020B0503020204020204" charset="-122"/>
                <a:ea typeface="微软雅黑" panose="020B0503020204020204" charset="-122"/>
                <a:sym typeface="+mn-ea"/>
              </a:rPr>
              <a:t>产教融合</a:t>
            </a:r>
            <a:endParaRPr lang="zh-CN" altLang="en-US" sz="2000" u="sng">
              <a:latin typeface="微软雅黑" panose="020B0503020204020204" charset="-122"/>
              <a:ea typeface="微软雅黑" panose="020B0503020204020204" charset="-122"/>
              <a:sym typeface="+mn-ea"/>
            </a:endParaRPr>
          </a:p>
        </p:txBody>
      </p:sp>
      <p:sp>
        <p:nvSpPr>
          <p:cNvPr id="2" name="文本框 1"/>
          <p:cNvSpPr txBox="1"/>
          <p:nvPr/>
        </p:nvSpPr>
        <p:spPr>
          <a:xfrm>
            <a:off x="521335" y="3681730"/>
            <a:ext cx="4076700" cy="2168525"/>
          </a:xfrm>
          <a:prstGeom prst="rect">
            <a:avLst/>
          </a:prstGeom>
          <a:noFill/>
        </p:spPr>
        <p:txBody>
          <a:bodyPr wrap="square" rtlCol="0">
            <a:spAutoFit/>
          </a:bodyPr>
          <a:lstStyle/>
          <a:p>
            <a:pPr>
              <a:lnSpc>
                <a:spcPct val="150000"/>
              </a:lnSpc>
            </a:pPr>
            <a:r>
              <a:rPr lang="en-US" altLang="zh-CN" b="1">
                <a:latin typeface="宋体" panose="02010600030101010101" pitchFamily="2" charset="-122"/>
                <a:ea typeface="宋体" panose="02010600030101010101" pitchFamily="2" charset="-122"/>
                <a:cs typeface="宋体" panose="02010600030101010101" pitchFamily="2" charset="-122"/>
              </a:rPr>
              <a:t>CAE</a:t>
            </a:r>
            <a:r>
              <a:rPr lang="zh-CN" altLang="en-US" b="1">
                <a:latin typeface="宋体" panose="02010600030101010101" pitchFamily="2" charset="-122"/>
                <a:ea typeface="宋体" panose="02010600030101010101" pitchFamily="2" charset="-122"/>
                <a:cs typeface="宋体" panose="02010600030101010101" pitchFamily="2" charset="-122"/>
              </a:rPr>
              <a:t>系统集成开发者</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功能组件开发</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专用学科软件集成</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技术交流</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需求对接</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4652645" y="3681730"/>
            <a:ext cx="4076700" cy="2584450"/>
          </a:xfrm>
          <a:prstGeom prst="rect">
            <a:avLst/>
          </a:prstGeom>
          <a:noFill/>
        </p:spPr>
        <p:txBody>
          <a:bodyPr wrap="square" rtlCol="0">
            <a:spAutoFit/>
          </a:bodyPr>
          <a:lstStyle/>
          <a:p>
            <a:pPr>
              <a:lnSpc>
                <a:spcPct val="150000"/>
              </a:lnSpc>
            </a:pPr>
            <a:r>
              <a:rPr lang="zh-CN" altLang="en-US" b="1">
                <a:latin typeface="宋体" panose="02010600030101010101" pitchFamily="2" charset="-122"/>
                <a:ea typeface="宋体" panose="02010600030101010101" pitchFamily="2" charset="-122"/>
                <a:cs typeface="宋体" panose="02010600030101010101" pitchFamily="2" charset="-122"/>
              </a:rPr>
              <a:t>基础算法与底层引擎科研人员</a:t>
            </a:r>
            <a:endParaRPr lang="zh-CN" altLang="en-US" b="1">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算法引擎迭代</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组件</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软件商业化</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功能与性能验证</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教学与人才培养</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市场需求获取</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8783955" y="3681730"/>
            <a:ext cx="3406775" cy="2168525"/>
          </a:xfrm>
          <a:prstGeom prst="rect">
            <a:avLst/>
          </a:prstGeom>
          <a:noFill/>
        </p:spPr>
        <p:txBody>
          <a:bodyPr wrap="square" rtlCol="0">
            <a:spAutoFit/>
          </a:bodyPr>
          <a:lstStyle/>
          <a:p>
            <a:pPr>
              <a:lnSpc>
                <a:spcPct val="150000"/>
              </a:lnSpc>
            </a:pPr>
            <a:r>
              <a:rPr lang="en-US" altLang="zh-CN" b="1">
                <a:latin typeface="宋体" panose="02010600030101010101" pitchFamily="2" charset="-122"/>
                <a:ea typeface="宋体" panose="02010600030101010101" pitchFamily="2" charset="-122"/>
                <a:cs typeface="宋体" panose="02010600030101010101" pitchFamily="2" charset="-122"/>
              </a:rPr>
              <a:t>CAE</a:t>
            </a:r>
            <a:r>
              <a:rPr lang="zh-CN" altLang="en-US" b="1">
                <a:latin typeface="宋体" panose="02010600030101010101" pitchFamily="2" charset="-122"/>
                <a:ea typeface="宋体" panose="02010600030101010101" pitchFamily="2" charset="-122"/>
                <a:cs typeface="宋体" panose="02010600030101010101" pitchFamily="2" charset="-122"/>
              </a:rPr>
              <a:t>软件应用工程师</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使用专业软件进行咨询服务</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可定制个性化软件</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反馈验证结果</a:t>
            </a:r>
            <a:endParaRPr lang="zh-CN" altLang="en-US">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buFont typeface="Arial" panose="020B0604020202020204" pitchFamily="34" charset="0"/>
              <a:buChar char="•"/>
            </a:pPr>
            <a:r>
              <a:rPr lang="zh-CN" altLang="en-US">
                <a:latin typeface="宋体" panose="02010600030101010101" pitchFamily="2" charset="-122"/>
                <a:ea typeface="宋体" panose="02010600030101010101" pitchFamily="2" charset="-122"/>
                <a:cs typeface="宋体" panose="02010600030101010101" pitchFamily="2" charset="-122"/>
              </a:rPr>
              <a:t>技能与知识提升</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4614" y="316577"/>
            <a:ext cx="1844203" cy="553261"/>
          </a:xfrm>
          <a:prstGeom prst="rect">
            <a:avLst/>
          </a:prstGeom>
        </p:spPr>
      </p:pic>
    </p:spTree>
  </p:cSld>
  <p:clrMapOvr>
    <a:masterClrMapping/>
  </p:clrMapOvr>
  <p:transition spd="slow" advClick="0"/>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254.36937007874013,&quot;left&quot;:344.1,&quot;top&quot;:172.62307086614175,&quot;width&quot;:607.9231758136636}"/>
</p:tagLst>
</file>

<file path=ppt/tags/tag64.xml><?xml version="1.0" encoding="utf-8"?>
<p:tagLst xmlns:p="http://schemas.openxmlformats.org/presentationml/2006/main">
  <p:tag name="KSO_WM_DIAGRAM_VIRTUALLY_FRAME" val="{&quot;height&quot;:254.36937007874013,&quot;left&quot;:344.1,&quot;top&quot;:172.62307086614175,&quot;width&quot;:607.9231758136636}"/>
</p:tagLst>
</file>

<file path=ppt/tags/tag65.xml><?xml version="1.0" encoding="utf-8"?>
<p:tagLst xmlns:p="http://schemas.openxmlformats.org/presentationml/2006/main">
  <p:tag name="KSO_WM_DIAGRAM_VIRTUALLY_FRAME" val="{&quot;height&quot;:254.36937007874013,&quot;left&quot;:344.1,&quot;top&quot;:172.62307086614175,&quot;width&quot;:607.9231758136636}"/>
</p:tagLst>
</file>

<file path=ppt/tags/tag66.xml><?xml version="1.0" encoding="utf-8"?>
<p:tagLst xmlns:p="http://schemas.openxmlformats.org/presentationml/2006/main">
  <p:tag name="KSO_WM_DIAGRAM_VIRTUALLY_FRAME" val="{&quot;height&quot;:254.36937007874013,&quot;left&quot;:344.1,&quot;top&quot;:172.62307086614175,&quot;width&quot;:607.9231758136636}"/>
</p:tagLst>
</file>

<file path=ppt/tags/tag67.xml><?xml version="1.0" encoding="utf-8"?>
<p:tagLst xmlns:p="http://schemas.openxmlformats.org/presentationml/2006/main">
  <p:tag name="KSO_WM_DIAGRAM_VIRTUALLY_FRAME" val="{&quot;height&quot;:254.36937007874013,&quot;left&quot;:344.1,&quot;top&quot;:172.62307086614175,&quot;width&quot;:607.9231758136636}"/>
</p:tagLst>
</file>

<file path=ppt/tags/tag68.xml><?xml version="1.0" encoding="utf-8"?>
<p:tagLst xmlns:p="http://schemas.openxmlformats.org/presentationml/2006/main">
  <p:tag name="KSO_WM_DIAGRAM_VIRTUALLY_FRAME" val="{&quot;height&quot;:254.36937007874013,&quot;left&quot;:344.1,&quot;top&quot;:172.62307086614175,&quot;width&quot;:607.9231758136636}"/>
</p:tagLst>
</file>

<file path=ppt/tags/tag69.xml><?xml version="1.0" encoding="utf-8"?>
<p:tagLst xmlns:p="http://schemas.openxmlformats.org/presentationml/2006/main">
  <p:tag name="KSO_WM_DIAGRAM_VIRTUALLY_FRAME" val="{&quot;height&quot;:254.36937007874013,&quot;left&quot;:344.1,&quot;top&quot;:172.62307086614175,&quot;width&quot;:607.9231758136636}"/>
</p:tagLst>
</file>

<file path=ppt/tags/tag70.xml><?xml version="1.0" encoding="utf-8"?>
<p:tagLst xmlns:p="http://schemas.openxmlformats.org/presentationml/2006/main">
  <p:tag name="KSO_WM_DIAGRAM_VIRTUALLY_FRAME" val="{&quot;height&quot;:254.36937007874013,&quot;left&quot;:344.1,&quot;top&quot;:172.62307086614175,&quot;width&quot;:607.9231758136636}"/>
</p:tagLst>
</file>

<file path=ppt/tags/tag71.xml><?xml version="1.0" encoding="utf-8"?>
<p:tagLst xmlns:p="http://schemas.openxmlformats.org/presentationml/2006/main">
  <p:tag name="KSO_WM_DIAGRAM_VIRTUALLY_FRAME" val="{&quot;height&quot;:254.36937007874013,&quot;left&quot;:344.1,&quot;top&quot;:172.62307086614175,&quot;width&quot;:607.9231758136636}"/>
</p:tagLst>
</file>

<file path=ppt/tags/tag72.xml><?xml version="1.0" encoding="utf-8"?>
<p:tagLst xmlns:p="http://schemas.openxmlformats.org/presentationml/2006/main">
  <p:tag name="KSO_WM_DIAGRAM_VIRTUALLY_FRAME" val="{&quot;height&quot;:254.36937007874013,&quot;left&quot;:344.1,&quot;top&quot;:172.62307086614175,&quot;width&quot;:607.9231758136636}"/>
</p:tagLst>
</file>

<file path=ppt/tags/tag73.xml><?xml version="1.0" encoding="utf-8"?>
<p:tagLst xmlns:p="http://schemas.openxmlformats.org/presentationml/2006/main">
  <p:tag name="KSO_WM_DIAGRAM_VIRTUALLY_FRAME" val="{&quot;height&quot;:254.36937007874013,&quot;left&quot;:344.1,&quot;top&quot;:172.62307086614175,&quot;width&quot;:607.9231758136636}"/>
</p:tagLst>
</file>

<file path=ppt/tags/tag74.xml><?xml version="1.0" encoding="utf-8"?>
<p:tagLst xmlns:p="http://schemas.openxmlformats.org/presentationml/2006/main">
  <p:tag name="KSO_WM_DIAGRAM_VIRTUALLY_FRAME" val="{&quot;height&quot;:254.36937007874013,&quot;left&quot;:344.1,&quot;top&quot;:172.62307086614175,&quot;width&quot;:607.9231758136636}"/>
</p:tagLst>
</file>

<file path=ppt/tags/tag75.xml><?xml version="1.0" encoding="utf-8"?>
<p:tagLst xmlns:p="http://schemas.openxmlformats.org/presentationml/2006/main">
  <p:tag name="KSO_WM_DIAGRAM_VIRTUALLY_FRAME" val="{&quot;height&quot;:254.36937007874013,&quot;left&quot;:344.1,&quot;top&quot;:172.62307086614175,&quot;width&quot;:607.9231758136636}"/>
</p:tagLst>
</file>

<file path=ppt/tags/tag76.xml><?xml version="1.0" encoding="utf-8"?>
<p:tagLst xmlns:p="http://schemas.openxmlformats.org/presentationml/2006/main">
  <p:tag name="KSO_WM_DIAGRAM_VIRTUALLY_FRAME" val="{&quot;height&quot;:254.36937007874013,&quot;left&quot;:344.1,&quot;top&quot;:172.62307086614175,&quot;width&quot;:607.9231758136636}"/>
</p:tagLst>
</file>

<file path=ppt/tags/tag77.xml><?xml version="1.0" encoding="utf-8"?>
<p:tagLst xmlns:p="http://schemas.openxmlformats.org/presentationml/2006/main">
  <p:tag name="KSO_WM_DIAGRAM_VIRTUALLY_FRAME" val="{&quot;height&quot;:254.36937007874013,&quot;left&quot;:344.1,&quot;top&quot;:172.62307086614175,&quot;width&quot;:607.9231758136636}"/>
</p:tagLst>
</file>

<file path=ppt/tags/tag78.xml><?xml version="1.0" encoding="utf-8"?>
<p:tagLst xmlns:p="http://schemas.openxmlformats.org/presentationml/2006/main">
  <p:tag name="KSO_WM_DIAGRAM_VIRTUALLY_FRAME" val="{&quot;height&quot;:254.36937007874013,&quot;left&quot;:344.1,&quot;top&quot;:172.62307086614175,&quot;width&quot;:607.9231758136636}"/>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DIAGRAM_VIRTUALLY_FRAME" val="{&quot;height&quot;:261.8,&quot;left&quot;:189.75,&quot;top&quot;:238.25,&quot;width&quot;:594.05}"/>
</p:tagLst>
</file>

<file path=ppt/tags/tag97.xml><?xml version="1.0" encoding="utf-8"?>
<p:tagLst xmlns:p="http://schemas.openxmlformats.org/presentationml/2006/main">
  <p:tag name="KSO_WM_DIAGRAM_VIRTUALLY_FRAME" val="{&quot;height&quot;:261.8,&quot;left&quot;:189.75,&quot;top&quot;:238.25,&quot;width&quot;:594.05}"/>
</p:tagLst>
</file>

<file path=ppt/tags/tag98.xml><?xml version="1.0" encoding="utf-8"?>
<p:tagLst xmlns:p="http://schemas.openxmlformats.org/presentationml/2006/main">
  <p:tag name="KSO_WM_DIAGRAM_VIRTUALLY_FRAME" val="{&quot;height&quot;:261.8,&quot;left&quot;:189.75,&quot;top&quot;:238.25,&quot;width&quot;:594.05}"/>
</p:tagLst>
</file>

<file path=ppt/tags/tag99.xml><?xml version="1.0" encoding="utf-8"?>
<p:tagLst xmlns:p="http://schemas.openxmlformats.org/presentationml/2006/main">
  <p:tag name="KSO_WM_DIAGRAM_VIRTUALLY_FRAME" val="{&quot;height&quot;:261.8,&quot;left&quot;:189.75,&quot;top&quot;:238.25,&quot;width&quot;:594.05}"/>
</p:tagLst>
</file>

<file path=ppt/tags/tag100.xml><?xml version="1.0" encoding="utf-8"?>
<p:tagLst xmlns:p="http://schemas.openxmlformats.org/presentationml/2006/main">
  <p:tag name="KSO_WM_DIAGRAM_VIRTUALLY_FRAME" val="{&quot;height&quot;:261.8,&quot;left&quot;:189.75,&quot;top&quot;:238.25,&quot;width&quot;:594.05}"/>
</p:tagLst>
</file>

<file path=ppt/tags/tag101.xml><?xml version="1.0" encoding="utf-8"?>
<p:tagLst xmlns:p="http://schemas.openxmlformats.org/presentationml/2006/main">
  <p:tag name="KSO_WM_DIAGRAM_VIRTUALLY_FRAME" val="{&quot;height&quot;:261.8,&quot;left&quot;:189.75,&quot;top&quot;:238.25,&quot;width&quot;:594.05}"/>
</p:tagLst>
</file>

<file path=ppt/tags/tag102.xml><?xml version="1.0" encoding="utf-8"?>
<p:tagLst xmlns:p="http://schemas.openxmlformats.org/presentationml/2006/main">
  <p:tag name="KSO_WM_DIAGRAM_VIRTUALLY_FRAME" val="{&quot;height&quot;:261.8,&quot;left&quot;:189.75,&quot;top&quot;:238.25,&quot;width&quot;:594.05}"/>
</p:tagLst>
</file>

<file path=ppt/tags/tag103.xml><?xml version="1.0" encoding="utf-8"?>
<p:tagLst xmlns:p="http://schemas.openxmlformats.org/presentationml/2006/main">
  <p:tag name="KSO_WM_DIAGRAM_VIRTUALLY_FRAME" val="{&quot;height&quot;:261.8,&quot;left&quot;:189.75,&quot;top&quot;:238.25,&quot;width&quot;:594.05}"/>
</p:tagLst>
</file>

<file path=ppt/tags/tag104.xml><?xml version="1.0" encoding="utf-8"?>
<p:tagLst xmlns:p="http://schemas.openxmlformats.org/presentationml/2006/main">
  <p:tag name="KSO_WM_DIAGRAM_VIRTUALLY_FRAME" val="{&quot;height&quot;:353.7,&quot;left&quot;:106.95,&quot;top&quot;:165.1,&quot;width&quot;:840.3}"/>
</p:tagLst>
</file>

<file path=ppt/tags/tag105.xml><?xml version="1.0" encoding="utf-8"?>
<p:tagLst xmlns:p="http://schemas.openxmlformats.org/presentationml/2006/main">
  <p:tag name="KSO_WM_DIAGRAM_VIRTUALLY_FRAME" val="{&quot;height&quot;:353.7,&quot;left&quot;:106.95,&quot;top&quot;:165.1,&quot;width&quot;:840.3}"/>
</p:tagLst>
</file>

<file path=ppt/tags/tag106.xml><?xml version="1.0" encoding="utf-8"?>
<p:tagLst xmlns:p="http://schemas.openxmlformats.org/presentationml/2006/main">
  <p:tag name="KSO_WM_DIAGRAM_VIRTUALLY_FRAME" val="{&quot;height&quot;:353.7,&quot;left&quot;:106.95,&quot;top&quot;:165.1,&quot;width&quot;:840.3}"/>
</p:tagLst>
</file>

<file path=ppt/tags/tag107.xml><?xml version="1.0" encoding="utf-8"?>
<p:tagLst xmlns:p="http://schemas.openxmlformats.org/presentationml/2006/main">
  <p:tag name="KSO_WM_DIAGRAM_VIRTUALLY_FRAME" val="{&quot;height&quot;:353.7,&quot;left&quot;:106.95,&quot;top&quot;:165.1,&quot;width&quot;:840.3}"/>
</p:tagLst>
</file>

<file path=ppt/tags/tag108.xml><?xml version="1.0" encoding="utf-8"?>
<p:tagLst xmlns:p="http://schemas.openxmlformats.org/presentationml/2006/main">
  <p:tag name="KSO_WM_DIAGRAM_VIRTUALLY_FRAME" val="{&quot;height&quot;:353.7,&quot;left&quot;:106.95,&quot;top&quot;:165.1,&quot;width&quot;:840.3}"/>
</p:tagLst>
</file>

<file path=ppt/tags/tag109.xml><?xml version="1.0" encoding="utf-8"?>
<p:tagLst xmlns:p="http://schemas.openxmlformats.org/presentationml/2006/main">
  <p:tag name="KSO_WM_DIAGRAM_VIRTUALLY_FRAME" val="{&quot;height&quot;:353.7,&quot;left&quot;:106.95,&quot;top&quot;:165.1,&quot;width&quot;:840.3}"/>
</p:tagLst>
</file>

<file path=ppt/tags/tag110.xml><?xml version="1.0" encoding="utf-8"?>
<p:tagLst xmlns:p="http://schemas.openxmlformats.org/presentationml/2006/main">
  <p:tag name="KSO_WM_BEAUTIFY_FLAG" val=""/>
  <p:tag name="KSO_WM_DIAGRAM_VIRTUALLY_FRAME" val="{&quot;height&quot;:353.7,&quot;left&quot;:106.95,&quot;top&quot;:165.1,&quot;width&quot;:840.3}"/>
</p:tagLst>
</file>

<file path=ppt/tags/tag111.xml><?xml version="1.0" encoding="utf-8"?>
<p:tagLst xmlns:p="http://schemas.openxmlformats.org/presentationml/2006/main">
  <p:tag name="KSO_WM_BEAUTIFY_FLAG" val=""/>
  <p:tag name="KSO_WM_DIAGRAM_VIRTUALLY_FRAME" val="{&quot;height&quot;:353.7,&quot;left&quot;:106.95,&quot;top&quot;:165.1,&quot;width&quot;:840.3}"/>
</p:tagLst>
</file>

<file path=ppt/tags/tag112.xml><?xml version="1.0" encoding="utf-8"?>
<p:tagLst xmlns:p="http://schemas.openxmlformats.org/presentationml/2006/main">
  <p:tag name="KSO_WM_BEAUTIFY_FLAG" val=""/>
  <p:tag name="KSO_WM_DIAGRAM_VIRTUALLY_FRAME" val="{&quot;height&quot;:353.7,&quot;left&quot;:106.95,&quot;top&quot;:165.1,&quot;width&quot;:840.3}"/>
</p:tagLst>
</file>

<file path=ppt/tags/tag113.xml><?xml version="1.0" encoding="utf-8"?>
<p:tagLst xmlns:p="http://schemas.openxmlformats.org/presentationml/2006/main">
  <p:tag name="KSO_WM_BEAUTIFY_FLAG" val=""/>
  <p:tag name="KSO_WM_DIAGRAM_VIRTUALLY_FRAME" val="{&quot;height&quot;:353.7,&quot;left&quot;:106.95,&quot;top&quot;:165.1,&quot;width&quot;:840.3}"/>
</p:tagLst>
</file>

<file path=ppt/tags/tag114.xml><?xml version="1.0" encoding="utf-8"?>
<p:tagLst xmlns:p="http://schemas.openxmlformats.org/presentationml/2006/main">
  <p:tag name="KSO_WM_BEAUTIFY_FLAG" val=""/>
  <p:tag name="KSO_WM_DIAGRAM_VIRTUALLY_FRAME" val="{&quot;height&quot;:353.7,&quot;left&quot;:106.95,&quot;top&quot;:165.1,&quot;width&quot;:840.3}"/>
</p:tagLst>
</file>

<file path=ppt/tags/tag115.xml><?xml version="1.0" encoding="utf-8"?>
<p:tagLst xmlns:p="http://schemas.openxmlformats.org/presentationml/2006/main">
  <p:tag name="KSO_WM_BEAUTIFY_FLAG" val=""/>
  <p:tag name="KSO_WM_DIAGRAM_VIRTUALLY_FRAME" val="{&quot;height&quot;:353.7,&quot;left&quot;:106.95,&quot;top&quot;:165.1,&quot;width&quot;:840.3}"/>
</p:tagLst>
</file>

<file path=ppt/tags/tag116.xml><?xml version="1.0" encoding="utf-8"?>
<p:tagLst xmlns:p="http://schemas.openxmlformats.org/presentationml/2006/main">
  <p:tag name="KSO_WM_DIAGRAM_VIRTUALLY_FRAME" val="{&quot;height&quot;:353.7,&quot;left&quot;:106.95,&quot;top&quot;:165.1,&quot;width&quot;:840.3}"/>
</p:tagLst>
</file>

<file path=ppt/tags/tag117.xml><?xml version="1.0" encoding="utf-8"?>
<p:tagLst xmlns:p="http://schemas.openxmlformats.org/presentationml/2006/main">
  <p:tag name="KSO_WM_BEAUTIFY_FLAG" val=""/>
  <p:tag name="KSO_WM_DIAGRAM_VIRTUALLY_FRAME" val="{&quot;height&quot;:353.7,&quot;left&quot;:106.95,&quot;top&quot;:165.1,&quot;width&quot;:840.3}"/>
</p:tagLst>
</file>

<file path=ppt/tags/tag118.xml><?xml version="1.0" encoding="utf-8"?>
<p:tagLst xmlns:p="http://schemas.openxmlformats.org/presentationml/2006/main">
  <p:tag name="KSO_WM_DIAGRAM_VIRTUALLY_FRAME" val="{&quot;height&quot;:353.7,&quot;left&quot;:106.95,&quot;top&quot;:165.1,&quot;width&quot;:840.3}"/>
</p:tagLst>
</file>

<file path=ppt/tags/tag119.xml><?xml version="1.0" encoding="utf-8"?>
<p:tagLst xmlns:p="http://schemas.openxmlformats.org/presentationml/2006/main">
  <p:tag name="KSO_WM_BEAUTIFY_FLAG" val=""/>
  <p:tag name="KSO_WM_DIAGRAM_VIRTUALLY_FRAME" val="{&quot;height&quot;:353.7,&quot;left&quot;:106.95,&quot;top&quot;:165.1,&quot;width&quot;:840.3}"/>
</p:tagLst>
</file>

<file path=ppt/tags/tag120.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5*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6000000238418579,&quot;colorType&quot;:1,&quot;foreColorIndex&quot;:8,&quot;pos&quot;:0,&quot;transparency&quot;:0},{&quot;brightness&quot;:0,&quot;colorType&quot;:1,&quot;foreColorIndex&quot;:8,&quot;pos&quot;:0.47999998927116394,&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121.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5*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6000000238418579,&quot;colorType&quot;:1,&quot;foreColorIndex&quot;:8,&quot;pos&quot;:0,&quot;transparency&quot;:0},{&quot;brightness&quot;:0,&quot;colorType&quot;:1,&quot;foreColorIndex&quot;:8,&quot;pos&quot;:0.47999998927116394,&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122.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5*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6000000238418579,&quot;colorType&quot;:1,&quot;foreColorIndex&quot;:8,&quot;pos&quot;:0,&quot;transparency&quot;:0},{&quot;brightness&quot;:0,&quot;colorType&quot;:1,&quot;foreColorIndex&quot;:8,&quot;pos&quot;:0.47999998927116394,&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123.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5*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6000000238418579,&quot;colorType&quot;:1,&quot;foreColorIndex&quot;:8,&quot;pos&quot;:0,&quot;transparency&quot;:0},{&quot;brightness&quot;:0,&quot;colorType&quot;:1,&quot;foreColorIndex&quot;:8,&quot;pos&quot;:0.47999998927116394,&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124.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5*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6000000238418579,&quot;colorType&quot;:1,&quot;foreColorIndex&quot;:8,&quot;pos&quot;:0,&quot;transparency&quot;:0},{&quot;brightness&quot;:0,&quot;colorType&quot;:1,&quot;foreColorIndex&quot;:8,&quot;pos&quot;:0.47999998927116394,&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125.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26.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27.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28.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29.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30.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31.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32.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5*n_h_h_a*1_2_3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3_1"/>
  <p:tag name="KSO_WM_DIAGRAM_VERSION" val="3"/>
  <p:tag name="KSO_WM_DIAGRAM_COLOR_TRICK" val="3"/>
  <p:tag name="KSO_WM_DIAGRAM_COLOR_TEXT_CAN_REMOVE" val="n"/>
  <p:tag name="KSO_WM_DIAGRAM_GROUP_CODE" val="n1-1"/>
  <p:tag name="KSO_WM_DIAGRAM_MAX_ITEMCNT" val="6"/>
  <p:tag name="KSO_WM_DIAGRAM_MIN_ITEMCNT" val="2"/>
  <p:tag name="KSO_WM_DIAGRAM_VIRTUALLY_FRAME" val="{&quot;height&quot;:366.8999938964844,&quot;left&quot;:97.82503326656315,&quot;top&quot;:86.60000305175781,&quot;width&quot;:764.4500122070312}"/>
  <p:tag name="KSO_WM_DIAGRAM_COLOR_MATCH_VALUE" val="{&quot;shape&quot;:{&quot;fill&quot;:{&quot;gradient&quot;:[{&quot;brightness&quot;:0.800000011920929,&quot;colorType&quot;:1,&quot;foreColorIndex&quot;:10,&quot;pos&quot;:0,&quot;transparency&quot;:0},{&quot;brightness&quot;:0,&quot;colorType&quot;:1,&quot;foreColorIndex&quot;:10,&quot;pos&quot;:0.47999998927116394,&quot;transparency&quot;:0}],&quot;type&quot;:3},&quot;glow&quot;:{&quot;colorType&quot;:0},&quot;line&quot;:{&quot;solidLine&quot;:{&quot;brightness&quot;:0,&quot;colorType&quot;:1,&quot;foreColorIndex&quot;:10,&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10"/>
  <p:tag name="KSO_WM_DIAGRAM_USE_COLOR_VALUE" val="{&quot;color_scheme&quot;:1,&quot;color_type&quot;:1,&quot;theme_color_indexes&quot;:[]}"/>
</p:tagLst>
</file>

<file path=ppt/tags/tag133.xml><?xml version="1.0" encoding="utf-8"?>
<p:tagLst xmlns:p="http://schemas.openxmlformats.org/presentationml/2006/main">
  <p:tag name="TABLE_ENDDRAG_ORIGIN_RECT" val="443*70"/>
  <p:tag name="TABLE_ENDDRAG_RECT" val="41*359*443*70"/>
</p:tagLst>
</file>

<file path=ppt/tags/tag134.xml><?xml version="1.0" encoding="utf-8"?>
<p:tagLst xmlns:p="http://schemas.openxmlformats.org/presentationml/2006/main">
  <p:tag name="TABLE_ENDDRAG_ORIGIN_RECT" val="514*39"/>
  <p:tag name="TABLE_ENDDRAG_RECT" val="50*488*514*39"/>
</p:tagLst>
</file>

<file path=ppt/tags/tag135.xml><?xml version="1.0" encoding="utf-8"?>
<p:tagLst xmlns:p="http://schemas.openxmlformats.org/presentationml/2006/main">
  <p:tag name="TABLE_ENDDRAG_ORIGIN_RECT" val="285*138"/>
  <p:tag name="TABLE_ENDDRAG_RECT" val="46*158*285*138"/>
</p:tagLst>
</file>

<file path=ppt/tags/tag136.xml><?xml version="1.0" encoding="utf-8"?>
<p:tagLst xmlns:p="http://schemas.openxmlformats.org/presentationml/2006/main">
  <p:tag name="KSO_WM_DIAGRAM_VIRTUALLY_FRAME" val="{&quot;height&quot;:461.25,&quot;left&quot;:-0.42464566929133857,&quot;top&quot;:78.75,&quot;width&quot;:960.8492913385826}"/>
</p:tagLst>
</file>

<file path=ppt/tags/tag137.xml><?xml version="1.0" encoding="utf-8"?>
<p:tagLst xmlns:p="http://schemas.openxmlformats.org/presentationml/2006/main">
  <p:tag name="KSO_WM_DIAGRAM_VIRTUALLY_FRAME" val="{&quot;height&quot;:461.25,&quot;left&quot;:-0.42464566929133857,&quot;top&quot;:78.75,&quot;width&quot;:960.8492913385826}"/>
</p:tagLst>
</file>

<file path=ppt/tags/tag138.xml><?xml version="1.0" encoding="utf-8"?>
<p:tagLst xmlns:p="http://schemas.openxmlformats.org/presentationml/2006/main">
  <p:tag name="KSO_WM_DIAGRAM_VIRTUALLY_FRAME" val="{&quot;height&quot;:461.25,&quot;left&quot;:-0.42464566929133857,&quot;top&quot;:78.75,&quot;width&quot;:960.8492913385826}"/>
</p:tagLst>
</file>

<file path=ppt/tags/tag139.xml><?xml version="1.0" encoding="utf-8"?>
<p:tagLst xmlns:p="http://schemas.openxmlformats.org/presentationml/2006/main">
  <p:tag name="KSO_WM_DIAGRAM_VIRTUALLY_FRAME" val="{&quot;height&quot;:461.25,&quot;left&quot;:-0.42464566929133857,&quot;top&quot;:78.75,&quot;width&quot;:960.8492913385826}"/>
</p:tagLst>
</file>

<file path=ppt/tags/tag140.xml><?xml version="1.0" encoding="utf-8"?>
<p:tagLst xmlns:p="http://schemas.openxmlformats.org/presentationml/2006/main">
  <p:tag name="KSO_WM_DIAGRAM_VIRTUALLY_FRAME" val="{&quot;height&quot;:461.25,&quot;left&quot;:-0.42464566929133857,&quot;top&quot;:78.75,&quot;width&quot;:960.8492913385826}"/>
</p:tagLst>
</file>

<file path=ppt/tags/tag141.xml><?xml version="1.0" encoding="utf-8"?>
<p:tagLst xmlns:p="http://schemas.openxmlformats.org/presentationml/2006/main">
  <p:tag name="KSO_WM_DIAGRAM_VIRTUALLY_FRAME" val="{&quot;height&quot;:461.25,&quot;left&quot;:-0.42464566929133857,&quot;top&quot;:78.75,&quot;width&quot;:960.8492913385826}"/>
</p:tagLst>
</file>

<file path=ppt/tags/tag142.xml><?xml version="1.0" encoding="utf-8"?>
<p:tagLst xmlns:p="http://schemas.openxmlformats.org/presentationml/2006/main">
  <p:tag name="KSO_WM_DIAGRAM_VIRTUALLY_FRAME" val="{&quot;height&quot;:461.25,&quot;left&quot;:-0.42464566929133857,&quot;top&quot;:78.75,&quot;width&quot;:960.8492913385826}"/>
</p:tagLst>
</file>

<file path=ppt/tags/tag143.xml><?xml version="1.0" encoding="utf-8"?>
<p:tagLst xmlns:p="http://schemas.openxmlformats.org/presentationml/2006/main">
  <p:tag name="KSO_WM_DIAGRAM_VIRTUALLY_FRAME" val="{&quot;height&quot;:461.25,&quot;left&quot;:-0.42464566929133857,&quot;top&quot;:78.75,&quot;width&quot;:960.8492913385826}"/>
</p:tagLst>
</file>

<file path=ppt/tags/tag144.xml><?xml version="1.0" encoding="utf-8"?>
<p:tagLst xmlns:p="http://schemas.openxmlformats.org/presentationml/2006/main">
  <p:tag name="KSO_WM_DIAGRAM_VIRTUALLY_FRAME" val="{&quot;height&quot;:461.25,&quot;left&quot;:-0.42464566929133857,&quot;top&quot;:78.75,&quot;width&quot;:960.8492913385826}"/>
</p:tagLst>
</file>

<file path=ppt/tags/tag145.xml><?xml version="1.0" encoding="utf-8"?>
<p:tagLst xmlns:p="http://schemas.openxmlformats.org/presentationml/2006/main">
  <p:tag name="KSO_WM_DIAGRAM_VIRTUALLY_FRAME" val="{&quot;height&quot;:461.25,&quot;left&quot;:-0.42464566929133857,&quot;top&quot;:78.75,&quot;width&quot;:960.8492913385826}"/>
</p:tagLst>
</file>

<file path=ppt/tags/tag146.xml><?xml version="1.0" encoding="utf-8"?>
<p:tagLst xmlns:p="http://schemas.openxmlformats.org/presentationml/2006/main">
  <p:tag name="KSO_WM_DIAGRAM_VIRTUALLY_FRAME" val="{&quot;height&quot;:461.25,&quot;left&quot;:-0.42464566929133857,&quot;top&quot;:78.75,&quot;width&quot;:960.8492913385826}"/>
</p:tagLst>
</file>

<file path=ppt/tags/tag147.xml><?xml version="1.0" encoding="utf-8"?>
<p:tagLst xmlns:p="http://schemas.openxmlformats.org/presentationml/2006/main">
  <p:tag name="KSO_WM_DIAGRAM_VIRTUALLY_FRAME" val="{&quot;height&quot;:461.25,&quot;left&quot;:-0.42464566929133857,&quot;top&quot;:78.75,&quot;width&quot;:960.8492913385826}"/>
</p:tagLst>
</file>

<file path=ppt/tags/tag148.xml><?xml version="1.0" encoding="utf-8"?>
<p:tagLst xmlns:p="http://schemas.openxmlformats.org/presentationml/2006/main">
  <p:tag name="KSO_WM_DIAGRAM_VIRTUALLY_FRAME" val="{&quot;height&quot;:461.25,&quot;left&quot;:-0.42464566929133857,&quot;top&quot;:78.75,&quot;width&quot;:960.8492913385826}"/>
</p:tagLst>
</file>

<file path=ppt/tags/tag149.xml><?xml version="1.0" encoding="utf-8"?>
<p:tagLst xmlns:p="http://schemas.openxmlformats.org/presentationml/2006/main">
  <p:tag name="KSO_WM_DIAGRAM_VIRTUALLY_FRAME" val="{&quot;height&quot;:461.25,&quot;left&quot;:-0.42464566929133857,&quot;top&quot;:78.75,&quot;width&quot;:960.8492913385826}"/>
</p:tagLst>
</file>

<file path=ppt/tags/tag150.xml><?xml version="1.0" encoding="utf-8"?>
<p:tagLst xmlns:p="http://schemas.openxmlformats.org/presentationml/2006/main">
  <p:tag name="KSO_WM_DIAGRAM_VIRTUALLY_FRAME" val="{&quot;height&quot;:353.7,&quot;left&quot;:169.95,&quot;top&quot;:165.1,&quot;width&quot;:777.3}"/>
</p:tagLst>
</file>

<file path=ppt/tags/tag151.xml><?xml version="1.0" encoding="utf-8"?>
<p:tagLst xmlns:p="http://schemas.openxmlformats.org/presentationml/2006/main">
  <p:tag name="KSO_WM_DIAGRAM_VIRTUALLY_FRAME" val="{&quot;height&quot;:353.7,&quot;left&quot;:169.95,&quot;top&quot;:165.1,&quot;width&quot;:777.3}"/>
</p:tagLst>
</file>

<file path=ppt/tags/tag152.xml><?xml version="1.0" encoding="utf-8"?>
<p:tagLst xmlns:p="http://schemas.openxmlformats.org/presentationml/2006/main">
  <p:tag name="KSO_WM_DIAGRAM_VIRTUALLY_FRAME" val="{&quot;height&quot;:353.7,&quot;left&quot;:169.95,&quot;top&quot;:165.1,&quot;width&quot;:777.3}"/>
</p:tagLst>
</file>

<file path=ppt/tags/tag153.xml><?xml version="1.0" encoding="utf-8"?>
<p:tagLst xmlns:p="http://schemas.openxmlformats.org/presentationml/2006/main">
  <p:tag name="KSO_WM_DIAGRAM_VIRTUALLY_FRAME" val="{&quot;height&quot;:353.7,&quot;left&quot;:169.95,&quot;top&quot;:165.1,&quot;width&quot;:777.3}"/>
</p:tagLst>
</file>

<file path=ppt/tags/tag154.xml><?xml version="1.0" encoding="utf-8"?>
<p:tagLst xmlns:p="http://schemas.openxmlformats.org/presentationml/2006/main">
  <p:tag name="KSO_WM_BEAUTIFY_FLAG" val=""/>
  <p:tag name="KSO_WM_DIAGRAM_VIRTUALLY_FRAME" val="{&quot;height&quot;:353.7,&quot;left&quot;:169.95,&quot;top&quot;:165.1,&quot;width&quot;:777.3}"/>
</p:tagLst>
</file>

<file path=ppt/tags/tag155.xml><?xml version="1.0" encoding="utf-8"?>
<p:tagLst xmlns:p="http://schemas.openxmlformats.org/presentationml/2006/main">
  <p:tag name="KSO_WM_BEAUTIFY_FLAG" val=""/>
  <p:tag name="KSO_WM_DIAGRAM_VIRTUALLY_FRAME" val="{&quot;height&quot;:353.7,&quot;left&quot;:169.95,&quot;top&quot;:165.1,&quot;width&quot;:777.3}"/>
</p:tagLst>
</file>

<file path=ppt/tags/tag156.xml><?xml version="1.0" encoding="utf-8"?>
<p:tagLst xmlns:p="http://schemas.openxmlformats.org/presentationml/2006/main">
  <p:tag name="KSO_WM_BEAUTIFY_FLAG" val=""/>
  <p:tag name="KSO_WM_DIAGRAM_VIRTUALLY_FRAME" val="{&quot;height&quot;:353.7,&quot;left&quot;:169.95,&quot;top&quot;:165.1,&quot;width&quot;:777.3}"/>
</p:tagLst>
</file>

<file path=ppt/tags/tag157.xml><?xml version="1.0" encoding="utf-8"?>
<p:tagLst xmlns:p="http://schemas.openxmlformats.org/presentationml/2006/main">
  <p:tag name="KSO_WM_BEAUTIFY_FLAG" val=""/>
  <p:tag name="KSO_WM_DIAGRAM_VIRTUALLY_FRAME" val="{&quot;height&quot;:353.7,&quot;left&quot;:169.95,&quot;top&quot;:165.1,&quot;width&quot;:777.3}"/>
</p:tagLst>
</file>

<file path=ppt/tags/tag158.xml><?xml version="1.0" encoding="utf-8"?>
<p:tagLst xmlns:p="http://schemas.openxmlformats.org/presentationml/2006/main">
  <p:tag name="KSO_WM_DIAGRAM_VIRTUALLY_FRAME" val="{&quot;height&quot;:353.7,&quot;left&quot;:169.95,&quot;top&quot;:165.1,&quot;width&quot;:777.3}"/>
</p:tagLst>
</file>

<file path=ppt/tags/tag159.xml><?xml version="1.0" encoding="utf-8"?>
<p:tagLst xmlns:p="http://schemas.openxmlformats.org/presentationml/2006/main">
  <p:tag name="KSO_WM_DIAGRAM_VIRTUALLY_FRAME" val="{&quot;height&quot;:353.7,&quot;left&quot;:169.95,&quot;top&quot;:165.1,&quot;width&quot;:777.3}"/>
</p:tagLst>
</file>

<file path=ppt/tags/tag160.xml><?xml version="1.0" encoding="utf-8"?>
<p:tagLst xmlns:p="http://schemas.openxmlformats.org/presentationml/2006/main">
  <p:tag name="KSO_WM_DIAGRAM_VIRTUALLY_FRAME" val="{&quot;height&quot;:353.7,&quot;left&quot;:169.95,&quot;top&quot;:165.1,&quot;width&quot;:777.3}"/>
</p:tagLst>
</file>

<file path=ppt/tags/tag161.xml><?xml version="1.0" encoding="utf-8"?>
<p:tagLst xmlns:p="http://schemas.openxmlformats.org/presentationml/2006/main">
  <p:tag name="KSO_WM_DIAGRAM_VIRTUALLY_FRAME" val="{&quot;height&quot;:353.7,&quot;left&quot;:169.95,&quot;top&quot;:165.1,&quot;width&quot;:777.3}"/>
</p:tagLst>
</file>

<file path=ppt/tags/tag162.xml><?xml version="1.0" encoding="utf-8"?>
<p:tagLst xmlns:p="http://schemas.openxmlformats.org/presentationml/2006/main">
  <p:tag name="KSO_WM_DIAGRAM_VIRTUALLY_FRAME" val="{&quot;height&quot;:353.7,&quot;left&quot;:169.95,&quot;top&quot;:165.1,&quot;width&quot;:777.3}"/>
</p:tagLst>
</file>

<file path=ppt/tags/tag163.xml><?xml version="1.0" encoding="utf-8"?>
<p:tagLst xmlns:p="http://schemas.openxmlformats.org/presentationml/2006/main">
  <p:tag name="KSO_WM_DIAGRAM_VIRTUALLY_FRAME" val="{&quot;height&quot;:353.7,&quot;left&quot;:169.95,&quot;top&quot;:165.1,&quot;width&quot;:777.3}"/>
</p:tagLst>
</file>

<file path=ppt/tags/tag164.xml><?xml version="1.0" encoding="utf-8"?>
<p:tagLst xmlns:p="http://schemas.openxmlformats.org/presentationml/2006/main">
  <p:tag name="KSO_WM_BEAUTIFY_FLAG" val=""/>
  <p:tag name="KSO_WM_DIAGRAM_VIRTUALLY_FRAME" val="{&quot;height&quot;:353.7,&quot;left&quot;:169.95,&quot;top&quot;:165.1,&quot;width&quot;:777.3}"/>
</p:tagLst>
</file>

<file path=ppt/tags/tag165.xml><?xml version="1.0" encoding="utf-8"?>
<p:tagLst xmlns:p="http://schemas.openxmlformats.org/presentationml/2006/main">
  <p:tag name="KSO_WM_BEAUTIFY_FLAG" val=""/>
  <p:tag name="KSO_WM_DIAGRAM_VIRTUALLY_FRAME" val="{&quot;height&quot;:353.7,&quot;left&quot;:169.95,&quot;top&quot;:165.1,&quot;width&quot;:777.3}"/>
</p:tagLst>
</file>

<file path=ppt/tags/tag166.xml><?xml version="1.0" encoding="utf-8"?>
<p:tagLst xmlns:p="http://schemas.openxmlformats.org/presentationml/2006/main">
  <p:tag name="KSO_WM_BEAUTIFY_FLAG" val=""/>
  <p:tag name="KSO_WM_DIAGRAM_VIRTUALLY_FRAME" val="{&quot;height&quot;:353.7,&quot;left&quot;:169.95,&quot;top&quot;:165.1,&quot;width&quot;:777.3}"/>
</p:tagLst>
</file>

<file path=ppt/tags/tag167.xml><?xml version="1.0" encoding="utf-8"?>
<p:tagLst xmlns:p="http://schemas.openxmlformats.org/presentationml/2006/main">
  <p:tag name="KSO_WM_BEAUTIFY_FLAG" val=""/>
  <p:tag name="KSO_WM_DIAGRAM_VIRTUALLY_FRAME" val="{&quot;height&quot;:353.7,&quot;left&quot;:169.95,&quot;top&quot;:165.1,&quot;width&quot;:777.3}"/>
</p:tagLst>
</file>

<file path=ppt/tags/tag168.xml><?xml version="1.0" encoding="utf-8"?>
<p:tagLst xmlns:p="http://schemas.openxmlformats.org/presentationml/2006/main">
  <p:tag name="KSO_WM_BEAUTIFY_FLAG" val=""/>
  <p:tag name="KSO_WM_DIAGRAM_VIRTUALLY_FRAME" val="{&quot;height&quot;:353.7,&quot;left&quot;:169.95,&quot;top&quot;:165.1,&quot;width&quot;:777.3}"/>
</p:tagLst>
</file>

<file path=ppt/tags/tag169.xml><?xml version="1.0" encoding="utf-8"?>
<p:tagLst xmlns:p="http://schemas.openxmlformats.org/presentationml/2006/main">
  <p:tag name="KSO_WM_DIAGRAM_VIRTUALLY_FRAME" val="{&quot;height&quot;:353.7,&quot;left&quot;:169.95,&quot;top&quot;:165.1,&quot;width&quot;:777.3}"/>
</p:tagLst>
</file>

<file path=ppt/tags/tag170.xml><?xml version="1.0" encoding="utf-8"?>
<p:tagLst xmlns:p="http://schemas.openxmlformats.org/presentationml/2006/main">
  <p:tag name="KSO_WM_BEAUTIFY_FLAG" val=""/>
  <p:tag name="KSO_WM_DIAGRAM_VIRTUALLY_FRAME" val="{&quot;height&quot;:353.7,&quot;left&quot;:169.95,&quot;top&quot;:165.1,&quot;width&quot;:777.3}"/>
</p:tagLst>
</file>

<file path=ppt/tags/tag171.xml><?xml version="1.0" encoding="utf-8"?>
<p:tagLst xmlns:p="http://schemas.openxmlformats.org/presentationml/2006/main">
  <p:tag name="KSO_WM_DIAGRAM_VIRTUALLY_FRAME" val="{&quot;height&quot;:353.7,&quot;left&quot;:169.95,&quot;top&quot;:165.1,&quot;width&quot;:777.3}"/>
</p:tagLst>
</file>

<file path=ppt/tags/tag172.xml><?xml version="1.0" encoding="utf-8"?>
<p:tagLst xmlns:p="http://schemas.openxmlformats.org/presentationml/2006/main">
  <p:tag name="KSO_WM_BEAUTIFY_FLAG" val=""/>
  <p:tag name="KSO_WM_DIAGRAM_VIRTUALLY_FRAME" val="{&quot;height&quot;:353.7,&quot;left&quot;:169.95,&quot;top&quot;:165.1,&quot;width&quot;:777.3}"/>
</p:tagLst>
</file>

<file path=ppt/tags/tag173.xml><?xml version="1.0" encoding="utf-8"?>
<p:tagLst xmlns:p="http://schemas.openxmlformats.org/presentationml/2006/main">
  <p:tag name="KSO_WM_DIAGRAM_VIRTUALLY_FRAME" val="{&quot;height&quot;:272.6,&quot;left&quot;:62.9,&quot;top&quot;:182.9,&quot;width&quot;:798.85}"/>
</p:tagLst>
</file>

<file path=ppt/tags/tag174.xml><?xml version="1.0" encoding="utf-8"?>
<p:tagLst xmlns:p="http://schemas.openxmlformats.org/presentationml/2006/main">
  <p:tag name="KSO_WM_DIAGRAM_VIRTUALLY_FRAME" val="{&quot;height&quot;:272.6,&quot;left&quot;:62.9,&quot;top&quot;:182.9,&quot;width&quot;:798.85}"/>
</p:tagLst>
</file>

<file path=ppt/tags/tag175.xml><?xml version="1.0" encoding="utf-8"?>
<p:tagLst xmlns:p="http://schemas.openxmlformats.org/presentationml/2006/main">
  <p:tag name="KSO_WM_DIAGRAM_VIRTUALLY_FRAME" val="{&quot;height&quot;:272.6,&quot;left&quot;:62.9,&quot;top&quot;:182.9,&quot;width&quot;:798.85}"/>
</p:tagLst>
</file>

<file path=ppt/tags/tag176.xml><?xml version="1.0" encoding="utf-8"?>
<p:tagLst xmlns:p="http://schemas.openxmlformats.org/presentationml/2006/main">
  <p:tag name="KSO_WM_DIAGRAM_VIRTUALLY_FRAME" val="{&quot;height&quot;:272.6,&quot;left&quot;:62.9,&quot;top&quot;:182.9,&quot;width&quot;:798.85}"/>
</p:tagLst>
</file>

<file path=ppt/tags/tag177.xml><?xml version="1.0" encoding="utf-8"?>
<p:tagLst xmlns:p="http://schemas.openxmlformats.org/presentationml/2006/main">
  <p:tag name="KSO_WM_DIAGRAM_VIRTUALLY_FRAME" val="{&quot;height&quot;:272.6,&quot;left&quot;:62.9,&quot;top&quot;:182.9,&quot;width&quot;:798.85}"/>
</p:tagLst>
</file>

<file path=ppt/tags/tag178.xml><?xml version="1.0" encoding="utf-8"?>
<p:tagLst xmlns:p="http://schemas.openxmlformats.org/presentationml/2006/main">
  <p:tag name="KSO_WM_DIAGRAM_VIRTUALLY_FRAME" val="{&quot;height&quot;:272.6,&quot;left&quot;:62.9,&quot;top&quot;:182.9,&quot;width&quot;:798.85}"/>
</p:tagLst>
</file>

<file path=ppt/tags/tag179.xml><?xml version="1.0" encoding="utf-8"?>
<p:tagLst xmlns:p="http://schemas.openxmlformats.org/presentationml/2006/main">
  <p:tag name="KSO_WM_DIAGRAM_VIRTUALLY_FRAME" val="{&quot;height&quot;:272.6,&quot;left&quot;:62.9,&quot;top&quot;:182.9,&quot;width&quot;:798.85}"/>
</p:tagLst>
</file>

<file path=ppt/tags/tag180.xml><?xml version="1.0" encoding="utf-8"?>
<p:tagLst xmlns:p="http://schemas.openxmlformats.org/presentationml/2006/main">
  <p:tag name="KSO_WM_DIAGRAM_VIRTUALLY_FRAME" val="{&quot;height&quot;:272.6,&quot;left&quot;:62.9,&quot;top&quot;:182.9,&quot;width&quot;:798.85}"/>
</p:tagLst>
</file>

<file path=ppt/tags/tag181.xml><?xml version="1.0" encoding="utf-8"?>
<p:tagLst xmlns:p="http://schemas.openxmlformats.org/presentationml/2006/main">
  <p:tag name="KSO_WM_DIAGRAM_VIRTUALLY_FRAME" val="{&quot;height&quot;:272.6,&quot;left&quot;:62.9,&quot;top&quot;:182.9,&quot;width&quot;:798.85}"/>
</p:tagLst>
</file>

<file path=ppt/tags/tag182.xml><?xml version="1.0" encoding="utf-8"?>
<p:tagLst xmlns:p="http://schemas.openxmlformats.org/presentationml/2006/main">
  <p:tag name="KSO_WM_DIAGRAM_VIRTUALLY_FRAME" val="{&quot;height&quot;:272.6,&quot;left&quot;:62.9,&quot;top&quot;:182.9,&quot;width&quot;:798.85}"/>
</p:tagLst>
</file>

<file path=ppt/tags/tag183.xml><?xml version="1.0" encoding="utf-8"?>
<p:tagLst xmlns:p="http://schemas.openxmlformats.org/presentationml/2006/main">
  <p:tag name="KSO_WM_DIAGRAM_VIRTUALLY_FRAME" val="{&quot;height&quot;:261.8,&quot;left&quot;:189,&quot;top&quot;:217.65,&quot;width&quot;:594.05}"/>
</p:tagLst>
</file>

<file path=ppt/tags/tag184.xml><?xml version="1.0" encoding="utf-8"?>
<p:tagLst xmlns:p="http://schemas.openxmlformats.org/presentationml/2006/main">
  <p:tag name="KSO_WM_DIAGRAM_VIRTUALLY_FRAME" val="{&quot;height&quot;:261.8,&quot;left&quot;:189,&quot;top&quot;:217.65,&quot;width&quot;:594.05}"/>
</p:tagLst>
</file>

<file path=ppt/tags/tag185.xml><?xml version="1.0" encoding="utf-8"?>
<p:tagLst xmlns:p="http://schemas.openxmlformats.org/presentationml/2006/main">
  <p:tag name="KSO_WM_DIAGRAM_VIRTUALLY_FRAME" val="{&quot;height&quot;:261.8,&quot;left&quot;:189,&quot;top&quot;:217.65,&quot;width&quot;:594.05}"/>
</p:tagLst>
</file>

<file path=ppt/tags/tag186.xml><?xml version="1.0" encoding="utf-8"?>
<p:tagLst xmlns:p="http://schemas.openxmlformats.org/presentationml/2006/main">
  <p:tag name="KSO_WM_DIAGRAM_VIRTUALLY_FRAME" val="{&quot;height&quot;:261.8,&quot;left&quot;:189,&quot;top&quot;:217.65,&quot;width&quot;:594.05}"/>
</p:tagLst>
</file>

<file path=ppt/tags/tag187.xml><?xml version="1.0" encoding="utf-8"?>
<p:tagLst xmlns:p="http://schemas.openxmlformats.org/presentationml/2006/main">
  <p:tag name="KSO_WM_DIAGRAM_VIRTUALLY_FRAME" val="{&quot;height&quot;:261.8,&quot;left&quot;:189,&quot;top&quot;:217.65,&quot;width&quot;:594.05}"/>
</p:tagLst>
</file>

<file path=ppt/tags/tag188.xml><?xml version="1.0" encoding="utf-8"?>
<p:tagLst xmlns:p="http://schemas.openxmlformats.org/presentationml/2006/main">
  <p:tag name="KSO_WM_DIAGRAM_VIRTUALLY_FRAME" val="{&quot;height&quot;:261.8,&quot;left&quot;:189,&quot;top&quot;:217.65,&quot;width&quot;:594.05}"/>
</p:tagLst>
</file>

<file path=ppt/tags/tag189.xml><?xml version="1.0" encoding="utf-8"?>
<p:tagLst xmlns:p="http://schemas.openxmlformats.org/presentationml/2006/main">
  <p:tag name="KSO_WM_UNIT_PLACING_PICTURE_USER_VIEWPORT" val="{&quot;height&quot;:5657,&quot;width&quot;:5604}"/>
</p:tagLst>
</file>

<file path=ppt/tags/tag190.xml><?xml version="1.0" encoding="utf-8"?>
<p:tagLst xmlns:p="http://schemas.openxmlformats.org/presentationml/2006/main">
  <p:tag name="KSO_WM_UNIT_PLACING_PICTURE_USER_VIEWPORT" val="{&quot;height&quot;:5657,&quot;width&quot;:612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13817</Words>
  <Application>WPS 演示</Application>
  <PresentationFormat>宽屏</PresentationFormat>
  <Paragraphs>1554</Paragraphs>
  <Slides>63</Slides>
  <Notes>4</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63</vt:i4>
      </vt:variant>
    </vt:vector>
  </HeadingPairs>
  <TitlesOfParts>
    <vt:vector size="87" baseType="lpstr">
      <vt:lpstr>Arial</vt:lpstr>
      <vt:lpstr>宋体</vt:lpstr>
      <vt:lpstr>Wingdings</vt:lpstr>
      <vt:lpstr>Wingdings</vt:lpstr>
      <vt:lpstr>微软雅黑</vt:lpstr>
      <vt:lpstr>Arial Unicode MS</vt:lpstr>
      <vt:lpstr>Calibri</vt:lpstr>
      <vt:lpstr>Arial Unicode MS</vt:lpstr>
      <vt:lpstr>Segoe UI Light</vt:lpstr>
      <vt:lpstr>微软雅黑 Light</vt:lpstr>
      <vt:lpstr>Arial Black</vt:lpstr>
      <vt:lpstr>思源黑体 CN Bold</vt:lpstr>
      <vt:lpstr>思源黑体 CN Normal</vt:lpstr>
      <vt:lpstr>黑体</vt:lpstr>
      <vt:lpstr>Kozuka Mincho Pr6N H</vt:lpstr>
      <vt:lpstr>Yu Gothic UI Semibold</vt:lpstr>
      <vt:lpstr>Wingdings 3</vt:lpstr>
      <vt:lpstr>Symbol</vt:lpstr>
      <vt:lpstr>JetBrains Mono</vt:lpstr>
      <vt:lpstr>Segoe Print</vt:lpstr>
      <vt:lpstr>Times New Roman</vt:lpstr>
      <vt:lpstr>Consolas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中华</cp:lastModifiedBy>
  <cp:revision>232</cp:revision>
  <dcterms:created xsi:type="dcterms:W3CDTF">2019-06-19T02:08:00Z</dcterms:created>
  <dcterms:modified xsi:type="dcterms:W3CDTF">2025-07-25T03:34:09Z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B178BC4E59434AE48538342FA196B439_11</vt:lpwstr>
  </property>
</Properties>
</file>